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16x9"/>
  <p:notesSz cx="6858000" cy="9144000"/>
  <p:defaultTextStyle>
    <a:defPPr>
      <a:defRPr lang="es-419"/>
    </a:defPPr>
    <a:lvl1pPr marL="0" algn="l" defTabSz="457200" rtl="0" eaLnBrk="1" latinLnBrk="0" hangingPunct="1">
      <a:defRPr sz="1800" kern="1200" lang="es-419">
        <a:solidFill>
          <a:schemeClr val="tx1"/>
        </a:solidFill>
        <a:latin typeface="+mn-lt"/>
        <a:ea typeface="+mn-ea"/>
        <a:cs typeface="+mn-cs"/>
      </a:defRPr>
    </a:lvl1pPr>
    <a:lvl2pPr marL="457200" algn="l" defTabSz="457200" rtl="0" eaLnBrk="1" latinLnBrk="0" hangingPunct="1">
      <a:defRPr sz="1800" kern="1200" lang="es-419">
        <a:solidFill>
          <a:schemeClr val="tx1"/>
        </a:solidFill>
        <a:latin typeface="+mn-lt"/>
        <a:ea typeface="+mn-ea"/>
        <a:cs typeface="+mn-cs"/>
      </a:defRPr>
    </a:lvl2pPr>
    <a:lvl3pPr marL="914400" algn="l" defTabSz="457200" rtl="0" eaLnBrk="1" latinLnBrk="0" hangingPunct="1">
      <a:defRPr sz="1800" kern="1200" lang="es-419">
        <a:solidFill>
          <a:schemeClr val="tx1"/>
        </a:solidFill>
        <a:latin typeface="+mn-lt"/>
        <a:ea typeface="+mn-ea"/>
        <a:cs typeface="+mn-cs"/>
      </a:defRPr>
    </a:lvl3pPr>
    <a:lvl4pPr marL="1371600" algn="l" defTabSz="457200" rtl="0" eaLnBrk="1" latinLnBrk="0" hangingPunct="1">
      <a:defRPr sz="1800" kern="1200" lang="es-419">
        <a:solidFill>
          <a:schemeClr val="tx1"/>
        </a:solidFill>
        <a:latin typeface="+mn-lt"/>
        <a:ea typeface="+mn-ea"/>
        <a:cs typeface="+mn-cs"/>
      </a:defRPr>
    </a:lvl4pPr>
    <a:lvl5pPr marL="1828800" algn="l" defTabSz="457200" rtl="0" eaLnBrk="1" latinLnBrk="0" hangingPunct="1">
      <a:defRPr sz="1800" kern="1200" lang="es-419">
        <a:solidFill>
          <a:schemeClr val="tx1"/>
        </a:solidFill>
        <a:latin typeface="+mn-lt"/>
        <a:ea typeface="+mn-ea"/>
        <a:cs typeface="+mn-cs"/>
      </a:defRPr>
    </a:lvl5pPr>
    <a:lvl6pPr marL="2286000" algn="l" defTabSz="457200" rtl="0" eaLnBrk="1" latinLnBrk="0" hangingPunct="1">
      <a:defRPr sz="1800" kern="1200" lang="es-419">
        <a:solidFill>
          <a:schemeClr val="tx1"/>
        </a:solidFill>
        <a:latin typeface="+mn-lt"/>
        <a:ea typeface="+mn-ea"/>
        <a:cs typeface="+mn-cs"/>
      </a:defRPr>
    </a:lvl6pPr>
    <a:lvl7pPr marL="2743200" algn="l" defTabSz="457200" rtl="0" eaLnBrk="1" latinLnBrk="0" hangingPunct="1">
      <a:defRPr sz="1800" kern="1200" lang="es-419">
        <a:solidFill>
          <a:schemeClr val="tx1"/>
        </a:solidFill>
        <a:latin typeface="+mn-lt"/>
        <a:ea typeface="+mn-ea"/>
        <a:cs typeface="+mn-cs"/>
      </a:defRPr>
    </a:lvl7pPr>
    <a:lvl8pPr marL="3200400" algn="l" defTabSz="457200" rtl="0" eaLnBrk="1" latinLnBrk="0" hangingPunct="1">
      <a:defRPr sz="1800" kern="1200" lang="es-419">
        <a:solidFill>
          <a:schemeClr val="tx1"/>
        </a:solidFill>
        <a:latin typeface="+mn-lt"/>
        <a:ea typeface="+mn-ea"/>
        <a:cs typeface="+mn-cs"/>
      </a:defRPr>
    </a:lvl8pPr>
    <a:lvl9pPr marL="3657600" algn="l" defTabSz="457200" rtl="0" eaLnBrk="1" latinLnBrk="0" hangingPunct="1">
      <a:defRPr sz="1800" kern="1200" lang="es-419">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  <Relationship Id="rId1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s-419"/>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s-419"/>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s-419"/>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s-419"/>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s-419"/>
          </a:p>
        </p:txBody>
      </p:sp>
    </p:spTree>
  </p:cSld>
  <p:clrMap bg1="lt1" tx1="dk1" bg2="lt2" tx2="dk2" accent1="accent1" accent2="accent2" accent3="accent3" accent4="accent4" accent5="accent5" accent6="accent6" hlink="hlink" folHlink="folHlink"/>
  <p:hf/>
  <p:notesStyle>
    <a:lvl1pPr marL="0" algn="l">
      <a:defRPr sz="1200" lang="es-419"/>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Este proyecto toma el caso de prevención de infartos en asegurados y lo lleva del notebook a un pipeline MLOps en producción. El resultado que vamos a defender es simple: el modelo anticipa ocho de cada diez infartos del conjunto de test, con un recall de 0,815 y un AUC de 0,828 sobre 8.680 asegurados que nunca vio. En los próximos minutos les muestro por qué ese número es el correcto y cómo el pipeline garantiza que solo un modelo así llegue a producción.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Empecemos por el negocio. La aseguradora revisó 43.400 asegurados durante cuatro años y solo el 1,8% tuvo un infarto, 783 casos. Esa es la clase que importa, porque un infarto no detectado es caro: para el análisis asumimos US$20.000 por caso, frente a US$300 por un chequeo preventivo, y ambos son supuestos de escenario definidos en config.yaml. Con tan pocos positivos, un modelo que siempre dice que nadie tendrá un infarto acierta el 98,2% y no sirve para nada. Por eso el pipeline no mide accuracy, sino recall, es decir cuántos infartos detecta, y AUC, que mide qué tan bien ordena el riesgo.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Vamos directo a la respuesta. De los 157 infartos del test, el modelo marcó 128 como alto riesgo; eso es un recall de 0,815 con un AUC de 0,828. Traducido a costo esperado, sin modelo la aseguradora enfrenta 157 infartos no atendidos, unos US$3,14 millones. Con el modelo quedan 29 infartos no detectados y 2.291 chequeos preventivos a asegurados sanos, unos US$1,27 millones. El ahorro estimado es de US$1,87 millones, alrededor de un 60%, siempre bajo los supuestos de costo que mencioné.</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¿De dónde sale esa capacidad? El análisis exploratorio muestra que casi todos los infartos ocurren después de los 45 años, y que la glucosa alta y los antecedentes de hipertensión o problema cardiaco suben claramente el riesgo; el IMC aporta poco por sí solo. Del notebook del caso conservamos sus decisiones: imputamos el IMC, que tenía 3,4% de vacíos, y descartamos Flag_fumador por su 31% de vacíos. El modelo usa las siete variables codificadas del notebook, y la misma función que las crea se usa en el entrenamiento y en la API.</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Lo que convierte esto en MLOps es el pipeline. Siete etapas encadenadas corren con un solo comando, python main.py: ingesta y validación de columnas, preprocesamiento, split estratificado, once tests de datos, tuning con MLflow, evaluación y detección de drift. La sexta etapa es el quality gate: si el modelo no cumple los umbrales, main.py se detiene y no se despliega nada. Después del pipeline, el modelo se sirve con FastAPI, se empaqueta en Docker y todo el flujo corre en GitHub Actions. Para la demostración, python main.py con la opción demo agrega el drift simulado, construye y prueba la imagen Docker y deja arriba la interfaz de MLflow y la API.</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Este es el punto de control más importante. El quality gate exige AUC de al menos 0,80 y recall de al menos 0,70, y el modelo los supera con 0,828 y 0,815. El F1 queda solo como piso, porque con 1,8% de positivos el umbral de 0,70 del template de la Unidad 10 es inalcanzable. La precisión de 0,053 significa que por cada infarto detectado entran unos 18 asegurados sanos al programa, un costo aceptable si se compara un chequeo con un infarto no atendido. Al aprobar, el modelo pasa automáticamente a Production. Además auditamos fairness con variables que el modelo no usa: marca a una proporción pareja de cada grupo, entre 27 y 29%, pero el recall es 0,85 en hombres y 0,79 en mujeres, y 0,88 en zona rural frente a 0,75 en urbana. Con unos 80 infartos por grupo puede ser ruido, así que queda registrado en MLflow como riesgo a vigilar.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Cada experimento queda registrado. Corrimos dos búsquedas de hiperparámetros en MLflow: GridSearchCV con 18 combinaciones y RandomizedSearchCV con 20, y ganó la segunda por validación cruzada, con un F1 de 0,096 frente a 0,092. Ambos se compararon con una línea base, la Regresión Logística de la Unidad 2, y el resultado es honesto: empata con el Random Forest, con un AUC de 0,825 frente a 0,828 en test. Con siete variables en tramos el techo lo ponen los datos y no el algoritmo, por eso el próximo paso son variables continuas y no más tuning. El mejor run se registra como InfartosRiskModel, queda en Staging y solo pasa a Production si aprueba el gate; si falla, la versión anterior sigue en servicio, y cada versión lleva tags de método, balanceo, AUC y recall. En paralelo, DVC versiona los datos y el modelo sin subirlos a Git: dvc.yaml declara las siete etapas y dvc.lock guarda el hash de cada salida.</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En producción, la API recibe los datos crudos del asegurado, como edad, glucosa o tipo de trabajo, y les aplica la misma transformación del entrenamiento. Así corregimos el desajuste entre entrenamiento y servicio que tenía el template de la Unidad 10. En el ejemplo, un asegurado de 67 años con hipertensión y glucosa alta obtiene 0,81 y entra al programa de prevención. Entre 0,30 y 0,50 queda en seguimiento y por debajo de 0,30, en rutina. El IMC es opcional y Pydantic rechaza datos fuera de rango. GitHub Actions corre tres jobs encadenados con smoke tests contra el contenedor, y el stack de preproducción levanta MLflow, el trainer y una API que carga el modelo desde el Registry.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El trabajo no termina al desplegar. Cada lunes a las 8:00 UTC, un workflow compara los datos nuevos con los de entrenamiento usando Evidently y el índice PSI. Para la demo simulamos un lote de datos de escenario con una población más envejecida y con más diabetes: la edad llega a un PSI de 0,326, crítico, y la glucosa a 0,195, en alerta. La regla es clara: si una variable supera 0,25 o más del 30% de las variables tiene drift, el job falla y GitHub avisa por email. El modelo re-entrenado solo reemplaza al actual si aprueba el mismo quality gate.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s-419" dirty="0"/>
              <a:t>Para cerrar, este repositorio integra las diez unidades del curso, desde el repositorio base y el código modular hasta el monitoreo y el orquestador main.py. Todo se puede ejecutar de punta a punta en GitHub Codespaces: se abre el Codespace y se corre python main.py con la opción demo, que deja todo funcionando, y el README del repositorio Mlops-proyectofinal tiene la guía completa. Como próximos pasos proponemos calibrar las probabilidades del modelo, usar edad y glucosa como variables continuas y configurar un remoto de DVC compartido. Gracias, quedo atento a sus preguntas.</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mlops_infartos_final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s-419" smtClean="0"/>
              <a:t>1/27/13</a:t>
            </a:fld>
            <a:endParaRPr lang="es-419"/>
          </a:p>
        </p:txBody>
      </p:sp>
      <p:sp>
        <p:nvSpPr>
          <p:cNvPr id="3" name="Footer Placeholder 2"/>
          <p:cNvSpPr>
            <a:spLocks noGrp="1"/>
          </p:cNvSpPr>
          <p:nvPr>
            <p:ph type="ftr" sz="quarter" idx="11"/>
          </p:nvPr>
        </p:nvSpPr>
        <p:spPr/>
        <p:txBody>
          <a:bodyPr/>
          <a:lstStyle/>
          <a:p>
            <a:endParaRPr lang="es-419"/>
          </a:p>
        </p:txBody>
      </p:sp>
      <p:sp>
        <p:nvSpPr>
          <p:cNvPr id="4" name="Slide Number Placeholder 3"/>
          <p:cNvSpPr>
            <a:spLocks noGrp="1"/>
          </p:cNvSpPr>
          <p:nvPr>
            <p:ph type="sldNum" sz="quarter" idx="12"/>
          </p:nvPr>
        </p:nvSpPr>
        <p:spPr/>
        <p:txBody>
          <a:bodyPr/>
          <a:lstStyle/>
          <a:p>
            <a:fld id="{C1FF6DA9-008F-8B48-92A6-B652298478BF}" type="slidenum">
              <a:rPr lang="es-419" smtClean="0"/>
              <a:t>‹#›</a:t>
            </a:fld>
            <a:endParaRPr lang="es-419"/>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mlops_infartos_final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es-419">
                <a:solidFill>
                  <a:schemeClr val="tx1">
                    <a:tint val="75000"/>
                  </a:schemeClr>
                </a:solidFill>
              </a:defRPr>
            </a:lvl1pPr>
          </a:lstStyle>
          <a:p>
            <a:fld id="{5BCAD085-E8A6-8845-BD4E-CB4CCA059FC4}" type="datetimeFigureOut">
              <a:rPr lang="es-419" smtClean="0"/>
              <a:t>1/27/13</a:t>
            </a:fld>
            <a:endParaRPr lang="es-419"/>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es-419">
                <a:solidFill>
                  <a:schemeClr val="tx1">
                    <a:tint val="75000"/>
                  </a:schemeClr>
                </a:solidFill>
              </a:defRPr>
            </a:lvl1pPr>
          </a:lstStyle>
          <a:p>
            <a:endParaRPr lang="es-419"/>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es-419">
                <a:solidFill>
                  <a:schemeClr val="tx1">
                    <a:tint val="75000"/>
                  </a:schemeClr>
                </a:solidFill>
              </a:defRPr>
            </a:lvl1pPr>
          </a:lstStyle>
          <a:p>
            <a:fld id="{C1FF6DA9-008F-8B48-92A6-B652298478BF}" type="slidenum">
              <a:rPr lang="es-419" smtClean="0"/>
              <a:t>‹#›</a:t>
            </a:fld>
            <a:endParaRPr lang="es-419"/>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lang="es-419">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lang="es-419">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lang="es-419">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lang="es-419">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lang="es-419">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lang="es-419">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lang="es-419">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lang="es-419">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lang="es-419">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lang="es-419">
          <a:solidFill>
            <a:schemeClr val="tx1"/>
          </a:solidFill>
          <a:latin typeface="+mn-lt"/>
          <a:ea typeface="+mn-ea"/>
          <a:cs typeface="+mn-cs"/>
        </a:defRPr>
      </a:lvl9pPr>
    </p:bodyStyle>
    <p:otherStyle>
      <a:defPPr>
        <a:defRPr lang="es-419"/>
      </a:defPPr>
      <a:lvl1pPr marL="0" algn="l" defTabSz="457200" rtl="0" eaLnBrk="1" latinLnBrk="0" hangingPunct="1">
        <a:defRPr sz="1800" kern="1200" lang="es-419">
          <a:solidFill>
            <a:schemeClr val="tx1"/>
          </a:solidFill>
          <a:latin typeface="+mn-lt"/>
          <a:ea typeface="+mn-ea"/>
          <a:cs typeface="+mn-cs"/>
        </a:defRPr>
      </a:lvl1pPr>
      <a:lvl2pPr marL="457200" algn="l" defTabSz="457200" rtl="0" eaLnBrk="1" latinLnBrk="0" hangingPunct="1">
        <a:defRPr sz="1700" kern="1200" lang="es-419">
          <a:solidFill>
            <a:schemeClr val="tx1"/>
          </a:solidFill>
          <a:latin typeface="+mn-lt"/>
          <a:ea typeface="+mn-ea"/>
          <a:cs typeface="+mn-cs"/>
        </a:defRPr>
      </a:lvl2pPr>
      <a:lvl3pPr marL="914400" algn="l" defTabSz="457200" rtl="0" eaLnBrk="1" latinLnBrk="0" hangingPunct="1">
        <a:defRPr sz="1600" kern="1200" lang="es-419">
          <a:solidFill>
            <a:schemeClr val="tx1"/>
          </a:solidFill>
          <a:latin typeface="+mn-lt"/>
          <a:ea typeface="+mn-ea"/>
          <a:cs typeface="+mn-cs"/>
        </a:defRPr>
      </a:lvl3pPr>
      <a:lvl4pPr marL="1371600" algn="l" defTabSz="457200" rtl="0" eaLnBrk="1" latinLnBrk="0" hangingPunct="1">
        <a:defRPr sz="1450" kern="1200" lang="es-419">
          <a:solidFill>
            <a:schemeClr val="tx1"/>
          </a:solidFill>
          <a:latin typeface="+mn-lt"/>
          <a:ea typeface="+mn-ea"/>
          <a:cs typeface="+mn-cs"/>
        </a:defRPr>
      </a:lvl4pPr>
      <a:lvl5pPr marL="1828800" algn="l" defTabSz="457200" rtl="0" eaLnBrk="1" latinLnBrk="0" hangingPunct="1">
        <a:defRPr sz="1350" kern="1200" lang="es-419">
          <a:solidFill>
            <a:schemeClr val="tx1"/>
          </a:solidFill>
          <a:latin typeface="+mn-lt"/>
          <a:ea typeface="+mn-ea"/>
          <a:cs typeface="+mn-cs"/>
        </a:defRPr>
      </a:lvl5pPr>
      <a:lvl6pPr marL="2286000" algn="l" defTabSz="457200" rtl="0" eaLnBrk="1" latinLnBrk="0" hangingPunct="1">
        <a:defRPr sz="1250" kern="1200" lang="es-419">
          <a:solidFill>
            <a:schemeClr val="tx1"/>
          </a:solidFill>
          <a:latin typeface="+mn-lt"/>
          <a:ea typeface="+mn-ea"/>
          <a:cs typeface="+mn-cs"/>
        </a:defRPr>
      </a:lvl6pPr>
      <a:lvl7pPr marL="2743200" algn="l" defTabSz="457200" rtl="0" eaLnBrk="1" latinLnBrk="0" hangingPunct="1">
        <a:defRPr sz="1100" kern="1200" lang="es-419">
          <a:solidFill>
            <a:schemeClr val="tx1"/>
          </a:solidFill>
          <a:latin typeface="+mn-lt"/>
          <a:ea typeface="+mn-ea"/>
          <a:cs typeface="+mn-cs"/>
        </a:defRPr>
      </a:lvl7pPr>
      <a:lvl8pPr marL="3200400" algn="l" defTabSz="457200" rtl="0" eaLnBrk="1" latinLnBrk="0" hangingPunct="1">
        <a:defRPr sz="1000" kern="1200" lang="es-419">
          <a:solidFill>
            <a:schemeClr val="tx1"/>
          </a:solidFill>
          <a:latin typeface="+mn-lt"/>
          <a:ea typeface="+mn-ea"/>
          <a:cs typeface="+mn-cs"/>
        </a:defRPr>
      </a:lvl8pPr>
      <a:lvl9pPr marL="3657600" algn="l" defTabSz="457200" rtl="0" eaLnBrk="1" latinLnBrk="0" hangingPunct="1">
        <a:defRPr sz="900" kern="1200" lang="es-419">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1b37fc87174a63d.pn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aad74a7ac4d3822.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b346708ca675f534.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cover-plane"/>
          <p:cNvSpPr/>
          <p:nvPr/>
        </p:nvSpPr>
        <p:spPr>
          <a:xfrm>
            <a:off x="0" y="0"/>
            <a:ext cx="7315200" cy="6858000"/>
          </a:xfrm>
          <a:prstGeom prst="rect">
            <a:avLst/>
          </a:prstGeom>
          <a:solidFill>
            <a:schemeClr val="accent1"/>
          </a:solidFill>
          <a:ln>
            <a:noFill/>
          </a:ln>
        </p:spPr>
      </p:sp>
      <p:grpSp>
        <p:nvGrpSpPr>
          <p:cNvPr id="7" name="cover-title"/>
          <p:cNvGrpSpPr/>
          <p:nvPr/>
        </p:nvGrpSpPr>
        <p:grpSpPr>
          <a:xfrm>
            <a:off x="590550" y="927100"/>
            <a:ext cx="5788579" cy="3825875"/>
            <a:chOff x="590550" y="927100"/>
            <a:chExt cx="5788579" cy="3825875"/>
          </a:xfrm>
        </p:grpSpPr>
        <p:sp>
          <p:nvSpPr>
            <p:cNvPr id="3" name="TextBox 3"/>
            <p:cNvSpPr txBox="1"/>
            <p:nvPr/>
          </p:nvSpPr>
          <p:spPr>
            <a:xfrm>
              <a:off x="603885" y="927100"/>
              <a:ext cx="5450470" cy="220028"/>
            </a:xfrm>
            <a:prstGeom prst="rect">
              <a:avLst/>
            </a:prstGeom>
            <a:noFill/>
            <a:ln>
              <a:noFill/>
            </a:ln>
          </p:spPr>
          <p:txBody>
            <a:bodyPr wrap="none" lIns="0" tIns="0" rIns="0" bIns="0" anchor="t" anchorCtr="0">
              <a:spAutoFit/>
            </a:bodyPr>
            <a:lstStyle/>
            <a:p>
              <a:pPr algn="l"/>
              <a:r>
                <a:rPr lang="es-419" sz="1120" b="1" dirty="0">
                  <a:solidFill>
                    <a:srgbClr val="9FB2C8"/>
                  </a:solidFill>
                  <a:latin typeface="+mn-lt"/>
                  <a:ea typeface="+mn-ea"/>
                  <a:cs typeface="+mn-cs"/>
                </a:rPr>
                <a:t>PROYECTO FINAL · MLOps: DEL MODELO AL ENTORNO PRODUCTIVO</a:t>
              </a:r>
            </a:p>
          </p:txBody>
        </p:sp>
        <p:sp>
          <p:nvSpPr>
            <p:cNvPr id="4" name="TextBox 4"/>
            <p:cNvSpPr txBox="1"/>
            <p:nvPr/>
          </p:nvSpPr>
          <p:spPr>
            <a:xfrm>
              <a:off x="590550" y="2374900"/>
              <a:ext cx="5788579" cy="1466850"/>
            </a:xfrm>
            <a:prstGeom prst="rect">
              <a:avLst/>
            </a:prstGeom>
            <a:noFill/>
            <a:ln>
              <a:noFill/>
            </a:ln>
          </p:spPr>
          <p:txBody>
            <a:bodyPr wrap="none" lIns="0" tIns="0" rIns="0" bIns="0" anchor="t" anchorCtr="0">
              <a:spAutoFit/>
            </a:bodyPr>
            <a:lstStyle/>
            <a:p>
              <a:pPr algn="l">
                <a:lnSpc>
                  <a:spcPts val="5100"/>
                </a:lnSpc>
              </a:pPr>
              <a:r>
                <a:rPr lang="es-419" sz="4200" b="1" dirty="0">
                  <a:solidFill>
                    <a:srgbClr val="FFFFFF"/>
                  </a:solidFill>
                  <a:latin typeface="+mn-lt"/>
                  <a:ea typeface="+mn-ea"/>
                  <a:cs typeface="+mn-cs"/>
                </a:rPr>
                <a:t>Prevención de infartos</a:t>
              </a:r>
              <a:br>
                <a:rPr lang="es-419" sz="4200" b="1" dirty="0">
                  <a:solidFill>
                    <a:srgbClr val="FFFFFF"/>
                  </a:solidFill>
                  <a:latin typeface="+mn-lt"/>
                  <a:ea typeface="+mn-ea"/>
                  <a:cs typeface="+mn-cs"/>
                </a:rPr>
              </a:br>
              <a:r>
                <a:rPr lang="es-419" sz="4200" b="1" dirty="0">
                  <a:solidFill>
                    <a:srgbClr val="FFFFFF"/>
                  </a:solidFill>
                  <a:latin typeface="+mn-lt"/>
                  <a:ea typeface="+mn-ea"/>
                  <a:cs typeface="+mn-cs"/>
                </a:rPr>
                <a:t>en asegurados</a:t>
              </a:r>
            </a:p>
          </p:txBody>
        </p:sp>
        <p:sp>
          <p:nvSpPr>
            <p:cNvPr id="5" name="TextBox 5"/>
            <p:cNvSpPr txBox="1"/>
            <p:nvPr/>
          </p:nvSpPr>
          <p:spPr>
            <a:xfrm>
              <a:off x="598932" y="3873500"/>
              <a:ext cx="4113581" cy="772668"/>
            </a:xfrm>
            <a:prstGeom prst="rect">
              <a:avLst/>
            </a:prstGeom>
            <a:noFill/>
            <a:ln>
              <a:noFill/>
            </a:ln>
          </p:spPr>
          <p:txBody>
            <a:bodyPr wrap="none" lIns="0" tIns="0" rIns="0" bIns="0" anchor="t" anchorCtr="0">
              <a:spAutoFit/>
            </a:bodyPr>
            <a:lstStyle/>
            <a:p>
              <a:pPr algn="l">
                <a:lnSpc>
                  <a:spcPts val="2850"/>
                </a:lnSpc>
              </a:pPr>
              <a:r>
                <a:rPr lang="es-419" sz="2100" dirty="0">
                  <a:solidFill>
                    <a:schemeClr val="accent6"/>
                  </a:solidFill>
                  <a:latin typeface="+mn-lt"/>
                  <a:ea typeface="+mn-ea"/>
                  <a:cs typeface="+mn-cs"/>
                </a:rPr>
                <a:t>Del notebook a un pipeline MLOps</a:t>
              </a:r>
              <a:br>
                <a:rPr lang="es-419" sz="2100" dirty="0">
                  <a:solidFill>
                    <a:schemeClr val="accent6"/>
                  </a:solidFill>
                  <a:latin typeface="+mn-lt"/>
                  <a:ea typeface="+mn-ea"/>
                  <a:cs typeface="+mn-cs"/>
                </a:rPr>
              </a:br>
              <a:r>
                <a:rPr lang="es-419" sz="2100" dirty="0">
                  <a:solidFill>
                    <a:schemeClr val="accent6"/>
                  </a:solidFill>
                  <a:latin typeface="+mn-lt"/>
                  <a:ea typeface="+mn-ea"/>
                  <a:cs typeface="+mn-cs"/>
                </a:rPr>
                <a:t>en producción</a:t>
              </a:r>
            </a:p>
          </p:txBody>
        </p:sp>
        <p:sp>
          <p:nvSpPr>
            <p:cNvPr id="6" name="Rectangle 6"/>
            <p:cNvSpPr/>
            <p:nvPr/>
          </p:nvSpPr>
          <p:spPr>
            <a:xfrm>
              <a:off x="609600" y="4705350"/>
              <a:ext cx="914400" cy="47625"/>
            </a:xfrm>
            <a:prstGeom prst="rect">
              <a:avLst/>
            </a:prstGeom>
            <a:solidFill>
              <a:schemeClr val="accent2"/>
            </a:solidFill>
            <a:ln>
              <a:noFill/>
            </a:ln>
          </p:spPr>
        </p:sp>
      </p:grpSp>
      <p:grpSp>
        <p:nvGrpSpPr>
          <p:cNvPr id="9" name="cover-autor"/>
          <p:cNvGrpSpPr/>
          <p:nvPr/>
        </p:nvGrpSpPr>
        <p:grpSpPr>
          <a:xfrm>
            <a:off x="603504" y="5962650"/>
            <a:ext cx="4073653" cy="234696"/>
            <a:chOff x="603504" y="5962650"/>
            <a:chExt cx="4073653" cy="234696"/>
          </a:xfrm>
        </p:grpSpPr>
        <p:sp>
          <p:nvSpPr>
            <p:cNvPr id="8" name="TextBox 8"/>
            <p:cNvSpPr txBox="1"/>
            <p:nvPr/>
          </p:nvSpPr>
          <p:spPr>
            <a:xfrm>
              <a:off x="603504" y="5962650"/>
              <a:ext cx="4073653" cy="234696"/>
            </a:xfrm>
            <a:prstGeom prst="rect">
              <a:avLst/>
            </a:prstGeom>
            <a:noFill/>
            <a:ln>
              <a:noFill/>
            </a:ln>
          </p:spPr>
          <p:txBody>
            <a:bodyPr wrap="none" lIns="0" tIns="0" rIns="0" bIns="0" anchor="t" anchorCtr="0">
              <a:spAutoFit/>
            </a:bodyPr>
            <a:lstStyle/>
            <a:p>
              <a:pPr algn="l"/>
              <a:r>
                <a:rPr lang="es-419" sz="1200" b="1" dirty="0">
                  <a:solidFill>
                    <a:srgbClr val="FFFFFF"/>
                  </a:solidFill>
                  <a:latin typeface="+mn-lt"/>
                  <a:ea typeface="+mn-ea"/>
                  <a:cs typeface="+mn-cs"/>
                </a:rPr>
                <a:t>Angelo Flores</a:t>
              </a:r>
              <a:r>
                <a:rPr lang="es-419" sz="1200" dirty="0">
                  <a:solidFill>
                    <a:srgbClr val="9FB2C8"/>
                  </a:solidFill>
                  <a:latin typeface="+mn-lt"/>
                  <a:ea typeface="+mn-ea"/>
                  <a:cs typeface="+mn-cs"/>
                </a:rPr>
                <a:t xml:space="preserve"> · Smart Data, 4ta edición · Octubre 2026</a:t>
              </a:r>
            </a:p>
          </p:txBody>
        </p:sp>
      </p:grpSp>
      <p:grpSp>
        <p:nvGrpSpPr>
          <p:cNvPr id="15" name="cover-gancho"/>
          <p:cNvGrpSpPr/>
          <p:nvPr/>
        </p:nvGrpSpPr>
        <p:grpSpPr>
          <a:xfrm>
            <a:off x="7905750" y="2033941"/>
            <a:ext cx="2275669" cy="3236305"/>
            <a:chOff x="7905750" y="2033941"/>
            <a:chExt cx="2275669" cy="3236305"/>
          </a:xfrm>
        </p:grpSpPr>
        <p:sp>
          <p:nvSpPr>
            <p:cNvPr id="10" name="Freeform 10"/>
            <p:cNvSpPr/>
            <p:nvPr/>
          </p:nvSpPr>
          <p:spPr>
            <a:xfrm>
              <a:off x="7955037" y="2033941"/>
              <a:ext cx="396213" cy="349175"/>
            </a:xfrm>
            <a:custGeom>
              <a:avLst/>
              <a:gdLst/>
              <a:ahLst/>
              <a:cxnLst/>
              <a:rect l="l" t="t" r="r" b="b"/>
              <a:pathLst>
                <a:path w="396213" h="349175">
                  <a:moveTo>
                    <a:pt x="102713" y="5819"/>
                  </a:moveTo>
                  <a:cubicBezTo>
                    <a:pt x="136864" y="0"/>
                    <a:pt x="171811" y="9984"/>
                    <a:pt x="197735" y="32965"/>
                  </a:cubicBezTo>
                  <a:lnTo>
                    <a:pt x="198439" y="33594"/>
                  </a:lnTo>
                  <a:lnTo>
                    <a:pt x="199087" y="33022"/>
                  </a:lnTo>
                  <a:cubicBezTo>
                    <a:pt x="223798" y="11337"/>
                    <a:pt x="256650" y="1342"/>
                    <a:pt x="289251" y="5590"/>
                  </a:cubicBezTo>
                  <a:lnTo>
                    <a:pt x="293937" y="6276"/>
                  </a:lnTo>
                  <a:cubicBezTo>
                    <a:pt x="335320" y="13421"/>
                    <a:pt x="369453" y="42685"/>
                    <a:pt x="382833" y="82492"/>
                  </a:cubicBezTo>
                  <a:cubicBezTo>
                    <a:pt x="396213" y="122299"/>
                    <a:pt x="386687" y="166238"/>
                    <a:pt x="358021" y="196928"/>
                  </a:cubicBezTo>
                  <a:lnTo>
                    <a:pt x="354592" y="200453"/>
                  </a:lnTo>
                  <a:lnTo>
                    <a:pt x="353678" y="201234"/>
                  </a:lnTo>
                  <a:lnTo>
                    <a:pt x="211755" y="341804"/>
                  </a:lnTo>
                  <a:cubicBezTo>
                    <a:pt x="204982" y="348507"/>
                    <a:pt x="194297" y="349175"/>
                    <a:pt x="186743" y="343366"/>
                  </a:cubicBezTo>
                  <a:lnTo>
                    <a:pt x="184952" y="341804"/>
                  </a:lnTo>
                  <a:lnTo>
                    <a:pt x="42210" y="200415"/>
                  </a:lnTo>
                  <a:cubicBezTo>
                    <a:pt x="11376" y="170413"/>
                    <a:pt x="0" y="125640"/>
                    <a:pt x="12773" y="84558"/>
                  </a:cubicBezTo>
                  <a:cubicBezTo>
                    <a:pt x="25546" y="43477"/>
                    <a:pt x="60304" y="13048"/>
                    <a:pt x="102713" y="5819"/>
                  </a:cubicBezTo>
                  <a:close/>
                </a:path>
              </a:pathLst>
            </a:custGeom>
            <a:solidFill>
              <a:schemeClr val="accent2"/>
            </a:solidFill>
            <a:ln>
              <a:noFill/>
            </a:ln>
          </p:spPr>
        </p:sp>
        <p:sp>
          <p:nvSpPr>
            <p:cNvPr id="11" name="TextBox 11"/>
            <p:cNvSpPr txBox="1"/>
            <p:nvPr/>
          </p:nvSpPr>
          <p:spPr>
            <a:xfrm>
              <a:off x="7905750" y="2692400"/>
              <a:ext cx="711981" cy="1733550"/>
            </a:xfrm>
            <a:prstGeom prst="rect">
              <a:avLst/>
            </a:prstGeom>
            <a:noFill/>
            <a:ln>
              <a:noFill/>
            </a:ln>
          </p:spPr>
          <p:txBody>
            <a:bodyPr wrap="none" lIns="0" tIns="0" rIns="0" bIns="0" anchor="t" anchorCtr="0">
              <a:spAutoFit/>
            </a:bodyPr>
            <a:lstStyle/>
            <a:p>
              <a:pPr algn="l"/>
              <a:r>
                <a:rPr lang="es-419" sz="9000" b="1" dirty="0">
                  <a:solidFill>
                    <a:schemeClr val="accent2"/>
                  </a:solidFill>
                  <a:latin typeface="+mn-lt"/>
                  <a:ea typeface="+mn-ea"/>
                  <a:cs typeface="+mn-cs"/>
                </a:rPr>
                <a:t>8</a:t>
              </a:r>
            </a:p>
          </p:txBody>
        </p:sp>
        <p:sp>
          <p:nvSpPr>
            <p:cNvPr id="12" name="TextBox 12"/>
            <p:cNvSpPr txBox="1"/>
            <p:nvPr/>
          </p:nvSpPr>
          <p:spPr>
            <a:xfrm>
              <a:off x="8714232" y="3556000"/>
              <a:ext cx="1467187"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de cada 10</a:t>
              </a:r>
            </a:p>
          </p:txBody>
        </p:sp>
        <p:sp>
          <p:nvSpPr>
            <p:cNvPr id="13" name="TextBox 13"/>
            <p:cNvSpPr txBox="1"/>
            <p:nvPr/>
          </p:nvSpPr>
          <p:spPr>
            <a:xfrm>
              <a:off x="7915656" y="4038600"/>
              <a:ext cx="1988043" cy="656844"/>
            </a:xfrm>
            <a:prstGeom prst="rect">
              <a:avLst/>
            </a:prstGeom>
            <a:noFill/>
            <a:ln>
              <a:noFill/>
            </a:ln>
          </p:spPr>
          <p:txBody>
            <a:bodyPr wrap="none" lIns="0" tIns="0" rIns="0" bIns="0" anchor="t" anchorCtr="0">
              <a:spAutoFit/>
            </a:bodyPr>
            <a:lstStyle/>
            <a:p>
              <a:pPr algn="l">
                <a:lnSpc>
                  <a:spcPts val="2400"/>
                </a:lnSpc>
              </a:pPr>
              <a:r>
                <a:rPr lang="es-419" sz="1800" dirty="0">
                  <a:solidFill>
                    <a:schemeClr val="dk1"/>
                  </a:solidFill>
                  <a:latin typeface="+mn-lt"/>
                  <a:ea typeface="+mn-ea"/>
                  <a:cs typeface="+mn-cs"/>
                </a:rPr>
                <a:t>infartos anticipados</a:t>
              </a:r>
              <a:br>
                <a:rPr lang="es-419" sz="1800" dirty="0">
                  <a:solidFill>
                    <a:schemeClr val="dk1"/>
                  </a:solidFill>
                  <a:latin typeface="+mn-lt"/>
                  <a:ea typeface="+mn-ea"/>
                  <a:cs typeface="+mn-cs"/>
                </a:rPr>
              </a:br>
              <a:r>
                <a:rPr lang="es-419" sz="1800" dirty="0">
                  <a:solidFill>
                    <a:schemeClr val="dk1"/>
                  </a:solidFill>
                  <a:latin typeface="+mn-lt"/>
                  <a:ea typeface="+mn-ea"/>
                  <a:cs typeface="+mn-cs"/>
                </a:rPr>
                <a:t>por el modelo</a:t>
              </a:r>
            </a:p>
          </p:txBody>
        </p:sp>
        <p:sp>
          <p:nvSpPr>
            <p:cNvPr id="14" name="TextBox 14"/>
            <p:cNvSpPr txBox="1"/>
            <p:nvPr/>
          </p:nvSpPr>
          <p:spPr>
            <a:xfrm>
              <a:off x="7918704" y="4826000"/>
              <a:ext cx="1740378" cy="44424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5"/>
                  </a:solidFill>
                  <a:latin typeface="+mn-lt"/>
                  <a:ea typeface="+mn-ea"/>
                  <a:cs typeface="+mn-cs"/>
                </a:rPr>
                <a:t>Recall 0,815 · AUC 0,828</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test de 8.680 asegurados</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100478"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01 · EL CASO DE NEGOCIO</a:t>
              </a:r>
            </a:p>
          </p:txBody>
        </p:sp>
        <p:sp>
          <p:nvSpPr>
            <p:cNvPr id="3" name="TextBox 3"/>
            <p:cNvSpPr txBox="1"/>
            <p:nvPr/>
          </p:nvSpPr>
          <p:spPr>
            <a:xfrm>
              <a:off x="594360" y="850900"/>
              <a:ext cx="9559519"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Un infarto no detectado le cuesta a la aseguradora,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y decir “nadie tendrá infarto” ya da 98% de accuracy</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8" name="cifra-desbalance"/>
          <p:cNvGrpSpPr/>
          <p:nvPr/>
        </p:nvGrpSpPr>
        <p:grpSpPr>
          <a:xfrm>
            <a:off x="590550" y="2501900"/>
            <a:ext cx="3408777" cy="2003044"/>
            <a:chOff x="590550" y="2501900"/>
            <a:chExt cx="3408777" cy="2003044"/>
          </a:xfrm>
        </p:grpSpPr>
        <p:sp>
          <p:nvSpPr>
            <p:cNvPr id="6" name="TextBox 6"/>
            <p:cNvSpPr txBox="1"/>
            <p:nvPr/>
          </p:nvSpPr>
          <p:spPr>
            <a:xfrm>
              <a:off x="590550" y="2501900"/>
              <a:ext cx="2799775" cy="1733550"/>
            </a:xfrm>
            <a:prstGeom prst="rect">
              <a:avLst/>
            </a:prstGeom>
            <a:noFill/>
            <a:ln>
              <a:noFill/>
            </a:ln>
          </p:spPr>
          <p:txBody>
            <a:bodyPr wrap="none" lIns="0" tIns="0" rIns="0" bIns="0" anchor="t" anchorCtr="0">
              <a:spAutoFit/>
            </a:bodyPr>
            <a:lstStyle/>
            <a:p>
              <a:pPr algn="l"/>
              <a:r>
                <a:rPr lang="es-419" sz="9000" b="1" dirty="0">
                  <a:solidFill>
                    <a:schemeClr val="accent2"/>
                  </a:solidFill>
                  <a:latin typeface="+mn-lt"/>
                  <a:ea typeface="+mn-ea"/>
                  <a:cs typeface="+mn-cs"/>
                </a:rPr>
                <a:t>1,8%</a:t>
              </a:r>
            </a:p>
          </p:txBody>
        </p:sp>
        <p:sp>
          <p:nvSpPr>
            <p:cNvPr id="7" name="TextBox 7"/>
            <p:cNvSpPr txBox="1"/>
            <p:nvPr/>
          </p:nvSpPr>
          <p:spPr>
            <a:xfrm>
              <a:off x="600456" y="3848100"/>
              <a:ext cx="3398871" cy="656844"/>
            </a:xfrm>
            <a:prstGeom prst="rect">
              <a:avLst/>
            </a:prstGeom>
            <a:noFill/>
            <a:ln>
              <a:noFill/>
            </a:ln>
          </p:spPr>
          <p:txBody>
            <a:bodyPr wrap="none" lIns="0" tIns="0" rIns="0" bIns="0" anchor="t" anchorCtr="0">
              <a:spAutoFit/>
            </a:bodyPr>
            <a:lstStyle/>
            <a:p>
              <a:pPr algn="l">
                <a:lnSpc>
                  <a:spcPts val="2400"/>
                </a:lnSpc>
              </a:pPr>
              <a:r>
                <a:rPr lang="es-419" sz="1800" dirty="0">
                  <a:solidFill>
                    <a:schemeClr val="dk1"/>
                  </a:solidFill>
                  <a:latin typeface="+mn-lt"/>
                  <a:ea typeface="+mn-ea"/>
                  <a:cs typeface="+mn-cs"/>
                </a:rPr>
                <a:t>de los asegurados tuvo un infarto</a:t>
              </a:r>
              <a:br>
                <a:rPr lang="es-419" sz="1800" dirty="0">
                  <a:solidFill>
                    <a:schemeClr val="dk1"/>
                  </a:solidFill>
                  <a:latin typeface="+mn-lt"/>
                  <a:ea typeface="+mn-ea"/>
                  <a:cs typeface="+mn-cs"/>
                </a:rPr>
              </a:br>
              <a:r>
                <a:rPr lang="es-419" sz="1800" dirty="0">
                  <a:solidFill>
                    <a:schemeClr val="dk1"/>
                  </a:solidFill>
                  <a:latin typeface="+mn-lt"/>
                  <a:ea typeface="+mn-ea"/>
                  <a:cs typeface="+mn-cs"/>
                </a:rPr>
                <a:t>en los 4 años revisados</a:t>
              </a:r>
            </a:p>
          </p:txBody>
        </p:sp>
      </p:grpSp>
      <p:grpSp>
        <p:nvGrpSpPr>
          <p:cNvPr id="18" name="hechos-contexto"/>
          <p:cNvGrpSpPr/>
          <p:nvPr/>
        </p:nvGrpSpPr>
        <p:grpSpPr>
          <a:xfrm>
            <a:off x="6085332" y="2336800"/>
            <a:ext cx="5497068" cy="1901825"/>
            <a:chOff x="6085332" y="2336800"/>
            <a:chExt cx="5497068" cy="1901825"/>
          </a:xfrm>
        </p:grpSpPr>
        <p:sp>
          <p:nvSpPr>
            <p:cNvPr id="9" name="TextBox 9"/>
            <p:cNvSpPr txBox="1"/>
            <p:nvPr/>
          </p:nvSpPr>
          <p:spPr>
            <a:xfrm>
              <a:off x="6085332" y="2336800"/>
              <a:ext cx="886065"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43.400</a:t>
              </a:r>
            </a:p>
          </p:txBody>
        </p:sp>
        <p:sp>
          <p:nvSpPr>
            <p:cNvPr id="10" name="TextBox 10"/>
            <p:cNvSpPr txBox="1"/>
            <p:nvPr/>
          </p:nvSpPr>
          <p:spPr>
            <a:xfrm>
              <a:off x="7613904" y="2419350"/>
              <a:ext cx="2419068"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asegurados con historial de salud</a:t>
              </a:r>
            </a:p>
          </p:txBody>
        </p:sp>
        <p:sp>
          <p:nvSpPr>
            <p:cNvPr id="11" name="Line 11"/>
            <p:cNvSpPr/>
            <p:nvPr/>
          </p:nvSpPr>
          <p:spPr>
            <a:xfrm>
              <a:off x="6096000" y="2819400"/>
              <a:ext cx="5486400" cy="9525"/>
            </a:xfrm>
            <a:custGeom>
              <a:avLst/>
              <a:gdLst/>
              <a:ahLst/>
              <a:cxnLst/>
              <a:rect l="l" t="t" r="r" b="b"/>
              <a:pathLst>
                <a:path w="5486400" h="9525">
                  <a:moveTo>
                    <a:pt x="0" y="0"/>
                  </a:moveTo>
                  <a:lnTo>
                    <a:pt x="5486400" y="0"/>
                  </a:lnTo>
                </a:path>
              </a:pathLst>
            </a:custGeom>
            <a:noFill/>
            <a:ln w="9525">
              <a:solidFill>
                <a:schemeClr val="accent6"/>
              </a:solidFill>
            </a:ln>
          </p:spPr>
        </p:sp>
        <p:sp>
          <p:nvSpPr>
            <p:cNvPr id="12" name="TextBox 12"/>
            <p:cNvSpPr txBox="1"/>
            <p:nvPr/>
          </p:nvSpPr>
          <p:spPr>
            <a:xfrm>
              <a:off x="6085332" y="3041650"/>
              <a:ext cx="916936"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4 años</a:t>
              </a:r>
            </a:p>
          </p:txBody>
        </p:sp>
        <p:sp>
          <p:nvSpPr>
            <p:cNvPr id="13" name="TextBox 13"/>
            <p:cNvSpPr txBox="1"/>
            <p:nvPr/>
          </p:nvSpPr>
          <p:spPr>
            <a:xfrm>
              <a:off x="7613904" y="3124200"/>
              <a:ext cx="2562455"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de otorgamiento histórico revisados</a:t>
              </a:r>
            </a:p>
          </p:txBody>
        </p:sp>
        <p:sp>
          <p:nvSpPr>
            <p:cNvPr id="14" name="Line 14"/>
            <p:cNvSpPr/>
            <p:nvPr/>
          </p:nvSpPr>
          <p:spPr>
            <a:xfrm>
              <a:off x="6096000" y="3524250"/>
              <a:ext cx="5486400" cy="9525"/>
            </a:xfrm>
            <a:custGeom>
              <a:avLst/>
              <a:gdLst/>
              <a:ahLst/>
              <a:cxnLst/>
              <a:rect l="l" t="t" r="r" b="b"/>
              <a:pathLst>
                <a:path w="5486400" h="9525">
                  <a:moveTo>
                    <a:pt x="0" y="0"/>
                  </a:moveTo>
                  <a:lnTo>
                    <a:pt x="5486400" y="0"/>
                  </a:lnTo>
                </a:path>
              </a:pathLst>
            </a:custGeom>
            <a:noFill/>
            <a:ln w="9525">
              <a:solidFill>
                <a:schemeClr val="accent6"/>
              </a:solidFill>
            </a:ln>
          </p:spPr>
        </p:sp>
        <p:sp>
          <p:nvSpPr>
            <p:cNvPr id="15" name="TextBox 15"/>
            <p:cNvSpPr txBox="1"/>
            <p:nvPr/>
          </p:nvSpPr>
          <p:spPr>
            <a:xfrm>
              <a:off x="6085332" y="3746500"/>
              <a:ext cx="493053" cy="410718"/>
            </a:xfrm>
            <a:prstGeom prst="rect">
              <a:avLst/>
            </a:prstGeom>
            <a:noFill/>
            <a:ln>
              <a:noFill/>
            </a:ln>
          </p:spPr>
          <p:txBody>
            <a:bodyPr wrap="none" lIns="0" tIns="0" rIns="0" bIns="0" anchor="t" anchorCtr="0">
              <a:spAutoFit/>
            </a:bodyPr>
            <a:lstStyle/>
            <a:p>
              <a:pPr algn="l"/>
              <a:r>
                <a:rPr lang="es-419" sz="2100" b="1" dirty="0">
                  <a:solidFill>
                    <a:schemeClr val="accent2"/>
                  </a:solidFill>
                  <a:latin typeface="+mn-lt"/>
                  <a:ea typeface="+mn-ea"/>
                  <a:cs typeface="+mn-cs"/>
                </a:rPr>
                <a:t>783</a:t>
              </a:r>
            </a:p>
          </p:txBody>
        </p:sp>
        <p:sp>
          <p:nvSpPr>
            <p:cNvPr id="16" name="TextBox 16"/>
            <p:cNvSpPr txBox="1"/>
            <p:nvPr/>
          </p:nvSpPr>
          <p:spPr>
            <a:xfrm>
              <a:off x="7613904" y="3829050"/>
              <a:ext cx="270606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infartos: la clase que importa detectar</a:t>
              </a:r>
            </a:p>
          </p:txBody>
        </p:sp>
        <p:sp>
          <p:nvSpPr>
            <p:cNvPr id="17" name="Line 17"/>
            <p:cNvSpPr/>
            <p:nvPr/>
          </p:nvSpPr>
          <p:spPr>
            <a:xfrm>
              <a:off x="6096000" y="4229100"/>
              <a:ext cx="5486400" cy="9525"/>
            </a:xfrm>
            <a:custGeom>
              <a:avLst/>
              <a:gdLst/>
              <a:ahLst/>
              <a:cxnLst/>
              <a:rect l="l" t="t" r="r" b="b"/>
              <a:pathLst>
                <a:path w="5486400" h="9525">
                  <a:moveTo>
                    <a:pt x="0" y="0"/>
                  </a:moveTo>
                  <a:lnTo>
                    <a:pt x="5486400" y="0"/>
                  </a:lnTo>
                </a:path>
              </a:pathLst>
            </a:custGeom>
            <a:noFill/>
            <a:ln w="9525">
              <a:solidFill>
                <a:schemeClr val="accent6"/>
              </a:solidFill>
            </a:ln>
          </p:spPr>
        </p:sp>
      </p:grpSp>
      <p:grpSp>
        <p:nvGrpSpPr>
          <p:cNvPr id="24" name="conclusion"/>
          <p:cNvGrpSpPr/>
          <p:nvPr/>
        </p:nvGrpSpPr>
        <p:grpSpPr>
          <a:xfrm>
            <a:off x="609600" y="4762500"/>
            <a:ext cx="10972800" cy="1409700"/>
            <a:chOff x="609600" y="4762500"/>
            <a:chExt cx="10972800" cy="1409700"/>
          </a:xfrm>
        </p:grpSpPr>
        <p:sp>
          <p:nvSpPr>
            <p:cNvPr id="19" name="Rectangle 19"/>
            <p:cNvSpPr/>
            <p:nvPr/>
          </p:nvSpPr>
          <p:spPr>
            <a:xfrm>
              <a:off x="609600" y="4762500"/>
              <a:ext cx="10972800" cy="1409700"/>
            </a:xfrm>
            <a:prstGeom prst="rect">
              <a:avLst/>
            </a:prstGeom>
            <a:solidFill>
              <a:schemeClr val="lt2"/>
            </a:solidFill>
            <a:ln>
              <a:noFill/>
            </a:ln>
          </p:spPr>
        </p:sp>
        <p:sp>
          <p:nvSpPr>
            <p:cNvPr id="20" name="Rectangle 20"/>
            <p:cNvSpPr/>
            <p:nvPr/>
          </p:nvSpPr>
          <p:spPr>
            <a:xfrm>
              <a:off x="609600" y="4762500"/>
              <a:ext cx="57150" cy="1409700"/>
            </a:xfrm>
            <a:prstGeom prst="rect">
              <a:avLst/>
            </a:prstGeom>
            <a:solidFill>
              <a:schemeClr val="accent1"/>
            </a:solidFill>
            <a:ln>
              <a:noFill/>
            </a:ln>
          </p:spPr>
        </p:sp>
        <p:sp>
          <p:nvSpPr>
            <p:cNvPr id="21" name="TextBox 21"/>
            <p:cNvSpPr txBox="1"/>
            <p:nvPr/>
          </p:nvSpPr>
          <p:spPr>
            <a:xfrm>
              <a:off x="905256" y="4953000"/>
              <a:ext cx="9159750"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Un modelo que siempre dice “no habrá infarto” acierta el 98,2% y no detecta a nadie.</a:t>
              </a:r>
            </a:p>
          </p:txBody>
        </p:sp>
        <p:sp>
          <p:nvSpPr>
            <p:cNvPr id="22" name="TextBox 22"/>
            <p:cNvSpPr txBox="1"/>
            <p:nvPr/>
          </p:nvSpPr>
          <p:spPr>
            <a:xfrm>
              <a:off x="905256" y="5295900"/>
              <a:ext cx="8399926" cy="352044"/>
            </a:xfrm>
            <a:prstGeom prst="rect">
              <a:avLst/>
            </a:prstGeom>
            <a:noFill/>
            <a:ln>
              <a:noFill/>
            </a:ln>
          </p:spPr>
          <p:txBody>
            <a:bodyPr wrap="none" lIns="0" tIns="0" rIns="0" bIns="0" anchor="t" anchorCtr="0">
              <a:spAutoFit/>
            </a:bodyPr>
            <a:lstStyle/>
            <a:p>
              <a:pPr algn="l"/>
              <a:r>
                <a:rPr lang="es-419" sz="1800" b="1" dirty="0">
                  <a:solidFill>
                    <a:schemeClr val="accent1"/>
                  </a:solidFill>
                  <a:latin typeface="+mn-lt"/>
                  <a:ea typeface="+mn-ea"/>
                  <a:cs typeface="+mn-cs"/>
                </a:rPr>
                <a:t>Por eso el pipeline mide recall (infartos detectados) y AUC, no accuracy.</a:t>
              </a:r>
            </a:p>
          </p:txBody>
        </p:sp>
        <p:sp>
          <p:nvSpPr>
            <p:cNvPr id="23" name="TextBox 23"/>
            <p:cNvSpPr txBox="1"/>
            <p:nvPr/>
          </p:nvSpPr>
          <p:spPr>
            <a:xfrm>
              <a:off x="908304" y="5772150"/>
              <a:ext cx="9165471"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Datos de escenario · supuestos de costo en config.yaml: US$20.000 por infarto no detectado · US$300 por chequeo preventivo</a:t>
              </a:r>
            </a:p>
          </p:txBody>
        </p:sp>
      </p:grpSp>
      <p:grpSp>
        <p:nvGrpSpPr>
          <p:cNvPr id="27" name="footer"/>
          <p:cNvGrpSpPr/>
          <p:nvPr/>
        </p:nvGrpSpPr>
        <p:grpSpPr>
          <a:xfrm>
            <a:off x="603504" y="6381750"/>
            <a:ext cx="10984992" cy="234696"/>
            <a:chOff x="603504" y="6381750"/>
            <a:chExt cx="10984992" cy="234696"/>
          </a:xfrm>
        </p:grpSpPr>
        <p:sp>
          <p:nvSpPr>
            <p:cNvPr id="25" name="TextBox 25"/>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6" name="TextBox 26"/>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02 / 10</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746539"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02 · LA RESPUESTA EN UNA CIFRA</a:t>
              </a:r>
            </a:p>
          </p:txBody>
        </p:sp>
        <p:sp>
          <p:nvSpPr>
            <p:cNvPr id="3" name="TextBox 3"/>
            <p:cNvSpPr txBox="1"/>
            <p:nvPr/>
          </p:nvSpPr>
          <p:spPr>
            <a:xfrm>
              <a:off x="594360" y="850900"/>
              <a:ext cx="8352053"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El modelo detecta 8 de cada 10 infartos y baja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el costo esperado a menos de la mitad</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10" name="resultado-recall"/>
          <p:cNvGrpSpPr/>
          <p:nvPr/>
        </p:nvGrpSpPr>
        <p:grpSpPr>
          <a:xfrm>
            <a:off x="590550" y="2501900"/>
            <a:ext cx="4429701" cy="2438146"/>
            <a:chOff x="590550" y="2501900"/>
            <a:chExt cx="4429701" cy="2438146"/>
          </a:xfrm>
        </p:grpSpPr>
        <p:sp>
          <p:nvSpPr>
            <p:cNvPr id="6" name="TextBox 6"/>
            <p:cNvSpPr txBox="1"/>
            <p:nvPr/>
          </p:nvSpPr>
          <p:spPr>
            <a:xfrm>
              <a:off x="590550" y="2501900"/>
              <a:ext cx="2059742" cy="1733550"/>
            </a:xfrm>
            <a:prstGeom prst="rect">
              <a:avLst/>
            </a:prstGeom>
            <a:noFill/>
            <a:ln>
              <a:noFill/>
            </a:ln>
          </p:spPr>
          <p:txBody>
            <a:bodyPr wrap="none" lIns="0" tIns="0" rIns="0" bIns="0" anchor="t" anchorCtr="0">
              <a:spAutoFit/>
            </a:bodyPr>
            <a:lstStyle/>
            <a:p>
              <a:pPr algn="l"/>
              <a:r>
                <a:rPr lang="es-419" sz="9000" b="1" dirty="0">
                  <a:solidFill>
                    <a:schemeClr val="accent2"/>
                  </a:solidFill>
                  <a:latin typeface="+mn-lt"/>
                  <a:ea typeface="+mn-ea"/>
                  <a:cs typeface="+mn-cs"/>
                </a:rPr>
                <a:t>128</a:t>
              </a:r>
            </a:p>
          </p:txBody>
        </p:sp>
        <p:sp>
          <p:nvSpPr>
            <p:cNvPr id="7" name="TextBox 7"/>
            <p:cNvSpPr txBox="1"/>
            <p:nvPr/>
          </p:nvSpPr>
          <p:spPr>
            <a:xfrm>
              <a:off x="598932" y="3822700"/>
              <a:ext cx="3084978"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de 157 infartos del test</a:t>
              </a:r>
            </a:p>
          </p:txBody>
        </p:sp>
        <p:sp>
          <p:nvSpPr>
            <p:cNvPr id="8" name="TextBox 8"/>
            <p:cNvSpPr txBox="1"/>
            <p:nvPr/>
          </p:nvSpPr>
          <p:spPr>
            <a:xfrm>
              <a:off x="600456" y="4191000"/>
              <a:ext cx="4018925"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quedaron marcados como alto riesgo</a:t>
              </a:r>
            </a:p>
          </p:txBody>
        </p:sp>
        <p:sp>
          <p:nvSpPr>
            <p:cNvPr id="9" name="TextBox 9"/>
            <p:cNvSpPr txBox="1"/>
            <p:nvPr/>
          </p:nvSpPr>
          <p:spPr>
            <a:xfrm>
              <a:off x="603504" y="4705350"/>
              <a:ext cx="441674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Recall 0,815 · AUC 0,828 · test holdout de 8.680 asegurados</a:t>
              </a:r>
            </a:p>
          </p:txBody>
        </p:sp>
      </p:grpSp>
      <p:grpSp>
        <p:nvGrpSpPr>
          <p:cNvPr id="21" name="comparacion-costo"/>
          <p:cNvGrpSpPr/>
          <p:nvPr/>
        </p:nvGrpSpPr>
        <p:grpSpPr>
          <a:xfrm>
            <a:off x="6086856" y="2343150"/>
            <a:ext cx="5438409" cy="3327146"/>
            <a:chOff x="6086856" y="2343150"/>
            <a:chExt cx="5438409" cy="3327146"/>
          </a:xfrm>
        </p:grpSpPr>
        <p:sp>
          <p:nvSpPr>
            <p:cNvPr id="11" name="TextBox 11"/>
            <p:cNvSpPr txBox="1"/>
            <p:nvPr/>
          </p:nvSpPr>
          <p:spPr>
            <a:xfrm>
              <a:off x="6089904" y="2343150"/>
              <a:ext cx="4463981"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Costo esperado para la aseguradora en el test (US$ millones)</a:t>
              </a:r>
            </a:p>
          </p:txBody>
        </p:sp>
        <p:sp>
          <p:nvSpPr>
            <p:cNvPr id="12" name="Line 12"/>
            <p:cNvSpPr/>
            <p:nvPr/>
          </p:nvSpPr>
          <p:spPr>
            <a:xfrm>
              <a:off x="6096000" y="2686050"/>
              <a:ext cx="9525" cy="1924050"/>
            </a:xfrm>
            <a:custGeom>
              <a:avLst/>
              <a:gdLst/>
              <a:ahLst/>
              <a:cxnLst/>
              <a:rect l="l" t="t" r="r" b="b"/>
              <a:pathLst>
                <a:path w="9525" h="1924050">
                  <a:moveTo>
                    <a:pt x="0" y="0"/>
                  </a:moveTo>
                  <a:lnTo>
                    <a:pt x="0" y="1924050"/>
                  </a:lnTo>
                </a:path>
              </a:pathLst>
            </a:custGeom>
            <a:noFill/>
            <a:ln w="9525">
              <a:solidFill>
                <a:srgbClr val="5B6470"/>
              </a:solidFill>
            </a:ln>
          </p:spPr>
        </p:sp>
        <p:sp>
          <p:nvSpPr>
            <p:cNvPr id="13" name="TextBox 13"/>
            <p:cNvSpPr txBox="1"/>
            <p:nvPr/>
          </p:nvSpPr>
          <p:spPr>
            <a:xfrm>
              <a:off x="6239256" y="2724150"/>
              <a:ext cx="1238268"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Sin modelo</a:t>
              </a:r>
            </a:p>
          </p:txBody>
        </p:sp>
        <p:sp>
          <p:nvSpPr>
            <p:cNvPr id="14" name="Rectangle 14"/>
            <p:cNvSpPr/>
            <p:nvPr/>
          </p:nvSpPr>
          <p:spPr>
            <a:xfrm>
              <a:off x="6096000" y="3067050"/>
              <a:ext cx="3810000" cy="457200"/>
            </a:xfrm>
            <a:prstGeom prst="rect">
              <a:avLst/>
            </a:prstGeom>
            <a:solidFill>
              <a:schemeClr val="accent1"/>
            </a:solidFill>
            <a:ln>
              <a:noFill/>
            </a:ln>
          </p:spPr>
        </p:sp>
        <p:sp>
          <p:nvSpPr>
            <p:cNvPr id="15" name="TextBox 15"/>
            <p:cNvSpPr txBox="1"/>
            <p:nvPr/>
          </p:nvSpPr>
          <p:spPr>
            <a:xfrm>
              <a:off x="10009632" y="3136900"/>
              <a:ext cx="151563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US$3,14 M</a:t>
              </a:r>
            </a:p>
          </p:txBody>
        </p:sp>
        <p:sp>
          <p:nvSpPr>
            <p:cNvPr id="16" name="TextBox 16"/>
            <p:cNvSpPr txBox="1"/>
            <p:nvPr/>
          </p:nvSpPr>
          <p:spPr>
            <a:xfrm>
              <a:off x="6239256" y="3695700"/>
              <a:ext cx="1333171" cy="352044"/>
            </a:xfrm>
            <a:prstGeom prst="rect">
              <a:avLst/>
            </a:prstGeom>
            <a:noFill/>
            <a:ln>
              <a:noFill/>
            </a:ln>
          </p:spPr>
          <p:txBody>
            <a:bodyPr wrap="none" lIns="0" tIns="0" rIns="0" bIns="0" anchor="t" anchorCtr="0">
              <a:spAutoFit/>
            </a:bodyPr>
            <a:lstStyle/>
            <a:p>
              <a:pPr algn="l"/>
              <a:r>
                <a:rPr lang="es-419" sz="1800" dirty="0">
                  <a:solidFill>
                    <a:schemeClr val="dk1"/>
                  </a:solidFill>
                  <a:latin typeface="+mn-lt"/>
                  <a:ea typeface="+mn-ea"/>
                  <a:cs typeface="+mn-cs"/>
                </a:rPr>
                <a:t>Con modelo</a:t>
              </a:r>
            </a:p>
          </p:txBody>
        </p:sp>
        <p:sp>
          <p:nvSpPr>
            <p:cNvPr id="17" name="Rectangle 17"/>
            <p:cNvSpPr/>
            <p:nvPr/>
          </p:nvSpPr>
          <p:spPr>
            <a:xfrm>
              <a:off x="6096000" y="4038600"/>
              <a:ext cx="1541145" cy="457200"/>
            </a:xfrm>
            <a:prstGeom prst="rect">
              <a:avLst/>
            </a:prstGeom>
            <a:solidFill>
              <a:schemeClr val="accent3"/>
            </a:solidFill>
            <a:ln>
              <a:noFill/>
            </a:ln>
          </p:spPr>
        </p:sp>
        <p:sp>
          <p:nvSpPr>
            <p:cNvPr id="18" name="TextBox 18"/>
            <p:cNvSpPr txBox="1"/>
            <p:nvPr/>
          </p:nvSpPr>
          <p:spPr>
            <a:xfrm>
              <a:off x="7740777" y="4108450"/>
              <a:ext cx="151563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US$1,27 M</a:t>
              </a:r>
            </a:p>
          </p:txBody>
        </p:sp>
        <p:sp>
          <p:nvSpPr>
            <p:cNvPr id="19" name="TextBox 19"/>
            <p:cNvSpPr txBox="1"/>
            <p:nvPr/>
          </p:nvSpPr>
          <p:spPr>
            <a:xfrm>
              <a:off x="6086856" y="4857750"/>
              <a:ext cx="4227833" cy="352044"/>
            </a:xfrm>
            <a:prstGeom prst="rect">
              <a:avLst/>
            </a:prstGeom>
            <a:noFill/>
            <a:ln>
              <a:noFill/>
            </a:ln>
          </p:spPr>
          <p:txBody>
            <a:bodyPr wrap="none" lIns="0" tIns="0" rIns="0" bIns="0" anchor="t" anchorCtr="0">
              <a:spAutoFit/>
            </a:bodyPr>
            <a:lstStyle/>
            <a:p>
              <a:pPr algn="l"/>
              <a:r>
                <a:rPr lang="es-419" sz="1800" b="1" dirty="0">
                  <a:solidFill>
                    <a:schemeClr val="accent1"/>
                  </a:solidFill>
                  <a:latin typeface="+mn-lt"/>
                  <a:ea typeface="+mn-ea"/>
                  <a:cs typeface="+mn-cs"/>
                </a:rPr>
                <a:t>Ahorro estimado: US$1,87 M (−60%)</a:t>
              </a:r>
            </a:p>
          </p:txBody>
        </p:sp>
        <p:sp>
          <p:nvSpPr>
            <p:cNvPr id="20" name="TextBox 20"/>
            <p:cNvSpPr txBox="1"/>
            <p:nvPr/>
          </p:nvSpPr>
          <p:spPr>
            <a:xfrm>
              <a:off x="6089904" y="5226050"/>
              <a:ext cx="5201321" cy="44424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5"/>
                  </a:solidFill>
                  <a:latin typeface="+mn-lt"/>
                  <a:ea typeface="+mn-ea"/>
                  <a:cs typeface="+mn-cs"/>
                </a:rPr>
                <a:t>Datos de escenario · con modelo: 29 FN × US$20.000 + 2.291 FP × US$300</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sin modelo: 157 infartos × US$20.000</a:t>
              </a:r>
            </a:p>
          </p:txBody>
        </p:sp>
      </p:grpSp>
      <p:grpSp>
        <p:nvGrpSpPr>
          <p:cNvPr id="24" name="footer"/>
          <p:cNvGrpSpPr/>
          <p:nvPr/>
        </p:nvGrpSpPr>
        <p:grpSpPr>
          <a:xfrm>
            <a:off x="603504" y="6381750"/>
            <a:ext cx="10984992" cy="234696"/>
            <a:chOff x="603504" y="6381750"/>
            <a:chExt cx="10984992" cy="234696"/>
          </a:xfrm>
        </p:grpSpPr>
        <p:sp>
          <p:nvSpPr>
            <p:cNvPr id="22" name="TextBox 22"/>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3" name="TextBox 23"/>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03 / 10</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153464"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03 · LOS DATOS · UNIDAD 2</a:t>
              </a:r>
            </a:p>
          </p:txBody>
        </p:sp>
        <p:sp>
          <p:nvSpPr>
            <p:cNvPr id="3" name="TextBox 3"/>
            <p:cNvSpPr txBox="1"/>
            <p:nvPr/>
          </p:nvSpPr>
          <p:spPr>
            <a:xfrm>
              <a:off x="594360" y="850900"/>
              <a:ext cx="7060387"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La edad, la glucosa y los antecedentes</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concentran el riesgo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7" name="grafico-eda"/>
          <p:cNvGrpSpPr/>
          <p:nvPr/>
        </p:nvGrpSpPr>
        <p:grpSpPr>
          <a:xfrm>
            <a:off x="609600" y="2095500"/>
            <a:ext cx="10274908" cy="2743200"/>
            <a:chOff x="609600" y="2095500"/>
            <a:chExt cx="10274908" cy="2743200"/>
          </a:xfrm>
        </p:grpSpPr>
        <p:pic>
          <p:nvPicPr>
            <p:cNvPr id="6" name="Image 6"/>
            <p:cNvPicPr>
              <a:picLocks noChangeAspect="1"/>
            </p:cNvPicPr>
            <p:nvPr/>
          </p:nvPicPr>
          <p:blipFill>
            <a:blip r:embed="rId2"/>
            <a:stretch>
              <a:fillRect/>
            </a:stretch>
          </p:blipFill>
          <p:spPr>
            <a:xfrm>
              <a:off x="609600" y="2095500"/>
              <a:ext cx="10274908" cy="2743200"/>
            </a:xfrm>
            <a:prstGeom prst="rect">
              <a:avLst/>
            </a:prstGeom>
          </p:spPr>
        </p:pic>
      </p:grpSp>
      <p:grpSp>
        <p:nvGrpSpPr>
          <p:cNvPr id="12" name="hallazgos"/>
          <p:cNvGrpSpPr/>
          <p:nvPr/>
        </p:nvGrpSpPr>
        <p:grpSpPr>
          <a:xfrm>
            <a:off x="601218" y="5041900"/>
            <a:ext cx="5620903" cy="1211707"/>
            <a:chOff x="601218" y="5041900"/>
            <a:chExt cx="5620903" cy="1211707"/>
          </a:xfrm>
        </p:grpSpPr>
        <p:sp>
          <p:nvSpPr>
            <p:cNvPr id="8" name="TextBox 8"/>
            <p:cNvSpPr txBox="1"/>
            <p:nvPr/>
          </p:nvSpPr>
          <p:spPr>
            <a:xfrm>
              <a:off x="603885" y="5041900"/>
              <a:ext cx="1746080"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HALLAZGOS DEL EDA</a:t>
              </a:r>
            </a:p>
          </p:txBody>
        </p:sp>
        <p:sp>
          <p:nvSpPr>
            <p:cNvPr id="9" name="TextBox 9"/>
            <p:cNvSpPr txBox="1"/>
            <p:nvPr/>
          </p:nvSpPr>
          <p:spPr>
            <a:xfrm>
              <a:off x="601218" y="5321300"/>
              <a:ext cx="4810869" cy="322707"/>
            </a:xfrm>
            <a:prstGeom prst="rect">
              <a:avLst/>
            </a:prstGeom>
            <a:noFill/>
            <a:ln>
              <a:noFill/>
            </a:ln>
          </p:spPr>
          <p:txBody>
            <a:bodyPr wrap="none" lIns="0" tIns="0" rIns="0" bIns="0" anchor="t" anchorCtr="0">
              <a:spAutoFit/>
            </a:bodyPr>
            <a:lstStyle/>
            <a:p>
              <a:pPr algn="l" marL="131576" indent="-131576">
                <a:buClr>
                  <a:schemeClr val="dk1"/>
                </a:buClr>
                <a:buSzTx/>
                <a:buFontTx/>
                <a:buChar char="•"/>
              </a:pPr>
              <a:r>
                <a:rPr lang="es-419" sz="1650" dirty="0">
                  <a:solidFill>
                    <a:schemeClr val="dk1"/>
                  </a:solidFill>
                  <a:latin typeface="+mn-lt"/>
                  <a:ea typeface="+mn-ea"/>
                  <a:cs typeface="+mn-cs"/>
                </a:rPr>
                <a:t>Casi todos los infartos, después de los 45 años</a:t>
              </a:r>
            </a:p>
          </p:txBody>
        </p:sp>
        <p:sp>
          <p:nvSpPr>
            <p:cNvPr id="10" name="TextBox 10"/>
            <p:cNvSpPr txBox="1"/>
            <p:nvPr/>
          </p:nvSpPr>
          <p:spPr>
            <a:xfrm>
              <a:off x="601218" y="5626100"/>
              <a:ext cx="5538738" cy="322707"/>
            </a:xfrm>
            <a:prstGeom prst="rect">
              <a:avLst/>
            </a:prstGeom>
            <a:noFill/>
            <a:ln>
              <a:noFill/>
            </a:ln>
          </p:spPr>
          <p:txBody>
            <a:bodyPr wrap="none" lIns="0" tIns="0" rIns="0" bIns="0" anchor="t" anchorCtr="0">
              <a:spAutoFit/>
            </a:bodyPr>
            <a:lstStyle/>
            <a:p>
              <a:pPr algn="l" marL="131576" indent="-131576">
                <a:buClr>
                  <a:schemeClr val="dk1"/>
                </a:buClr>
                <a:buSzTx/>
                <a:buFontTx/>
                <a:buChar char="•"/>
              </a:pPr>
              <a:r>
                <a:rPr lang="es-419" sz="1650" dirty="0">
                  <a:solidFill>
                    <a:schemeClr val="dk1"/>
                  </a:solidFill>
                  <a:latin typeface="+mn-lt"/>
                  <a:ea typeface="+mn-ea"/>
                  <a:cs typeface="+mn-cs"/>
                </a:rPr>
                <a:t>Glucosa alta y antecedentes cardiacos suben el riesgo</a:t>
              </a:r>
            </a:p>
          </p:txBody>
        </p:sp>
        <p:sp>
          <p:nvSpPr>
            <p:cNvPr id="11" name="TextBox 11"/>
            <p:cNvSpPr txBox="1"/>
            <p:nvPr/>
          </p:nvSpPr>
          <p:spPr>
            <a:xfrm>
              <a:off x="601218" y="5930900"/>
              <a:ext cx="5620903" cy="322707"/>
            </a:xfrm>
            <a:prstGeom prst="rect">
              <a:avLst/>
            </a:prstGeom>
            <a:noFill/>
            <a:ln>
              <a:noFill/>
            </a:ln>
          </p:spPr>
          <p:txBody>
            <a:bodyPr wrap="none" lIns="0" tIns="0" rIns="0" bIns="0" anchor="t" anchorCtr="0">
              <a:spAutoFit/>
            </a:bodyPr>
            <a:lstStyle/>
            <a:p>
              <a:pPr algn="l" marL="131576" indent="-131576">
                <a:buClr>
                  <a:schemeClr val="dk1"/>
                </a:buClr>
                <a:buSzTx/>
                <a:buFontTx/>
                <a:buChar char="•"/>
              </a:pPr>
              <a:r>
                <a:rPr lang="es-419" sz="1650" dirty="0">
                  <a:solidFill>
                    <a:schemeClr val="dk1"/>
                  </a:solidFill>
                  <a:latin typeface="+mn-lt"/>
                  <a:ea typeface="+mn-ea"/>
                  <a:cs typeface="+mn-cs"/>
                </a:rPr>
                <a:t>IMC imputado (3,4% vacío); fumador descartado (31%)</a:t>
              </a:r>
            </a:p>
          </p:txBody>
        </p:sp>
      </p:grpSp>
      <p:grpSp>
        <p:nvGrpSpPr>
          <p:cNvPr id="22" name="variables-modelo"/>
          <p:cNvGrpSpPr/>
          <p:nvPr/>
        </p:nvGrpSpPr>
        <p:grpSpPr>
          <a:xfrm>
            <a:off x="7003542" y="5041900"/>
            <a:ext cx="4292984" cy="1286383"/>
            <a:chOff x="7003542" y="5041900"/>
            <a:chExt cx="4292984" cy="1286383"/>
          </a:xfrm>
        </p:grpSpPr>
        <p:sp>
          <p:nvSpPr>
            <p:cNvPr id="13" name="TextBox 13"/>
            <p:cNvSpPr txBox="1"/>
            <p:nvPr/>
          </p:nvSpPr>
          <p:spPr>
            <a:xfrm>
              <a:off x="7004685" y="5041900"/>
              <a:ext cx="3259832"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7 VARIABLES DEL NOTEBOOK DEL CASO</a:t>
              </a:r>
            </a:p>
          </p:txBody>
        </p:sp>
        <p:grpSp>
          <p:nvGrpSpPr>
            <p:cNvPr id="21" name="Group 21"/>
            <p:cNvGrpSpPr/>
            <p:nvPr/>
          </p:nvGrpSpPr>
          <p:grpSpPr>
            <a:xfrm>
              <a:off x="7003542" y="5321300"/>
              <a:ext cx="4292984" cy="1006983"/>
              <a:chOff x="7003542" y="5321300"/>
              <a:chExt cx="4292984" cy="1006983"/>
            </a:xfrm>
          </p:grpSpPr>
          <p:sp>
            <p:nvSpPr>
              <p:cNvPr id="14" name="TextBox 14"/>
              <p:cNvSpPr txBox="1"/>
              <p:nvPr/>
            </p:nvSpPr>
            <p:spPr>
              <a:xfrm>
                <a:off x="7003542" y="5321300"/>
                <a:ext cx="1718968"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Flag_hipertension</a:t>
                </a:r>
              </a:p>
            </p:txBody>
          </p:sp>
          <p:sp>
            <p:nvSpPr>
              <p:cNvPr id="15" name="TextBox 15"/>
              <p:cNvSpPr txBox="1"/>
              <p:nvPr/>
            </p:nvSpPr>
            <p:spPr>
              <a:xfrm>
                <a:off x="7003542" y="5568950"/>
                <a:ext cx="2119032"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Flag_problem_cardiaco</a:t>
                </a:r>
              </a:p>
            </p:txBody>
          </p:sp>
          <p:sp>
            <p:nvSpPr>
              <p:cNvPr id="16" name="TextBox 16"/>
              <p:cNvSpPr txBox="1"/>
              <p:nvPr/>
            </p:nvSpPr>
            <p:spPr>
              <a:xfrm>
                <a:off x="7003542" y="5816600"/>
                <a:ext cx="1225525"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Edad_Encoded</a:t>
                </a:r>
              </a:p>
            </p:txBody>
          </p:sp>
          <p:sp>
            <p:nvSpPr>
              <p:cNvPr id="17" name="TextBox 17"/>
              <p:cNvSpPr txBox="1"/>
              <p:nvPr/>
            </p:nvSpPr>
            <p:spPr>
              <a:xfrm>
                <a:off x="7003542" y="6064250"/>
                <a:ext cx="1625072"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Gluocosa_Encoded</a:t>
                </a:r>
              </a:p>
            </p:txBody>
          </p:sp>
          <p:sp>
            <p:nvSpPr>
              <p:cNvPr id="18" name="TextBox 18"/>
              <p:cNvSpPr txBox="1"/>
              <p:nvPr/>
            </p:nvSpPr>
            <p:spPr>
              <a:xfrm>
                <a:off x="9365742" y="5321300"/>
                <a:ext cx="1138119"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IMC_Encoded</a:t>
                </a:r>
              </a:p>
            </p:txBody>
          </p:sp>
          <p:sp>
            <p:nvSpPr>
              <p:cNvPr id="19" name="TextBox 19"/>
              <p:cNvSpPr txBox="1"/>
              <p:nvPr/>
            </p:nvSpPr>
            <p:spPr>
              <a:xfrm>
                <a:off x="9365742" y="5568950"/>
                <a:ext cx="1425277"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Estado_Encoded</a:t>
                </a:r>
              </a:p>
            </p:txBody>
          </p:sp>
          <p:sp>
            <p:nvSpPr>
              <p:cNvPr id="20" name="TextBox 20"/>
              <p:cNvSpPr txBox="1"/>
              <p:nvPr/>
            </p:nvSpPr>
            <p:spPr>
              <a:xfrm>
                <a:off x="9365742" y="5816600"/>
                <a:ext cx="1930784" cy="264033"/>
              </a:xfrm>
              <a:prstGeom prst="rect">
                <a:avLst/>
              </a:prstGeom>
              <a:noFill/>
              <a:ln>
                <a:noFill/>
              </a:ln>
            </p:spPr>
            <p:txBody>
              <a:bodyPr wrap="none" lIns="0" tIns="0" rIns="0" bIns="0" anchor="t" anchorCtr="0">
                <a:spAutoFit/>
              </a:bodyPr>
              <a:lstStyle/>
              <a:p>
                <a:pPr algn="l"/>
                <a:r>
                  <a:rPr lang="es-419" sz="1350" dirty="0">
                    <a:solidFill>
                      <a:schemeClr val="accent1"/>
                    </a:solidFill>
                    <a:latin typeface="Consolas"/>
                    <a:ea typeface="Consolas"/>
                    <a:cs typeface="Consolas"/>
                  </a:rPr>
                  <a:t>TipoTrabajo_Encoded</a:t>
                </a:r>
              </a:p>
            </p:txBody>
          </p:sp>
        </p:grpSp>
      </p:grpSp>
      <p:grpSp>
        <p:nvGrpSpPr>
          <p:cNvPr id="25" name="footer"/>
          <p:cNvGrpSpPr/>
          <p:nvPr/>
        </p:nvGrpSpPr>
        <p:grpSpPr>
          <a:xfrm>
            <a:off x="603504" y="6381750"/>
            <a:ext cx="10984992" cy="234696"/>
            <a:chOff x="603504" y="6381750"/>
            <a:chExt cx="10984992" cy="234696"/>
          </a:xfrm>
        </p:grpSpPr>
        <p:sp>
          <p:nvSpPr>
            <p:cNvPr id="23" name="TextBox 23"/>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4" name="TextBox 24"/>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04 / 10</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3083063"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04 · ARQUITECTURA · UNIDADES 4 Y 10</a:t>
              </a:r>
            </a:p>
          </p:txBody>
        </p:sp>
        <p:sp>
          <p:nvSpPr>
            <p:cNvPr id="3" name="TextBox 3"/>
            <p:cNvSpPr txBox="1"/>
            <p:nvPr/>
          </p:nvSpPr>
          <p:spPr>
            <a:xfrm>
              <a:off x="594360" y="850900"/>
              <a:ext cx="9050655"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Siete etapas encadenadas convierten el notebook</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en un sistema que corre con un comando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38" name="pipeline-etapas"/>
          <p:cNvGrpSpPr/>
          <p:nvPr/>
        </p:nvGrpSpPr>
        <p:grpSpPr>
          <a:xfrm>
            <a:off x="603504" y="2247900"/>
            <a:ext cx="10860786" cy="2082546"/>
            <a:chOff x="603504" y="2247900"/>
            <a:chExt cx="10860786" cy="2082546"/>
          </a:xfrm>
        </p:grpSpPr>
        <p:sp>
          <p:nvSpPr>
            <p:cNvPr id="6" name="Freeform 6"/>
            <p:cNvSpPr/>
            <p:nvPr/>
          </p:nvSpPr>
          <p:spPr>
            <a:xfrm>
              <a:off x="609600" y="2247900"/>
              <a:ext cx="1790700" cy="800100"/>
            </a:xfrm>
            <a:prstGeom prst="homePlate">
              <a:avLst>
                <a:gd name="adj" fmla="val 35000"/>
              </a:avLst>
            </a:prstGeom>
            <a:solidFill>
              <a:schemeClr val="accent1"/>
            </a:solidFill>
            <a:ln w="28575">
              <a:solidFill>
                <a:srgbClr val="FFFFFF"/>
              </a:solidFill>
            </a:ln>
          </p:spPr>
        </p:sp>
        <p:sp>
          <p:nvSpPr>
            <p:cNvPr id="7" name="Freeform 7"/>
            <p:cNvSpPr/>
            <p:nvPr/>
          </p:nvSpPr>
          <p:spPr>
            <a:xfrm>
              <a:off x="2120265" y="2247900"/>
              <a:ext cx="1790700" cy="800100"/>
            </a:xfrm>
            <a:prstGeom prst="chevron">
              <a:avLst>
                <a:gd name="adj" fmla="val 35000"/>
              </a:avLst>
            </a:prstGeom>
            <a:solidFill>
              <a:schemeClr val="accent1"/>
            </a:solidFill>
            <a:ln w="28575">
              <a:solidFill>
                <a:srgbClr val="FFFFFF"/>
              </a:solidFill>
            </a:ln>
          </p:spPr>
        </p:sp>
        <p:sp>
          <p:nvSpPr>
            <p:cNvPr id="8" name="Freeform 8"/>
            <p:cNvSpPr/>
            <p:nvPr/>
          </p:nvSpPr>
          <p:spPr>
            <a:xfrm>
              <a:off x="3630930" y="2247900"/>
              <a:ext cx="1790700" cy="800100"/>
            </a:xfrm>
            <a:prstGeom prst="chevron">
              <a:avLst>
                <a:gd name="adj" fmla="val 35000"/>
              </a:avLst>
            </a:prstGeom>
            <a:solidFill>
              <a:schemeClr val="accent1"/>
            </a:solidFill>
            <a:ln w="28575">
              <a:solidFill>
                <a:srgbClr val="FFFFFF"/>
              </a:solidFill>
            </a:ln>
          </p:spPr>
        </p:sp>
        <p:sp>
          <p:nvSpPr>
            <p:cNvPr id="9" name="Freeform 9"/>
            <p:cNvSpPr/>
            <p:nvPr/>
          </p:nvSpPr>
          <p:spPr>
            <a:xfrm>
              <a:off x="5141595" y="2247900"/>
              <a:ext cx="1790700" cy="800100"/>
            </a:xfrm>
            <a:prstGeom prst="chevron">
              <a:avLst>
                <a:gd name="adj" fmla="val 35000"/>
              </a:avLst>
            </a:prstGeom>
            <a:solidFill>
              <a:schemeClr val="accent1"/>
            </a:solidFill>
            <a:ln w="28575">
              <a:solidFill>
                <a:srgbClr val="FFFFFF"/>
              </a:solidFill>
            </a:ln>
          </p:spPr>
        </p:sp>
        <p:sp>
          <p:nvSpPr>
            <p:cNvPr id="10" name="Freeform 10"/>
            <p:cNvSpPr/>
            <p:nvPr/>
          </p:nvSpPr>
          <p:spPr>
            <a:xfrm>
              <a:off x="6652260" y="2247900"/>
              <a:ext cx="1790700" cy="800100"/>
            </a:xfrm>
            <a:prstGeom prst="chevron">
              <a:avLst>
                <a:gd name="adj" fmla="val 35000"/>
              </a:avLst>
            </a:prstGeom>
            <a:solidFill>
              <a:schemeClr val="accent1"/>
            </a:solidFill>
            <a:ln w="28575">
              <a:solidFill>
                <a:srgbClr val="FFFFFF"/>
              </a:solidFill>
            </a:ln>
          </p:spPr>
        </p:sp>
        <p:sp>
          <p:nvSpPr>
            <p:cNvPr id="11" name="Freeform 11"/>
            <p:cNvSpPr/>
            <p:nvPr/>
          </p:nvSpPr>
          <p:spPr>
            <a:xfrm>
              <a:off x="8162925" y="2247900"/>
              <a:ext cx="1790700" cy="800100"/>
            </a:xfrm>
            <a:prstGeom prst="chevron">
              <a:avLst>
                <a:gd name="adj" fmla="val 35000"/>
              </a:avLst>
            </a:prstGeom>
            <a:solidFill>
              <a:schemeClr val="accent2"/>
            </a:solidFill>
            <a:ln w="28575">
              <a:solidFill>
                <a:srgbClr val="FFFFFF"/>
              </a:solidFill>
            </a:ln>
          </p:spPr>
        </p:sp>
        <p:sp>
          <p:nvSpPr>
            <p:cNvPr id="12" name="Freeform 12"/>
            <p:cNvSpPr/>
            <p:nvPr/>
          </p:nvSpPr>
          <p:spPr>
            <a:xfrm>
              <a:off x="9673590" y="2247900"/>
              <a:ext cx="1790700" cy="800100"/>
            </a:xfrm>
            <a:prstGeom prst="chevron">
              <a:avLst>
                <a:gd name="adj" fmla="val 35000"/>
              </a:avLst>
            </a:prstGeom>
            <a:solidFill>
              <a:schemeClr val="accent1"/>
            </a:solidFill>
            <a:ln w="28575">
              <a:solidFill>
                <a:srgbClr val="FFFFFF"/>
              </a:solidFill>
            </a:ln>
          </p:spPr>
        </p:sp>
        <p:grpSp>
          <p:nvGrpSpPr>
            <p:cNvPr id="20" name="Group 20"/>
            <p:cNvGrpSpPr/>
            <p:nvPr/>
          </p:nvGrpSpPr>
          <p:grpSpPr>
            <a:xfrm>
              <a:off x="1272788" y="2489200"/>
              <a:ext cx="9385440" cy="410718"/>
              <a:chOff x="1272788" y="2489200"/>
              <a:chExt cx="9385440" cy="410718"/>
            </a:xfrm>
          </p:grpSpPr>
          <p:sp>
            <p:nvSpPr>
              <p:cNvPr id="13" name="TextBox 13"/>
              <p:cNvSpPr txBox="1"/>
              <p:nvPr/>
            </p:nvSpPr>
            <p:spPr>
              <a:xfrm>
                <a:off x="127278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1</a:t>
                </a:r>
              </a:p>
            </p:txBody>
          </p:sp>
          <p:sp>
            <p:nvSpPr>
              <p:cNvPr id="14" name="TextBox 14"/>
              <p:cNvSpPr txBox="1"/>
              <p:nvPr/>
            </p:nvSpPr>
            <p:spPr>
              <a:xfrm>
                <a:off x="292632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2</a:t>
                </a:r>
              </a:p>
            </p:txBody>
          </p:sp>
          <p:sp>
            <p:nvSpPr>
              <p:cNvPr id="15" name="TextBox 15"/>
              <p:cNvSpPr txBox="1"/>
              <p:nvPr/>
            </p:nvSpPr>
            <p:spPr>
              <a:xfrm>
                <a:off x="4436993"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3</a:t>
                </a:r>
              </a:p>
            </p:txBody>
          </p:sp>
          <p:sp>
            <p:nvSpPr>
              <p:cNvPr id="16" name="TextBox 16"/>
              <p:cNvSpPr txBox="1"/>
              <p:nvPr/>
            </p:nvSpPr>
            <p:spPr>
              <a:xfrm>
                <a:off x="594765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4</a:t>
                </a:r>
              </a:p>
            </p:txBody>
          </p:sp>
          <p:sp>
            <p:nvSpPr>
              <p:cNvPr id="17" name="TextBox 17"/>
              <p:cNvSpPr txBox="1"/>
              <p:nvPr/>
            </p:nvSpPr>
            <p:spPr>
              <a:xfrm>
                <a:off x="7458323"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5</a:t>
                </a:r>
              </a:p>
            </p:txBody>
          </p:sp>
          <p:sp>
            <p:nvSpPr>
              <p:cNvPr id="18" name="TextBox 18"/>
              <p:cNvSpPr txBox="1"/>
              <p:nvPr/>
            </p:nvSpPr>
            <p:spPr>
              <a:xfrm>
                <a:off x="8968988"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6</a:t>
                </a:r>
              </a:p>
            </p:txBody>
          </p:sp>
          <p:sp>
            <p:nvSpPr>
              <p:cNvPr id="19" name="TextBox 19"/>
              <p:cNvSpPr txBox="1"/>
              <p:nvPr/>
            </p:nvSpPr>
            <p:spPr>
              <a:xfrm>
                <a:off x="10479653" y="2489200"/>
                <a:ext cx="178575" cy="410718"/>
              </a:xfrm>
              <a:prstGeom prst="rect">
                <a:avLst/>
              </a:prstGeom>
              <a:noFill/>
              <a:ln>
                <a:noFill/>
              </a:ln>
            </p:spPr>
            <p:txBody>
              <a:bodyPr wrap="none" lIns="0" tIns="0" rIns="0" bIns="0" anchor="t" anchorCtr="0">
                <a:spAutoFit/>
              </a:bodyPr>
              <a:lstStyle/>
              <a:p>
                <a:pPr algn="ctr"/>
                <a:r>
                  <a:rPr lang="es-419" sz="2100" b="1" dirty="0">
                    <a:solidFill>
                      <a:srgbClr val="FFFFFF"/>
                    </a:solidFill>
                    <a:latin typeface="+mn-lt"/>
                    <a:ea typeface="+mn-ea"/>
                    <a:cs typeface="+mn-cs"/>
                  </a:rPr>
                  <a:t>7</a:t>
                </a:r>
              </a:p>
            </p:txBody>
          </p:sp>
        </p:grpSp>
        <p:grpSp>
          <p:nvGrpSpPr>
            <p:cNvPr id="28" name="Group 28"/>
            <p:cNvGrpSpPr/>
            <p:nvPr/>
          </p:nvGrpSpPr>
          <p:grpSpPr>
            <a:xfrm>
              <a:off x="955396" y="3206750"/>
              <a:ext cx="9870291" cy="264033"/>
              <a:chOff x="955396" y="3206750"/>
              <a:chExt cx="9870291" cy="264033"/>
            </a:xfrm>
          </p:grpSpPr>
          <p:sp>
            <p:nvSpPr>
              <p:cNvPr id="21" name="TextBox 21"/>
              <p:cNvSpPr txBox="1"/>
              <p:nvPr/>
            </p:nvSpPr>
            <p:spPr>
              <a:xfrm>
                <a:off x="955396" y="3206750"/>
                <a:ext cx="813359"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download</a:t>
                </a:r>
              </a:p>
            </p:txBody>
          </p:sp>
          <p:sp>
            <p:nvSpPr>
              <p:cNvPr id="22" name="TextBox 22"/>
              <p:cNvSpPr txBox="1"/>
              <p:nvPr/>
            </p:nvSpPr>
            <p:spPr>
              <a:xfrm>
                <a:off x="2508980" y="3206750"/>
                <a:ext cx="1013270"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preprocess</a:t>
                </a:r>
              </a:p>
            </p:txBody>
          </p:sp>
          <p:sp>
            <p:nvSpPr>
              <p:cNvPr id="23" name="TextBox 23"/>
              <p:cNvSpPr txBox="1"/>
              <p:nvPr/>
            </p:nvSpPr>
            <p:spPr>
              <a:xfrm>
                <a:off x="4069623" y="3206750"/>
                <a:ext cx="913314"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segregate</a:t>
                </a:r>
              </a:p>
            </p:txBody>
          </p:sp>
          <p:sp>
            <p:nvSpPr>
              <p:cNvPr id="24" name="TextBox 24"/>
              <p:cNvSpPr txBox="1"/>
              <p:nvPr/>
            </p:nvSpPr>
            <p:spPr>
              <a:xfrm>
                <a:off x="5530310" y="3206750"/>
                <a:ext cx="1013270"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check_data</a:t>
                </a:r>
              </a:p>
            </p:txBody>
          </p:sp>
          <p:sp>
            <p:nvSpPr>
              <p:cNvPr id="25" name="TextBox 25"/>
              <p:cNvSpPr txBox="1"/>
              <p:nvPr/>
            </p:nvSpPr>
            <p:spPr>
              <a:xfrm>
                <a:off x="6891042" y="3206750"/>
                <a:ext cx="1313136"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random_forest</a:t>
                </a:r>
              </a:p>
            </p:txBody>
          </p:sp>
          <p:sp>
            <p:nvSpPr>
              <p:cNvPr id="26" name="TextBox 26"/>
              <p:cNvSpPr txBox="1"/>
              <p:nvPr/>
            </p:nvSpPr>
            <p:spPr>
              <a:xfrm>
                <a:off x="8651596" y="3206750"/>
                <a:ext cx="813359" cy="264033"/>
              </a:xfrm>
              <a:prstGeom prst="rect">
                <a:avLst/>
              </a:prstGeom>
              <a:noFill/>
              <a:ln>
                <a:noFill/>
              </a:ln>
            </p:spPr>
            <p:txBody>
              <a:bodyPr wrap="none" lIns="0" tIns="0" rIns="0" bIns="0" anchor="t" anchorCtr="0">
                <a:spAutoFit/>
              </a:bodyPr>
              <a:lstStyle/>
              <a:p>
                <a:pPr algn="ctr"/>
                <a:r>
                  <a:rPr lang="es-419" sz="1350" b="1" dirty="0">
                    <a:solidFill>
                      <a:schemeClr val="accent2"/>
                    </a:solidFill>
                    <a:latin typeface="Consolas"/>
                    <a:ea typeface="Consolas"/>
                    <a:cs typeface="Consolas"/>
                  </a:rPr>
                  <a:t>evaluate</a:t>
                </a:r>
              </a:p>
            </p:txBody>
          </p:sp>
          <p:sp>
            <p:nvSpPr>
              <p:cNvPr id="27" name="TextBox 27"/>
              <p:cNvSpPr txBox="1"/>
              <p:nvPr/>
            </p:nvSpPr>
            <p:spPr>
              <a:xfrm>
                <a:off x="10312194" y="3206750"/>
                <a:ext cx="513493" cy="264033"/>
              </a:xfrm>
              <a:prstGeom prst="rect">
                <a:avLst/>
              </a:prstGeom>
              <a:noFill/>
              <a:ln>
                <a:noFill/>
              </a:ln>
            </p:spPr>
            <p:txBody>
              <a:bodyPr wrap="none" lIns="0" tIns="0" rIns="0" bIns="0" anchor="t" anchorCtr="0">
                <a:spAutoFit/>
              </a:bodyPr>
              <a:lstStyle/>
              <a:p>
                <a:pPr algn="ctr"/>
                <a:r>
                  <a:rPr lang="es-419" sz="1350" b="1" dirty="0">
                    <a:solidFill>
                      <a:schemeClr val="accent1"/>
                    </a:solidFill>
                    <a:latin typeface="Consolas"/>
                    <a:ea typeface="Consolas"/>
                    <a:cs typeface="Consolas"/>
                  </a:rPr>
                  <a:t>drift</a:t>
                </a:r>
              </a:p>
            </p:txBody>
          </p:sp>
        </p:grpSp>
        <p:grpSp>
          <p:nvGrpSpPr>
            <p:cNvPr id="36" name="Group 36"/>
            <p:cNvGrpSpPr/>
            <p:nvPr/>
          </p:nvGrpSpPr>
          <p:grpSpPr>
            <a:xfrm>
              <a:off x="809564" y="3454400"/>
              <a:ext cx="10074677" cy="444246"/>
              <a:chOff x="809564" y="3454400"/>
              <a:chExt cx="10074677" cy="444246"/>
            </a:xfrm>
          </p:grpSpPr>
          <p:sp>
            <p:nvSpPr>
              <p:cNvPr id="29" name="TextBox 29"/>
              <p:cNvSpPr txBox="1"/>
              <p:nvPr/>
            </p:nvSpPr>
            <p:spPr>
              <a:xfrm>
                <a:off x="809564" y="3454400"/>
                <a:ext cx="1105022"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valida columnas</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cargar_datos()</a:t>
                </a:r>
              </a:p>
            </p:txBody>
          </p:sp>
          <p:sp>
            <p:nvSpPr>
              <p:cNvPr id="30" name="TextBox 30"/>
              <p:cNvSpPr txBox="1"/>
              <p:nvPr/>
            </p:nvSpPr>
            <p:spPr>
              <a:xfrm>
                <a:off x="2467234" y="3454400"/>
                <a:ext cx="1096762"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imputa IMC</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crea *_Encoded</a:t>
                </a:r>
              </a:p>
            </p:txBody>
          </p:sp>
          <p:sp>
            <p:nvSpPr>
              <p:cNvPr id="31" name="TextBox 31"/>
              <p:cNvSpPr txBox="1"/>
              <p:nvPr/>
            </p:nvSpPr>
            <p:spPr>
              <a:xfrm>
                <a:off x="4109329" y="3454400"/>
                <a:ext cx="833902"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split 80/20</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estratificado</a:t>
                </a:r>
              </a:p>
            </p:txBody>
          </p:sp>
          <p:sp>
            <p:nvSpPr>
              <p:cNvPr id="32" name="TextBox 32"/>
              <p:cNvSpPr txBox="1"/>
              <p:nvPr/>
            </p:nvSpPr>
            <p:spPr>
              <a:xfrm>
                <a:off x="5738500" y="3454400"/>
                <a:ext cx="596890"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11 tests</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de datos</a:t>
                </a:r>
              </a:p>
            </p:txBody>
          </p:sp>
          <p:sp>
            <p:nvSpPr>
              <p:cNvPr id="33" name="TextBox 33"/>
              <p:cNvSpPr txBox="1"/>
              <p:nvPr/>
            </p:nvSpPr>
            <p:spPr>
              <a:xfrm>
                <a:off x="6971858" y="3454400"/>
                <a:ext cx="1151504"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Grid y Random</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Search + MLflow</a:t>
                </a:r>
              </a:p>
            </p:txBody>
          </p:sp>
          <p:sp>
            <p:nvSpPr>
              <p:cNvPr id="34" name="TextBox 34"/>
              <p:cNvSpPr txBox="1"/>
              <p:nvPr/>
            </p:nvSpPr>
            <p:spPr>
              <a:xfrm>
                <a:off x="8484840" y="3454400"/>
                <a:ext cx="1146871" cy="444246"/>
              </a:xfrm>
              <a:prstGeom prst="rect">
                <a:avLst/>
              </a:prstGeom>
              <a:noFill/>
              <a:ln>
                <a:noFill/>
              </a:ln>
            </p:spPr>
            <p:txBody>
              <a:bodyPr wrap="none" lIns="0" tIns="0" rIns="0" bIns="0" anchor="t" anchorCtr="0">
                <a:spAutoFit/>
              </a:bodyPr>
              <a:lstStyle/>
              <a:p>
                <a:pPr algn="ctr">
                  <a:lnSpc>
                    <a:spcPts val="1650"/>
                  </a:lnSpc>
                </a:pPr>
                <a:r>
                  <a:rPr lang="es-419" sz="1200" b="1" dirty="0">
                    <a:solidFill>
                      <a:schemeClr val="dk1"/>
                    </a:solidFill>
                    <a:latin typeface="+mn-lt"/>
                    <a:ea typeface="+mn-ea"/>
                    <a:cs typeface="+mn-cs"/>
                  </a:rPr>
                  <a:t>quality gate</a:t>
                </a:r>
                <a:br>
                  <a:rPr lang="es-419" sz="1200" b="1" dirty="0">
                    <a:solidFill>
                      <a:schemeClr val="dk1"/>
                    </a:solidFill>
                    <a:latin typeface="+mn-lt"/>
                    <a:ea typeface="+mn-ea"/>
                    <a:cs typeface="+mn-cs"/>
                  </a:rPr>
                </a:br>
                <a:r>
                  <a:rPr lang="es-419" sz="1200" dirty="0">
                    <a:solidFill>
                      <a:schemeClr val="accent5"/>
                    </a:solidFill>
                    <a:latin typeface="+mn-lt"/>
                    <a:ea typeface="+mn-ea"/>
                    <a:cs typeface="+mn-cs"/>
                  </a:rPr>
                  <a:t>AUC · recall · F1</a:t>
                </a:r>
              </a:p>
            </p:txBody>
          </p:sp>
          <p:sp>
            <p:nvSpPr>
              <p:cNvPr id="35" name="TextBox 35"/>
              <p:cNvSpPr txBox="1"/>
              <p:nvPr/>
            </p:nvSpPr>
            <p:spPr>
              <a:xfrm>
                <a:off x="10253640" y="3454400"/>
                <a:ext cx="630601" cy="444246"/>
              </a:xfrm>
              <a:prstGeom prst="rect">
                <a:avLst/>
              </a:prstGeom>
              <a:noFill/>
              <a:ln>
                <a:noFill/>
              </a:ln>
            </p:spPr>
            <p:txBody>
              <a:bodyPr wrap="none" lIns="0" tIns="0" rIns="0" bIns="0" anchor="t" anchorCtr="0">
                <a:spAutoFit/>
              </a:bodyPr>
              <a:lstStyle/>
              <a:p>
                <a:pPr algn="ctr">
                  <a:lnSpc>
                    <a:spcPts val="1650"/>
                  </a:lnSpc>
                </a:pPr>
                <a:r>
                  <a:rPr lang="es-419" sz="1200" dirty="0">
                    <a:solidFill>
                      <a:schemeClr val="accent5"/>
                    </a:solidFill>
                    <a:latin typeface="+mn-lt"/>
                    <a:ea typeface="+mn-ea"/>
                    <a:cs typeface="+mn-cs"/>
                  </a:rPr>
                  <a:t>Evidently</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 PSI</a:t>
                </a:r>
              </a:p>
            </p:txBody>
          </p:sp>
        </p:grpSp>
        <p:sp>
          <p:nvSpPr>
            <p:cNvPr id="37" name="TextBox 37"/>
            <p:cNvSpPr txBox="1"/>
            <p:nvPr/>
          </p:nvSpPr>
          <p:spPr>
            <a:xfrm>
              <a:off x="603504" y="4095750"/>
              <a:ext cx="793838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La etapa 6 es el quality gate: si el modelo no cumple los umbrales, main.py se detiene y no se despliega nada.</a:t>
              </a:r>
            </a:p>
          </p:txBody>
        </p:sp>
      </p:grpSp>
      <p:grpSp>
        <p:nvGrpSpPr>
          <p:cNvPr id="51" name="despliegue"/>
          <p:cNvGrpSpPr/>
          <p:nvPr/>
        </p:nvGrpSpPr>
        <p:grpSpPr>
          <a:xfrm>
            <a:off x="603885" y="4489450"/>
            <a:ext cx="10978515" cy="882650"/>
            <a:chOff x="603885" y="4489450"/>
            <a:chExt cx="10978515" cy="882650"/>
          </a:xfrm>
        </p:grpSpPr>
        <p:sp>
          <p:nvSpPr>
            <p:cNvPr id="39" name="TextBox 39"/>
            <p:cNvSpPr txBox="1"/>
            <p:nvPr/>
          </p:nvSpPr>
          <p:spPr>
            <a:xfrm>
              <a:off x="603885" y="4489450"/>
              <a:ext cx="3472828"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DESPUÉS DEL PIPELINE · UNIDADES 5, 7 Y 8</a:t>
              </a:r>
            </a:p>
          </p:txBody>
        </p:sp>
        <p:sp>
          <p:nvSpPr>
            <p:cNvPr id="40" name="Rectangle 40"/>
            <p:cNvSpPr/>
            <p:nvPr/>
          </p:nvSpPr>
          <p:spPr>
            <a:xfrm>
              <a:off x="609600" y="4762500"/>
              <a:ext cx="3238500" cy="609600"/>
            </a:xfrm>
            <a:prstGeom prst="rect">
              <a:avLst/>
            </a:prstGeom>
            <a:solidFill>
              <a:schemeClr val="lt2"/>
            </a:solidFill>
            <a:ln>
              <a:noFill/>
            </a:ln>
          </p:spPr>
        </p:sp>
        <p:sp>
          <p:nvSpPr>
            <p:cNvPr id="41" name="TextBox 41"/>
            <p:cNvSpPr txBox="1"/>
            <p:nvPr/>
          </p:nvSpPr>
          <p:spPr>
            <a:xfrm>
              <a:off x="793242" y="4845050"/>
              <a:ext cx="413537"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api/</a:t>
              </a:r>
            </a:p>
          </p:txBody>
        </p:sp>
        <p:sp>
          <p:nvSpPr>
            <p:cNvPr id="42" name="TextBox 42"/>
            <p:cNvSpPr txBox="1"/>
            <p:nvPr/>
          </p:nvSpPr>
          <p:spPr>
            <a:xfrm>
              <a:off x="794004" y="5086350"/>
              <a:ext cx="188716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FastAPI · POST /predecir</a:t>
              </a:r>
            </a:p>
          </p:txBody>
        </p:sp>
        <p:sp>
          <p:nvSpPr>
            <p:cNvPr id="43" name="Line 43"/>
            <p:cNvSpPr/>
            <p:nvPr/>
          </p:nvSpPr>
          <p:spPr>
            <a:xfrm>
              <a:off x="3848100" y="5067300"/>
              <a:ext cx="552450" cy="1"/>
            </a:xfrm>
            <a:prstGeom prst="line">
              <a:avLst/>
            </a:prstGeom>
            <a:noFill/>
            <a:ln w="19050">
              <a:solidFill>
                <a:srgbClr val="5B6470"/>
              </a:solidFill>
              <a:tailEnd type="triangle" w="lg" len="lg"/>
            </a:ln>
          </p:spPr>
        </p:sp>
        <p:sp>
          <p:nvSpPr>
            <p:cNvPr id="44" name="Rectangle 44"/>
            <p:cNvSpPr/>
            <p:nvPr/>
          </p:nvSpPr>
          <p:spPr>
            <a:xfrm>
              <a:off x="4419600" y="4762500"/>
              <a:ext cx="3238500" cy="609600"/>
            </a:xfrm>
            <a:prstGeom prst="rect">
              <a:avLst/>
            </a:prstGeom>
            <a:solidFill>
              <a:schemeClr val="lt2"/>
            </a:solidFill>
            <a:ln>
              <a:noFill/>
            </a:ln>
          </p:spPr>
        </p:sp>
        <p:sp>
          <p:nvSpPr>
            <p:cNvPr id="45" name="TextBox 45"/>
            <p:cNvSpPr txBox="1"/>
            <p:nvPr/>
          </p:nvSpPr>
          <p:spPr>
            <a:xfrm>
              <a:off x="4603242" y="4845050"/>
              <a:ext cx="1018927"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Dockerfile</a:t>
              </a:r>
            </a:p>
          </p:txBody>
        </p:sp>
        <p:sp>
          <p:nvSpPr>
            <p:cNvPr id="46" name="TextBox 46"/>
            <p:cNvSpPr txBox="1"/>
            <p:nvPr/>
          </p:nvSpPr>
          <p:spPr>
            <a:xfrm>
              <a:off x="4604004" y="5086350"/>
              <a:ext cx="2490835"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imagen python:3.11-slim de la API</a:t>
              </a:r>
            </a:p>
          </p:txBody>
        </p:sp>
        <p:sp>
          <p:nvSpPr>
            <p:cNvPr id="47" name="Line 47"/>
            <p:cNvSpPr/>
            <p:nvPr/>
          </p:nvSpPr>
          <p:spPr>
            <a:xfrm>
              <a:off x="7658100" y="5067300"/>
              <a:ext cx="552450" cy="1"/>
            </a:xfrm>
            <a:prstGeom prst="line">
              <a:avLst/>
            </a:prstGeom>
            <a:noFill/>
            <a:ln w="19050">
              <a:solidFill>
                <a:srgbClr val="5B6470"/>
              </a:solidFill>
              <a:tailEnd type="triangle" w="lg" len="lg"/>
            </a:ln>
          </p:spPr>
        </p:sp>
        <p:sp>
          <p:nvSpPr>
            <p:cNvPr id="48" name="Rectangle 48"/>
            <p:cNvSpPr/>
            <p:nvPr/>
          </p:nvSpPr>
          <p:spPr>
            <a:xfrm>
              <a:off x="8229600" y="4762500"/>
              <a:ext cx="3352800" cy="609600"/>
            </a:xfrm>
            <a:prstGeom prst="rect">
              <a:avLst/>
            </a:prstGeom>
            <a:solidFill>
              <a:schemeClr val="lt2"/>
            </a:solidFill>
            <a:ln>
              <a:noFill/>
            </a:ln>
          </p:spPr>
        </p:sp>
        <p:sp>
          <p:nvSpPr>
            <p:cNvPr id="49" name="TextBox 49"/>
            <p:cNvSpPr txBox="1"/>
            <p:nvPr/>
          </p:nvSpPr>
          <p:spPr>
            <a:xfrm>
              <a:off x="8413242" y="4845050"/>
              <a:ext cx="1812912"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.github/workflows/</a:t>
              </a:r>
            </a:p>
          </p:txBody>
        </p:sp>
        <p:sp>
          <p:nvSpPr>
            <p:cNvPr id="50" name="TextBox 50"/>
            <p:cNvSpPr txBox="1"/>
            <p:nvPr/>
          </p:nvSpPr>
          <p:spPr>
            <a:xfrm>
              <a:off x="8414004" y="5086350"/>
              <a:ext cx="2316114"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CI/CD: lint → pipeline → docker</a:t>
              </a:r>
            </a:p>
          </p:txBody>
        </p:sp>
      </p:grpSp>
      <p:grpSp>
        <p:nvGrpSpPr>
          <p:cNvPr id="54" name="comando"/>
          <p:cNvGrpSpPr/>
          <p:nvPr/>
        </p:nvGrpSpPr>
        <p:grpSpPr>
          <a:xfrm>
            <a:off x="609600" y="5524500"/>
            <a:ext cx="10972800" cy="704850"/>
            <a:chOff x="609600" y="5524500"/>
            <a:chExt cx="10972800" cy="704850"/>
          </a:xfrm>
        </p:grpSpPr>
        <p:sp>
          <p:nvSpPr>
            <p:cNvPr id="52" name="Rectangle 52"/>
            <p:cNvSpPr/>
            <p:nvPr/>
          </p:nvSpPr>
          <p:spPr>
            <a:xfrm>
              <a:off x="609600" y="5524500"/>
              <a:ext cx="10972800" cy="704850"/>
            </a:xfrm>
            <a:prstGeom prst="rect">
              <a:avLst/>
            </a:prstGeom>
            <a:solidFill>
              <a:schemeClr val="accent1"/>
            </a:solidFill>
            <a:ln>
              <a:noFill/>
            </a:ln>
          </p:spPr>
        </p:sp>
        <p:sp>
          <p:nvSpPr>
            <p:cNvPr id="53" name="TextBox 53"/>
            <p:cNvSpPr txBox="1"/>
            <p:nvPr/>
          </p:nvSpPr>
          <p:spPr>
            <a:xfrm>
              <a:off x="831342" y="5600700"/>
              <a:ext cx="8217598" cy="511683"/>
            </a:xfrm>
            <a:prstGeom prst="rect">
              <a:avLst/>
            </a:prstGeom>
            <a:noFill/>
            <a:ln>
              <a:noFill/>
            </a:ln>
          </p:spPr>
          <p:txBody>
            <a:bodyPr wrap="none" lIns="0" tIns="0" rIns="0" bIns="0" anchor="t" anchorCtr="0">
              <a:spAutoFit/>
            </a:bodyPr>
            <a:lstStyle/>
            <a:p>
              <a:pPr algn="l">
                <a:lnSpc>
                  <a:spcPts val="1950"/>
                </a:lnSpc>
              </a:pPr>
              <a:r>
                <a:rPr lang="es-419" sz="1350" dirty="0">
                  <a:solidFill>
                    <a:srgbClr val="FFFFFF"/>
                  </a:solidFill>
                  <a:latin typeface="Consolas"/>
                  <a:ea typeface="Consolas"/>
                  <a:cs typeface="Consolas"/>
                </a:rPr>
                <a:t xml:space="preserve">$ python main.py          </a:t>
              </a:r>
              <a:r>
                <a:rPr lang="es-419" sz="1350" dirty="0">
                  <a:solidFill>
                    <a:srgbClr val="9FB2C8"/>
                  </a:solidFill>
                  <a:latin typeface="Consolas"/>
                  <a:ea typeface="Consolas"/>
                  <a:cs typeface="Consolas"/>
                </a:rPr>
                <a:t># las 7 etapas en ~1-2 minutos, con log y resumen de métricas</a:t>
              </a:r>
              <a:br>
                <a:rPr lang="es-419" sz="1350" dirty="0">
                  <a:solidFill>
                    <a:srgbClr val="9FB2C8"/>
                  </a:solidFill>
                  <a:latin typeface="Consolas"/>
                  <a:ea typeface="Consolas"/>
                  <a:cs typeface="Consolas"/>
                </a:rPr>
              </a:br>
              <a:r>
                <a:rPr lang="es-419" sz="1350" dirty="0">
                  <a:solidFill>
                    <a:srgbClr val="FFFFFF"/>
                  </a:solidFill>
                  <a:latin typeface="Consolas"/>
                  <a:ea typeface="Consolas"/>
                  <a:cs typeface="Consolas"/>
                </a:rPr>
                <a:t>$ python main.py --demo</a:t>
              </a:r>
              <a:r>
                <a:rPr lang="es-419" sz="1350" dirty="0">
                  <a:solidFill>
                    <a:srgbClr val="9FB2C8"/>
                  </a:solidFill>
                  <a:latin typeface="Consolas"/>
                  <a:ea typeface="Consolas"/>
                  <a:cs typeface="Consolas"/>
                </a:rPr>
                <a:t xml:space="preserve">   # + drift simulado, Docker, MLflow UI y API arriba</a:t>
              </a:r>
            </a:p>
          </p:txBody>
        </p:sp>
      </p:grpSp>
      <p:grpSp>
        <p:nvGrpSpPr>
          <p:cNvPr id="57" name="footer"/>
          <p:cNvGrpSpPr/>
          <p:nvPr/>
        </p:nvGrpSpPr>
        <p:grpSpPr>
          <a:xfrm>
            <a:off x="603504" y="6381750"/>
            <a:ext cx="10984992" cy="234696"/>
            <a:chOff x="603504" y="6381750"/>
            <a:chExt cx="10984992" cy="234696"/>
          </a:xfrm>
        </p:grpSpPr>
        <p:sp>
          <p:nvSpPr>
            <p:cNvPr id="55" name="TextBox 55"/>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56" name="TextBox 56"/>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05 / 10</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994583"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05 · QUALITY GATE · UNIDADES 4 Y 10</a:t>
              </a:r>
            </a:p>
          </p:txBody>
        </p:sp>
        <p:sp>
          <p:nvSpPr>
            <p:cNvPr id="3" name="TextBox 3"/>
            <p:cNvSpPr txBox="1"/>
            <p:nvPr/>
          </p:nvSpPr>
          <p:spPr>
            <a:xfrm>
              <a:off x="594360" y="850900"/>
              <a:ext cx="9580245"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El quality gate exige recall y AUC, no F1 ni accuracy,</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porque solo el 1,8% de los asegurados tiene infarto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7" name="reporte-evaluacion"/>
          <p:cNvGrpSpPr/>
          <p:nvPr/>
        </p:nvGrpSpPr>
        <p:grpSpPr>
          <a:xfrm>
            <a:off x="609600" y="2133600"/>
            <a:ext cx="7239000" cy="3181350"/>
            <a:chOff x="609600" y="2133600"/>
            <a:chExt cx="7239000" cy="3181350"/>
          </a:xfrm>
        </p:grpSpPr>
        <p:pic>
          <p:nvPicPr>
            <p:cNvPr id="6" name="Image 6"/>
            <p:cNvPicPr>
              <a:picLocks noChangeAspect="1"/>
            </p:cNvPicPr>
            <p:nvPr/>
          </p:nvPicPr>
          <p:blipFill>
            <a:blip r:embed="rId2"/>
            <a:stretch>
              <a:fillRect/>
            </a:stretch>
          </p:blipFill>
          <p:spPr>
            <a:xfrm>
              <a:off x="609600" y="2133600"/>
              <a:ext cx="7239000" cy="3181350"/>
            </a:xfrm>
            <a:prstGeom prst="rect">
              <a:avLst/>
            </a:prstGeom>
          </p:spPr>
        </p:pic>
      </p:grpSp>
      <p:grpSp>
        <p:nvGrpSpPr>
          <p:cNvPr id="22" name="veredicto-gate"/>
          <p:cNvGrpSpPr/>
          <p:nvPr/>
        </p:nvGrpSpPr>
        <p:grpSpPr>
          <a:xfrm>
            <a:off x="8142732" y="2184400"/>
            <a:ext cx="3439668" cy="2940050"/>
            <a:chOff x="8142732" y="2184400"/>
            <a:chExt cx="3439668" cy="2940050"/>
          </a:xfrm>
        </p:grpSpPr>
        <p:sp>
          <p:nvSpPr>
            <p:cNvPr id="8" name="TextBox 8"/>
            <p:cNvSpPr txBox="1"/>
            <p:nvPr/>
          </p:nvSpPr>
          <p:spPr>
            <a:xfrm>
              <a:off x="8147685" y="2184400"/>
              <a:ext cx="1657791"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VEREDICTO EN TEST</a:t>
              </a:r>
            </a:p>
          </p:txBody>
        </p:sp>
        <p:sp>
          <p:nvSpPr>
            <p:cNvPr id="9" name="TextBox 9"/>
            <p:cNvSpPr txBox="1"/>
            <p:nvPr/>
          </p:nvSpPr>
          <p:spPr>
            <a:xfrm>
              <a:off x="8147304" y="2533650"/>
              <a:ext cx="37258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AUC</a:t>
              </a:r>
            </a:p>
          </p:txBody>
        </p:sp>
        <p:sp>
          <p:nvSpPr>
            <p:cNvPr id="10" name="TextBox 10"/>
            <p:cNvSpPr txBox="1"/>
            <p:nvPr/>
          </p:nvSpPr>
          <p:spPr>
            <a:xfrm>
              <a:off x="8142732" y="2736850"/>
              <a:ext cx="159129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0,828 ≥ 0,80</a:t>
              </a:r>
            </a:p>
          </p:txBody>
        </p:sp>
        <p:sp>
          <p:nvSpPr>
            <p:cNvPr id="11" name="Freeform 11"/>
            <p:cNvSpPr/>
            <p:nvPr/>
          </p:nvSpPr>
          <p:spPr>
            <a:xfrm>
              <a:off x="11289208" y="2837213"/>
              <a:ext cx="218228" cy="154873"/>
            </a:xfrm>
            <a:custGeom>
              <a:avLst/>
              <a:gdLst/>
              <a:ahLst/>
              <a:cxnLst/>
              <a:rect l="l" t="t" r="r" b="b"/>
              <a:pathLst>
                <a:path w="218228" h="154873">
                  <a:moveTo>
                    <a:pt x="213270" y="4958"/>
                  </a:moveTo>
                  <a:cubicBezTo>
                    <a:pt x="218228" y="9917"/>
                    <a:pt x="218228" y="17956"/>
                    <a:pt x="213270" y="22916"/>
                  </a:cubicBezTo>
                  <a:lnTo>
                    <a:pt x="86271" y="149915"/>
                  </a:lnTo>
                  <a:cubicBezTo>
                    <a:pt x="81311" y="154873"/>
                    <a:pt x="73272" y="154873"/>
                    <a:pt x="68313" y="149915"/>
                  </a:cubicBezTo>
                  <a:lnTo>
                    <a:pt x="4813" y="86415"/>
                  </a:lnTo>
                  <a:cubicBezTo>
                    <a:pt x="0" y="81432"/>
                    <a:pt x="69" y="73511"/>
                    <a:pt x="4968" y="68612"/>
                  </a:cubicBezTo>
                  <a:cubicBezTo>
                    <a:pt x="9866" y="63714"/>
                    <a:pt x="17787" y="63645"/>
                    <a:pt x="22771" y="68458"/>
                  </a:cubicBezTo>
                  <a:lnTo>
                    <a:pt x="77292" y="122979"/>
                  </a:lnTo>
                  <a:lnTo>
                    <a:pt x="195312" y="4958"/>
                  </a:lnTo>
                  <a:cubicBezTo>
                    <a:pt x="200272" y="0"/>
                    <a:pt x="208311" y="0"/>
                    <a:pt x="213270" y="4958"/>
                  </a:cubicBezTo>
                </a:path>
              </a:pathLst>
            </a:custGeom>
            <a:solidFill>
              <a:schemeClr val="accent3"/>
            </a:solidFill>
            <a:ln>
              <a:noFill/>
            </a:ln>
          </p:spPr>
        </p:sp>
        <p:sp>
          <p:nvSpPr>
            <p:cNvPr id="12" name="Line 12"/>
            <p:cNvSpPr/>
            <p:nvPr/>
          </p:nvSpPr>
          <p:spPr>
            <a:xfrm>
              <a:off x="8153400" y="3162300"/>
              <a:ext cx="3429000" cy="9525"/>
            </a:xfrm>
            <a:custGeom>
              <a:avLst/>
              <a:gdLst/>
              <a:ahLst/>
              <a:cxnLst/>
              <a:rect l="l" t="t" r="r" b="b"/>
              <a:pathLst>
                <a:path w="3429000" h="9525">
                  <a:moveTo>
                    <a:pt x="0" y="0"/>
                  </a:moveTo>
                  <a:lnTo>
                    <a:pt x="3429000" y="0"/>
                  </a:lnTo>
                </a:path>
              </a:pathLst>
            </a:custGeom>
            <a:noFill/>
            <a:ln w="9525">
              <a:solidFill>
                <a:schemeClr val="accent6"/>
              </a:solidFill>
            </a:ln>
          </p:spPr>
        </p:sp>
        <p:sp>
          <p:nvSpPr>
            <p:cNvPr id="13" name="TextBox 13"/>
            <p:cNvSpPr txBox="1"/>
            <p:nvPr/>
          </p:nvSpPr>
          <p:spPr>
            <a:xfrm>
              <a:off x="8147304" y="3238500"/>
              <a:ext cx="198327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Recall (infartos detectados)</a:t>
              </a:r>
            </a:p>
          </p:txBody>
        </p:sp>
        <p:sp>
          <p:nvSpPr>
            <p:cNvPr id="14" name="TextBox 14"/>
            <p:cNvSpPr txBox="1"/>
            <p:nvPr/>
          </p:nvSpPr>
          <p:spPr>
            <a:xfrm>
              <a:off x="8142732" y="3441700"/>
              <a:ext cx="159129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0,815 ≥ 0,70</a:t>
              </a:r>
            </a:p>
          </p:txBody>
        </p:sp>
        <p:sp>
          <p:nvSpPr>
            <p:cNvPr id="15" name="Freeform 15"/>
            <p:cNvSpPr/>
            <p:nvPr/>
          </p:nvSpPr>
          <p:spPr>
            <a:xfrm>
              <a:off x="11289208" y="3542063"/>
              <a:ext cx="218228" cy="154873"/>
            </a:xfrm>
            <a:custGeom>
              <a:avLst/>
              <a:gdLst/>
              <a:ahLst/>
              <a:cxnLst/>
              <a:rect l="l" t="t" r="r" b="b"/>
              <a:pathLst>
                <a:path w="218228" h="154873">
                  <a:moveTo>
                    <a:pt x="213270" y="4958"/>
                  </a:moveTo>
                  <a:cubicBezTo>
                    <a:pt x="218228" y="9917"/>
                    <a:pt x="218228" y="17956"/>
                    <a:pt x="213270" y="22916"/>
                  </a:cubicBezTo>
                  <a:lnTo>
                    <a:pt x="86271" y="149915"/>
                  </a:lnTo>
                  <a:cubicBezTo>
                    <a:pt x="81311" y="154873"/>
                    <a:pt x="73272" y="154873"/>
                    <a:pt x="68313" y="149915"/>
                  </a:cubicBezTo>
                  <a:lnTo>
                    <a:pt x="4813" y="86415"/>
                  </a:lnTo>
                  <a:cubicBezTo>
                    <a:pt x="0" y="81432"/>
                    <a:pt x="69" y="73511"/>
                    <a:pt x="4968" y="68612"/>
                  </a:cubicBezTo>
                  <a:cubicBezTo>
                    <a:pt x="9866" y="63714"/>
                    <a:pt x="17787" y="63645"/>
                    <a:pt x="22771" y="68458"/>
                  </a:cubicBezTo>
                  <a:lnTo>
                    <a:pt x="77292" y="122979"/>
                  </a:lnTo>
                  <a:lnTo>
                    <a:pt x="195312" y="4958"/>
                  </a:lnTo>
                  <a:cubicBezTo>
                    <a:pt x="200272" y="0"/>
                    <a:pt x="208311" y="0"/>
                    <a:pt x="213270" y="4958"/>
                  </a:cubicBezTo>
                </a:path>
              </a:pathLst>
            </a:custGeom>
            <a:solidFill>
              <a:schemeClr val="accent3"/>
            </a:solidFill>
            <a:ln>
              <a:noFill/>
            </a:ln>
          </p:spPr>
        </p:sp>
        <p:sp>
          <p:nvSpPr>
            <p:cNvPr id="16" name="Line 16"/>
            <p:cNvSpPr/>
            <p:nvPr/>
          </p:nvSpPr>
          <p:spPr>
            <a:xfrm>
              <a:off x="8153400" y="3867150"/>
              <a:ext cx="3429000" cy="9525"/>
            </a:xfrm>
            <a:custGeom>
              <a:avLst/>
              <a:gdLst/>
              <a:ahLst/>
              <a:cxnLst/>
              <a:rect l="l" t="t" r="r" b="b"/>
              <a:pathLst>
                <a:path w="3429000" h="9525">
                  <a:moveTo>
                    <a:pt x="0" y="0"/>
                  </a:moveTo>
                  <a:lnTo>
                    <a:pt x="3429000" y="0"/>
                  </a:lnTo>
                </a:path>
              </a:pathLst>
            </a:custGeom>
            <a:noFill/>
            <a:ln w="9525">
              <a:solidFill>
                <a:schemeClr val="accent6"/>
              </a:solidFill>
            </a:ln>
          </p:spPr>
        </p:sp>
        <p:sp>
          <p:nvSpPr>
            <p:cNvPr id="17" name="TextBox 17"/>
            <p:cNvSpPr txBox="1"/>
            <p:nvPr/>
          </p:nvSpPr>
          <p:spPr>
            <a:xfrm>
              <a:off x="8147304" y="3943350"/>
              <a:ext cx="143688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F1 (solo como piso)</a:t>
              </a:r>
            </a:p>
          </p:txBody>
        </p:sp>
        <p:sp>
          <p:nvSpPr>
            <p:cNvPr id="18" name="TextBox 18"/>
            <p:cNvSpPr txBox="1"/>
            <p:nvPr/>
          </p:nvSpPr>
          <p:spPr>
            <a:xfrm>
              <a:off x="8142732" y="4146550"/>
              <a:ext cx="1591293"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0,099 ≥ 0,05</a:t>
              </a:r>
            </a:p>
          </p:txBody>
        </p:sp>
        <p:sp>
          <p:nvSpPr>
            <p:cNvPr id="19" name="Freeform 19"/>
            <p:cNvSpPr/>
            <p:nvPr/>
          </p:nvSpPr>
          <p:spPr>
            <a:xfrm>
              <a:off x="11289208" y="4246913"/>
              <a:ext cx="218228" cy="154873"/>
            </a:xfrm>
            <a:custGeom>
              <a:avLst/>
              <a:gdLst/>
              <a:ahLst/>
              <a:cxnLst/>
              <a:rect l="l" t="t" r="r" b="b"/>
              <a:pathLst>
                <a:path w="218228" h="154873">
                  <a:moveTo>
                    <a:pt x="213270" y="4958"/>
                  </a:moveTo>
                  <a:cubicBezTo>
                    <a:pt x="218228" y="9917"/>
                    <a:pt x="218228" y="17956"/>
                    <a:pt x="213270" y="22916"/>
                  </a:cubicBezTo>
                  <a:lnTo>
                    <a:pt x="86271" y="149915"/>
                  </a:lnTo>
                  <a:cubicBezTo>
                    <a:pt x="81311" y="154873"/>
                    <a:pt x="73272" y="154873"/>
                    <a:pt x="68313" y="149915"/>
                  </a:cubicBezTo>
                  <a:lnTo>
                    <a:pt x="4813" y="86415"/>
                  </a:lnTo>
                  <a:cubicBezTo>
                    <a:pt x="0" y="81432"/>
                    <a:pt x="69" y="73511"/>
                    <a:pt x="4968" y="68612"/>
                  </a:cubicBezTo>
                  <a:cubicBezTo>
                    <a:pt x="9866" y="63714"/>
                    <a:pt x="17787" y="63645"/>
                    <a:pt x="22771" y="68458"/>
                  </a:cubicBezTo>
                  <a:lnTo>
                    <a:pt x="77292" y="122979"/>
                  </a:lnTo>
                  <a:lnTo>
                    <a:pt x="195312" y="4958"/>
                  </a:lnTo>
                  <a:cubicBezTo>
                    <a:pt x="200272" y="0"/>
                    <a:pt x="208311" y="0"/>
                    <a:pt x="213270" y="4958"/>
                  </a:cubicBezTo>
                </a:path>
              </a:pathLst>
            </a:custGeom>
            <a:solidFill>
              <a:schemeClr val="accent3"/>
            </a:solidFill>
            <a:ln>
              <a:noFill/>
            </a:ln>
          </p:spPr>
        </p:sp>
        <p:sp>
          <p:nvSpPr>
            <p:cNvPr id="20" name="Rectangle 20"/>
            <p:cNvSpPr/>
            <p:nvPr/>
          </p:nvSpPr>
          <p:spPr>
            <a:xfrm>
              <a:off x="8153400" y="4610100"/>
              <a:ext cx="3429000" cy="514350"/>
            </a:xfrm>
            <a:prstGeom prst="rect">
              <a:avLst/>
            </a:prstGeom>
            <a:solidFill>
              <a:schemeClr val="accent1"/>
            </a:solidFill>
            <a:ln>
              <a:noFill/>
            </a:ln>
          </p:spPr>
        </p:sp>
        <p:sp>
          <p:nvSpPr>
            <p:cNvPr id="21" name="TextBox 21"/>
            <p:cNvSpPr txBox="1"/>
            <p:nvPr/>
          </p:nvSpPr>
          <p:spPr>
            <a:xfrm>
              <a:off x="8412955" y="4730750"/>
              <a:ext cx="2909890" cy="322707"/>
            </a:xfrm>
            <a:prstGeom prst="rect">
              <a:avLst/>
            </a:prstGeom>
            <a:noFill/>
            <a:ln>
              <a:noFill/>
            </a:ln>
          </p:spPr>
          <p:txBody>
            <a:bodyPr wrap="none" lIns="0" tIns="0" rIns="0" bIns="0" anchor="t" anchorCtr="0">
              <a:spAutoFit/>
            </a:bodyPr>
            <a:lstStyle/>
            <a:p>
              <a:pPr algn="ctr"/>
              <a:r>
                <a:rPr lang="es-419" sz="1650" b="1" dirty="0">
                  <a:solidFill>
                    <a:srgbClr val="FFFFFF"/>
                  </a:solidFill>
                  <a:latin typeface="+mn-lt"/>
                  <a:ea typeface="+mn-ea"/>
                  <a:cs typeface="+mn-cs"/>
                </a:rPr>
                <a:t>APROBADO → Production</a:t>
              </a:r>
            </a:p>
          </p:txBody>
        </p:sp>
      </p:grpSp>
      <p:grpSp>
        <p:nvGrpSpPr>
          <p:cNvPr id="25" name="lecturas"/>
          <p:cNvGrpSpPr/>
          <p:nvPr/>
        </p:nvGrpSpPr>
        <p:grpSpPr>
          <a:xfrm>
            <a:off x="601218" y="5499100"/>
            <a:ext cx="9638831" cy="608457"/>
            <a:chOff x="601218" y="5499100"/>
            <a:chExt cx="9638831" cy="608457"/>
          </a:xfrm>
        </p:grpSpPr>
        <p:sp>
          <p:nvSpPr>
            <p:cNvPr id="23" name="TextBox 23"/>
            <p:cNvSpPr txBox="1"/>
            <p:nvPr/>
          </p:nvSpPr>
          <p:spPr>
            <a:xfrm>
              <a:off x="601218" y="5499100"/>
              <a:ext cx="3517422" cy="608457"/>
            </a:xfrm>
            <a:prstGeom prst="rect">
              <a:avLst/>
            </a:prstGeom>
            <a:noFill/>
            <a:ln>
              <a:noFill/>
            </a:ln>
          </p:spPr>
          <p:txBody>
            <a:bodyPr wrap="none" lIns="0" tIns="0" rIns="0" bIns="0" anchor="t" anchorCtr="0">
              <a:spAutoFit/>
            </a:bodyPr>
            <a:lstStyle/>
            <a:p>
              <a:pPr algn="l">
                <a:lnSpc>
                  <a:spcPts val="2250"/>
                </a:lnSpc>
              </a:pPr>
              <a:r>
                <a:rPr lang="es-419" sz="1650" b="1" dirty="0">
                  <a:solidFill>
                    <a:schemeClr val="accent1"/>
                  </a:solidFill>
                  <a:latin typeface="+mn-lt"/>
                  <a:ea typeface="+mn-ea"/>
                  <a:cs typeface="+mn-cs"/>
                </a:rPr>
                <a:t>Precisión 0,053:</a:t>
              </a:r>
              <a:r>
                <a:rPr lang="es-419" sz="1650" dirty="0">
                  <a:solidFill>
                    <a:schemeClr val="dk1"/>
                  </a:solidFill>
                  <a:latin typeface="+mn-lt"/>
                  <a:ea typeface="+mn-ea"/>
                  <a:cs typeface="+mn-cs"/>
                </a:rPr>
                <a:t xml:space="preserve"> ~18 sanos entran al</a:t>
              </a:r>
              <a:br>
                <a:rPr lang="es-419" sz="1650" dirty="0">
                  <a:solidFill>
                    <a:schemeClr val="dk1"/>
                  </a:solidFill>
                  <a:latin typeface="+mn-lt"/>
                  <a:ea typeface="+mn-ea"/>
                  <a:cs typeface="+mn-cs"/>
                </a:rPr>
              </a:br>
              <a:r>
                <a:rPr lang="es-419" sz="1650" dirty="0">
                  <a:solidFill>
                    <a:schemeClr val="dk1"/>
                  </a:solidFill>
                  <a:latin typeface="+mn-lt"/>
                  <a:ea typeface="+mn-ea"/>
                  <a:cs typeface="+mn-cs"/>
                </a:rPr>
                <a:t>programa por cada infarto detectado</a:t>
              </a:r>
            </a:p>
          </p:txBody>
        </p:sp>
        <p:sp>
          <p:nvSpPr>
            <p:cNvPr id="24" name="TextBox 24"/>
            <p:cNvSpPr txBox="1"/>
            <p:nvPr/>
          </p:nvSpPr>
          <p:spPr>
            <a:xfrm>
              <a:off x="6392418" y="5499100"/>
              <a:ext cx="3847631" cy="608457"/>
            </a:xfrm>
            <a:prstGeom prst="rect">
              <a:avLst/>
            </a:prstGeom>
            <a:noFill/>
            <a:ln>
              <a:noFill/>
            </a:ln>
          </p:spPr>
          <p:txBody>
            <a:bodyPr wrap="none" lIns="0" tIns="0" rIns="0" bIns="0" anchor="t" anchorCtr="0">
              <a:spAutoFit/>
            </a:bodyPr>
            <a:lstStyle/>
            <a:p>
              <a:pPr algn="l">
                <a:lnSpc>
                  <a:spcPts val="2250"/>
                </a:lnSpc>
              </a:pPr>
              <a:r>
                <a:rPr lang="es-419" sz="1650" b="1" dirty="0">
                  <a:solidFill>
                    <a:schemeClr val="accent1"/>
                  </a:solidFill>
                  <a:latin typeface="+mn-lt"/>
                  <a:ea typeface="+mn-ea"/>
                  <a:cs typeface="+mn-cs"/>
                </a:rPr>
                <a:t>F1 ≥ 0,70</a:t>
              </a:r>
              <a:r>
                <a:rPr lang="es-419" sz="1650" dirty="0">
                  <a:solidFill>
                    <a:schemeClr val="dk1"/>
                  </a:solidFill>
                  <a:latin typeface="+mn-lt"/>
                  <a:ea typeface="+mn-ea"/>
                  <a:cs typeface="+mn-cs"/>
                </a:rPr>
                <a:t xml:space="preserve"> (template U10) es inalcanzable</a:t>
              </a:r>
              <a:br>
                <a:rPr lang="es-419" sz="1650" dirty="0">
                  <a:solidFill>
                    <a:schemeClr val="dk1"/>
                  </a:solidFill>
                  <a:latin typeface="+mn-lt"/>
                  <a:ea typeface="+mn-ea"/>
                  <a:cs typeface="+mn-cs"/>
                </a:rPr>
              </a:br>
              <a:r>
                <a:rPr lang="es-419" sz="1650" dirty="0">
                  <a:solidFill>
                    <a:schemeClr val="dk1"/>
                  </a:solidFill>
                  <a:latin typeface="+mn-lt"/>
                  <a:ea typeface="+mn-ea"/>
                  <a:cs typeface="+mn-cs"/>
                </a:rPr>
                <a:t>con 1,8% de positivos: queda como piso</a:t>
              </a:r>
            </a:p>
          </p:txBody>
        </p:sp>
      </p:grpSp>
      <p:grpSp>
        <p:nvGrpSpPr>
          <p:cNvPr id="28" name="footer"/>
          <p:cNvGrpSpPr/>
          <p:nvPr/>
        </p:nvGrpSpPr>
        <p:grpSpPr>
          <a:xfrm>
            <a:off x="603504" y="6381750"/>
            <a:ext cx="10984992" cy="234696"/>
            <a:chOff x="603504" y="6381750"/>
            <a:chExt cx="10984992" cy="234696"/>
          </a:xfrm>
        </p:grpSpPr>
        <p:sp>
          <p:nvSpPr>
            <p:cNvPr id="26" name="TextBox 26"/>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7" name="TextBox 27"/>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06 / 10</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3995010"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06 · VERSIONADO Y REGISTRO · UNIDADES 3, 6 Y 8</a:t>
              </a:r>
            </a:p>
          </p:txBody>
        </p:sp>
        <p:sp>
          <p:nvSpPr>
            <p:cNvPr id="3" name="TextBox 3"/>
            <p:cNvSpPr txBox="1"/>
            <p:nvPr/>
          </p:nvSpPr>
          <p:spPr>
            <a:xfrm>
              <a:off x="594360" y="850900"/>
              <a:ext cx="7970063"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Cada modelo queda versionado y solo pasa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a Production si aprueba el quality gate</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19" name="runs-tuning"/>
          <p:cNvGrpSpPr/>
          <p:nvPr/>
        </p:nvGrpSpPr>
        <p:grpSpPr>
          <a:xfrm>
            <a:off x="603885" y="2184400"/>
            <a:ext cx="4958715" cy="2882900"/>
            <a:chOff x="603885" y="2184400"/>
            <a:chExt cx="4958715" cy="2882900"/>
          </a:xfrm>
        </p:grpSpPr>
        <p:sp>
          <p:nvSpPr>
            <p:cNvPr id="6" name="TextBox 6"/>
            <p:cNvSpPr txBox="1"/>
            <p:nvPr/>
          </p:nvSpPr>
          <p:spPr>
            <a:xfrm>
              <a:off x="603885" y="2184400"/>
              <a:ext cx="2781491"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DOS RUNS DE TUNING EN MLFLOW</a:t>
              </a:r>
            </a:p>
          </p:txBody>
        </p:sp>
        <p:sp>
          <p:nvSpPr>
            <p:cNvPr id="7" name="Rectangle 7"/>
            <p:cNvSpPr/>
            <p:nvPr/>
          </p:nvSpPr>
          <p:spPr>
            <a:xfrm>
              <a:off x="609600" y="2476500"/>
              <a:ext cx="4953000" cy="1219200"/>
            </a:xfrm>
            <a:prstGeom prst="rect">
              <a:avLst/>
            </a:prstGeom>
            <a:solidFill>
              <a:schemeClr val="lt2"/>
            </a:solidFill>
            <a:ln>
              <a:noFill/>
            </a:ln>
          </p:spPr>
        </p:sp>
        <p:sp>
          <p:nvSpPr>
            <p:cNvPr id="8" name="TextBox 8"/>
            <p:cNvSpPr txBox="1"/>
            <p:nvPr/>
          </p:nvSpPr>
          <p:spPr>
            <a:xfrm>
              <a:off x="831342" y="2673350"/>
              <a:ext cx="1235812"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GridSearchCV</a:t>
              </a:r>
            </a:p>
          </p:txBody>
        </p:sp>
        <p:sp>
          <p:nvSpPr>
            <p:cNvPr id="9" name="TextBox 9"/>
            <p:cNvSpPr txBox="1"/>
            <p:nvPr/>
          </p:nvSpPr>
          <p:spPr>
            <a:xfrm>
              <a:off x="832104" y="2933700"/>
              <a:ext cx="197446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18 combinaciones × 5 folds</a:t>
              </a:r>
            </a:p>
          </p:txBody>
        </p:sp>
        <p:sp>
          <p:nvSpPr>
            <p:cNvPr id="10" name="TextBox 10"/>
            <p:cNvSpPr txBox="1"/>
            <p:nvPr/>
          </p:nvSpPr>
          <p:spPr>
            <a:xfrm>
              <a:off x="832104" y="3314700"/>
              <a:ext cx="49592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CV F1</a:t>
              </a:r>
            </a:p>
          </p:txBody>
        </p:sp>
        <p:sp>
          <p:nvSpPr>
            <p:cNvPr id="11" name="TextBox 11"/>
            <p:cNvSpPr txBox="1"/>
            <p:nvPr/>
          </p:nvSpPr>
          <p:spPr>
            <a:xfrm>
              <a:off x="4615842" y="3232150"/>
              <a:ext cx="728826" cy="410718"/>
            </a:xfrm>
            <a:prstGeom prst="rect">
              <a:avLst/>
            </a:prstGeom>
            <a:noFill/>
            <a:ln>
              <a:noFill/>
            </a:ln>
          </p:spPr>
          <p:txBody>
            <a:bodyPr wrap="none" lIns="0" tIns="0" rIns="0" bIns="0" anchor="t" anchorCtr="0">
              <a:spAutoFit/>
            </a:bodyPr>
            <a:lstStyle/>
            <a:p>
              <a:pPr algn="r"/>
              <a:r>
                <a:rPr lang="es-419" sz="2100" b="1" dirty="0">
                  <a:solidFill>
                    <a:schemeClr val="accent1"/>
                  </a:solidFill>
                  <a:latin typeface="+mn-lt"/>
                  <a:ea typeface="+mn-ea"/>
                  <a:cs typeface="+mn-cs"/>
                </a:rPr>
                <a:t>0,092</a:t>
              </a:r>
            </a:p>
          </p:txBody>
        </p:sp>
        <p:sp>
          <p:nvSpPr>
            <p:cNvPr id="12" name="Rectangle 12"/>
            <p:cNvSpPr/>
            <p:nvPr/>
          </p:nvSpPr>
          <p:spPr>
            <a:xfrm>
              <a:off x="609600" y="3848100"/>
              <a:ext cx="4953000" cy="1219200"/>
            </a:xfrm>
            <a:prstGeom prst="rect">
              <a:avLst/>
            </a:prstGeom>
            <a:solidFill>
              <a:schemeClr val="lt2"/>
            </a:solidFill>
            <a:ln>
              <a:noFill/>
            </a:ln>
          </p:spPr>
        </p:sp>
        <p:sp>
          <p:nvSpPr>
            <p:cNvPr id="13" name="Rectangle 13"/>
            <p:cNvSpPr/>
            <p:nvPr/>
          </p:nvSpPr>
          <p:spPr>
            <a:xfrm>
              <a:off x="609600" y="3848100"/>
              <a:ext cx="57150" cy="1219200"/>
            </a:xfrm>
            <a:prstGeom prst="rect">
              <a:avLst/>
            </a:prstGeom>
            <a:solidFill>
              <a:schemeClr val="accent3"/>
            </a:solidFill>
            <a:ln>
              <a:noFill/>
            </a:ln>
          </p:spPr>
        </p:sp>
        <p:sp>
          <p:nvSpPr>
            <p:cNvPr id="14" name="TextBox 14"/>
            <p:cNvSpPr txBox="1"/>
            <p:nvPr/>
          </p:nvSpPr>
          <p:spPr>
            <a:xfrm>
              <a:off x="831342" y="4044950"/>
              <a:ext cx="1835544" cy="264033"/>
            </a:xfrm>
            <a:prstGeom prst="rect">
              <a:avLst/>
            </a:prstGeom>
            <a:noFill/>
            <a:ln>
              <a:noFill/>
            </a:ln>
          </p:spPr>
          <p:txBody>
            <a:bodyPr wrap="none" lIns="0" tIns="0" rIns="0" bIns="0" anchor="t" anchorCtr="0">
              <a:spAutoFit/>
            </a:bodyPr>
            <a:lstStyle/>
            <a:p>
              <a:pPr algn="l"/>
              <a:r>
                <a:rPr lang="es-419" sz="1350" b="1" dirty="0">
                  <a:solidFill>
                    <a:schemeClr val="accent1"/>
                  </a:solidFill>
                  <a:latin typeface="Consolas"/>
                  <a:ea typeface="Consolas"/>
                  <a:cs typeface="Consolas"/>
                </a:rPr>
                <a:t>RandomizedSearchCV</a:t>
              </a:r>
            </a:p>
          </p:txBody>
        </p:sp>
        <p:sp>
          <p:nvSpPr>
            <p:cNvPr id="15" name="TextBox 15"/>
            <p:cNvSpPr txBox="1"/>
            <p:nvPr/>
          </p:nvSpPr>
          <p:spPr>
            <a:xfrm>
              <a:off x="832104" y="4305300"/>
              <a:ext cx="303771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20 combinaciones × 5 folds · gana por CV</a:t>
              </a:r>
            </a:p>
          </p:txBody>
        </p:sp>
        <p:sp>
          <p:nvSpPr>
            <p:cNvPr id="16" name="Freeform 16"/>
            <p:cNvSpPr/>
            <p:nvPr/>
          </p:nvSpPr>
          <p:spPr>
            <a:xfrm>
              <a:off x="881695" y="4694743"/>
              <a:ext cx="190951" cy="135515"/>
            </a:xfrm>
            <a:custGeom>
              <a:avLst/>
              <a:gdLst/>
              <a:ahLst/>
              <a:cxnLst/>
              <a:rect l="l" t="t" r="r" b="b"/>
              <a:pathLst>
                <a:path w="190951" h="135515">
                  <a:moveTo>
                    <a:pt x="186612" y="4338"/>
                  </a:moveTo>
                  <a:cubicBezTo>
                    <a:pt x="190951" y="8678"/>
                    <a:pt x="190951" y="15712"/>
                    <a:pt x="186612" y="20051"/>
                  </a:cubicBezTo>
                  <a:lnTo>
                    <a:pt x="75487" y="131177"/>
                  </a:lnTo>
                  <a:cubicBezTo>
                    <a:pt x="71148" y="135515"/>
                    <a:pt x="64113" y="135515"/>
                    <a:pt x="59774" y="131177"/>
                  </a:cubicBezTo>
                  <a:lnTo>
                    <a:pt x="4211" y="75614"/>
                  </a:lnTo>
                  <a:cubicBezTo>
                    <a:pt x="0" y="71254"/>
                    <a:pt x="60" y="64323"/>
                    <a:pt x="4347" y="60036"/>
                  </a:cubicBezTo>
                  <a:cubicBezTo>
                    <a:pt x="8633" y="55750"/>
                    <a:pt x="15564" y="55689"/>
                    <a:pt x="19924" y="59901"/>
                  </a:cubicBezTo>
                  <a:lnTo>
                    <a:pt x="67631" y="107607"/>
                  </a:lnTo>
                  <a:lnTo>
                    <a:pt x="170899" y="4338"/>
                  </a:lnTo>
                  <a:cubicBezTo>
                    <a:pt x="175239" y="0"/>
                    <a:pt x="182273" y="0"/>
                    <a:pt x="186612" y="4338"/>
                  </a:cubicBezTo>
                </a:path>
              </a:pathLst>
            </a:custGeom>
            <a:solidFill>
              <a:schemeClr val="accent3"/>
            </a:solidFill>
            <a:ln>
              <a:noFill/>
            </a:ln>
          </p:spPr>
        </p:sp>
        <p:sp>
          <p:nvSpPr>
            <p:cNvPr id="17" name="TextBox 17"/>
            <p:cNvSpPr txBox="1"/>
            <p:nvPr/>
          </p:nvSpPr>
          <p:spPr>
            <a:xfrm>
              <a:off x="1175004" y="4686300"/>
              <a:ext cx="495922"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CV F1</a:t>
              </a:r>
            </a:p>
          </p:txBody>
        </p:sp>
        <p:sp>
          <p:nvSpPr>
            <p:cNvPr id="18" name="TextBox 18"/>
            <p:cNvSpPr txBox="1"/>
            <p:nvPr/>
          </p:nvSpPr>
          <p:spPr>
            <a:xfrm>
              <a:off x="4615842" y="4603750"/>
              <a:ext cx="728826" cy="410718"/>
            </a:xfrm>
            <a:prstGeom prst="rect">
              <a:avLst/>
            </a:prstGeom>
            <a:noFill/>
            <a:ln>
              <a:noFill/>
            </a:ln>
          </p:spPr>
          <p:txBody>
            <a:bodyPr wrap="none" lIns="0" tIns="0" rIns="0" bIns="0" anchor="t" anchorCtr="0">
              <a:spAutoFit/>
            </a:bodyPr>
            <a:lstStyle/>
            <a:p>
              <a:pPr algn="r"/>
              <a:r>
                <a:rPr lang="es-419" sz="2100" b="1" dirty="0">
                  <a:solidFill>
                    <a:schemeClr val="accent1"/>
                  </a:solidFill>
                  <a:latin typeface="+mn-lt"/>
                  <a:ea typeface="+mn-ea"/>
                  <a:cs typeface="+mn-cs"/>
                </a:rPr>
                <a:t>0,096</a:t>
              </a:r>
            </a:p>
          </p:txBody>
        </p:sp>
      </p:grpSp>
      <p:grpSp>
        <p:nvGrpSpPr>
          <p:cNvPr id="37" name="ciclo-registry"/>
          <p:cNvGrpSpPr/>
          <p:nvPr/>
        </p:nvGrpSpPr>
        <p:grpSpPr>
          <a:xfrm>
            <a:off x="6318504" y="2184400"/>
            <a:ext cx="5263896" cy="2488946"/>
            <a:chOff x="6318504" y="2184400"/>
            <a:chExt cx="5263896" cy="2488946"/>
          </a:xfrm>
        </p:grpSpPr>
        <p:sp>
          <p:nvSpPr>
            <p:cNvPr id="20" name="TextBox 20"/>
            <p:cNvSpPr txBox="1"/>
            <p:nvPr/>
          </p:nvSpPr>
          <p:spPr>
            <a:xfrm>
              <a:off x="6318885" y="2184400"/>
              <a:ext cx="2893816"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MODEL REGISTRY · InfartosRiskModel</a:t>
              </a:r>
            </a:p>
          </p:txBody>
        </p:sp>
        <p:sp>
          <p:nvSpPr>
            <p:cNvPr id="21" name="Rectangle 21"/>
            <p:cNvSpPr/>
            <p:nvPr/>
          </p:nvSpPr>
          <p:spPr>
            <a:xfrm>
              <a:off x="6324600" y="2857500"/>
              <a:ext cx="1143000" cy="571500"/>
            </a:xfrm>
            <a:prstGeom prst="rect">
              <a:avLst/>
            </a:prstGeom>
            <a:solidFill>
              <a:schemeClr val="lt2"/>
            </a:solidFill>
            <a:ln>
              <a:noFill/>
            </a:ln>
          </p:spPr>
        </p:sp>
        <p:sp>
          <p:nvSpPr>
            <p:cNvPr id="22" name="TextBox 22"/>
            <p:cNvSpPr txBox="1"/>
            <p:nvPr/>
          </p:nvSpPr>
          <p:spPr>
            <a:xfrm>
              <a:off x="6465728" y="3048000"/>
              <a:ext cx="860745"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mn-lt"/>
                  <a:ea typeface="+mn-ea"/>
                  <a:cs typeface="+mn-cs"/>
                </a:rPr>
                <a:t>Registrado</a:t>
              </a:r>
            </a:p>
          </p:txBody>
        </p:sp>
        <p:sp>
          <p:nvSpPr>
            <p:cNvPr id="23" name="Line 23"/>
            <p:cNvSpPr/>
            <p:nvPr/>
          </p:nvSpPr>
          <p:spPr>
            <a:xfrm>
              <a:off x="7467600" y="3143250"/>
              <a:ext cx="209550" cy="1"/>
            </a:xfrm>
            <a:prstGeom prst="line">
              <a:avLst/>
            </a:prstGeom>
            <a:noFill/>
            <a:ln w="19050">
              <a:solidFill>
                <a:srgbClr val="5B6470"/>
              </a:solidFill>
              <a:tailEnd type="triangle" w="lg" len="lg"/>
            </a:ln>
          </p:spPr>
        </p:sp>
        <p:sp>
          <p:nvSpPr>
            <p:cNvPr id="24" name="Rectangle 24"/>
            <p:cNvSpPr/>
            <p:nvPr/>
          </p:nvSpPr>
          <p:spPr>
            <a:xfrm>
              <a:off x="7696200" y="2857500"/>
              <a:ext cx="1143000" cy="571500"/>
            </a:xfrm>
            <a:prstGeom prst="rect">
              <a:avLst/>
            </a:prstGeom>
            <a:solidFill>
              <a:schemeClr val="lt2"/>
            </a:solidFill>
            <a:ln>
              <a:noFill/>
            </a:ln>
          </p:spPr>
        </p:sp>
        <p:sp>
          <p:nvSpPr>
            <p:cNvPr id="25" name="TextBox 25"/>
            <p:cNvSpPr txBox="1"/>
            <p:nvPr/>
          </p:nvSpPr>
          <p:spPr>
            <a:xfrm>
              <a:off x="7963067" y="3048000"/>
              <a:ext cx="609266"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mn-lt"/>
                  <a:ea typeface="+mn-ea"/>
                  <a:cs typeface="+mn-cs"/>
                </a:rPr>
                <a:t>Staging</a:t>
              </a:r>
            </a:p>
          </p:txBody>
        </p:sp>
        <p:sp>
          <p:nvSpPr>
            <p:cNvPr id="26" name="Line 26"/>
            <p:cNvSpPr/>
            <p:nvPr/>
          </p:nvSpPr>
          <p:spPr>
            <a:xfrm>
              <a:off x="8839200" y="3143250"/>
              <a:ext cx="209550" cy="1"/>
            </a:xfrm>
            <a:prstGeom prst="line">
              <a:avLst/>
            </a:prstGeom>
            <a:noFill/>
            <a:ln w="19050">
              <a:solidFill>
                <a:srgbClr val="5B6470"/>
              </a:solidFill>
              <a:tailEnd type="triangle" w="lg" len="lg"/>
            </a:ln>
          </p:spPr>
        </p:sp>
        <p:sp>
          <p:nvSpPr>
            <p:cNvPr id="27" name="Freeform 27"/>
            <p:cNvSpPr/>
            <p:nvPr/>
          </p:nvSpPr>
          <p:spPr>
            <a:xfrm>
              <a:off x="9067800" y="2800350"/>
              <a:ext cx="952500" cy="685800"/>
            </a:xfrm>
            <a:prstGeom prst="flowChartDecision">
              <a:avLst/>
            </a:prstGeom>
            <a:solidFill>
              <a:schemeClr val="accent2"/>
            </a:solidFill>
            <a:ln>
              <a:noFill/>
            </a:ln>
          </p:spPr>
        </p:sp>
        <p:sp>
          <p:nvSpPr>
            <p:cNvPr id="28" name="TextBox 28"/>
            <p:cNvSpPr txBox="1"/>
            <p:nvPr/>
          </p:nvSpPr>
          <p:spPr>
            <a:xfrm>
              <a:off x="9371871" y="3048000"/>
              <a:ext cx="344359" cy="234696"/>
            </a:xfrm>
            <a:prstGeom prst="rect">
              <a:avLst/>
            </a:prstGeom>
            <a:noFill/>
            <a:ln>
              <a:noFill/>
            </a:ln>
          </p:spPr>
          <p:txBody>
            <a:bodyPr wrap="none" lIns="0" tIns="0" rIns="0" bIns="0" anchor="t" anchorCtr="0">
              <a:spAutoFit/>
            </a:bodyPr>
            <a:lstStyle/>
            <a:p>
              <a:pPr algn="ctr"/>
              <a:r>
                <a:rPr lang="es-419" sz="1200" b="1" dirty="0">
                  <a:solidFill>
                    <a:srgbClr val="FFFFFF"/>
                  </a:solidFill>
                  <a:latin typeface="+mn-lt"/>
                  <a:ea typeface="+mn-ea"/>
                  <a:cs typeface="+mn-cs"/>
                </a:rPr>
                <a:t>gate</a:t>
              </a:r>
            </a:p>
          </p:txBody>
        </p:sp>
        <p:sp>
          <p:nvSpPr>
            <p:cNvPr id="29" name="Line 29"/>
            <p:cNvSpPr/>
            <p:nvPr/>
          </p:nvSpPr>
          <p:spPr>
            <a:xfrm>
              <a:off x="10020300" y="3143250"/>
              <a:ext cx="209550" cy="1"/>
            </a:xfrm>
            <a:prstGeom prst="line">
              <a:avLst/>
            </a:prstGeom>
            <a:noFill/>
            <a:ln w="19050">
              <a:solidFill>
                <a:srgbClr val="5B6470"/>
              </a:solidFill>
              <a:tailEnd type="triangle" w="lg" len="lg"/>
            </a:ln>
          </p:spPr>
        </p:sp>
        <p:sp>
          <p:nvSpPr>
            <p:cNvPr id="30" name="Rectangle 30"/>
            <p:cNvSpPr/>
            <p:nvPr/>
          </p:nvSpPr>
          <p:spPr>
            <a:xfrm>
              <a:off x="10248900" y="2857500"/>
              <a:ext cx="1333500" cy="571500"/>
            </a:xfrm>
            <a:prstGeom prst="rect">
              <a:avLst/>
            </a:prstGeom>
            <a:solidFill>
              <a:schemeClr val="accent1"/>
            </a:solidFill>
            <a:ln>
              <a:noFill/>
            </a:ln>
          </p:spPr>
        </p:sp>
        <p:sp>
          <p:nvSpPr>
            <p:cNvPr id="31" name="TextBox 31"/>
            <p:cNvSpPr txBox="1"/>
            <p:nvPr/>
          </p:nvSpPr>
          <p:spPr>
            <a:xfrm>
              <a:off x="10480891" y="3048000"/>
              <a:ext cx="869517" cy="234696"/>
            </a:xfrm>
            <a:prstGeom prst="rect">
              <a:avLst/>
            </a:prstGeom>
            <a:noFill/>
            <a:ln>
              <a:noFill/>
            </a:ln>
          </p:spPr>
          <p:txBody>
            <a:bodyPr wrap="none" lIns="0" tIns="0" rIns="0" bIns="0" anchor="t" anchorCtr="0">
              <a:spAutoFit/>
            </a:bodyPr>
            <a:lstStyle/>
            <a:p>
              <a:pPr algn="ctr"/>
              <a:r>
                <a:rPr lang="es-419" sz="1200" b="1" dirty="0">
                  <a:solidFill>
                    <a:srgbClr val="FFFFFF"/>
                  </a:solidFill>
                  <a:latin typeface="+mn-lt"/>
                  <a:ea typeface="+mn-ea"/>
                  <a:cs typeface="+mn-cs"/>
                </a:rPr>
                <a:t>Production</a:t>
              </a:r>
            </a:p>
          </p:txBody>
        </p:sp>
        <p:grpSp>
          <p:nvGrpSpPr>
            <p:cNvPr id="36" name="Group 36"/>
            <p:cNvGrpSpPr/>
            <p:nvPr/>
          </p:nvGrpSpPr>
          <p:grpSpPr>
            <a:xfrm>
              <a:off x="6318504" y="3695700"/>
              <a:ext cx="4013303" cy="977646"/>
              <a:chOff x="6318504" y="3695700"/>
              <a:chExt cx="4013303" cy="977646"/>
            </a:xfrm>
          </p:grpSpPr>
          <p:sp>
            <p:nvSpPr>
              <p:cNvPr id="32" name="TextBox 32"/>
              <p:cNvSpPr txBox="1"/>
              <p:nvPr/>
            </p:nvSpPr>
            <p:spPr>
              <a:xfrm>
                <a:off x="6318504" y="3695700"/>
                <a:ext cx="401330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1. random_forest/run.py registra el mejor run → Staging</a:t>
                </a:r>
              </a:p>
            </p:txBody>
          </p:sp>
          <p:sp>
            <p:nvSpPr>
              <p:cNvPr id="33" name="TextBox 33"/>
              <p:cNvSpPr txBox="1"/>
              <p:nvPr/>
            </p:nvSpPr>
            <p:spPr>
              <a:xfrm>
                <a:off x="6318504" y="3943350"/>
                <a:ext cx="332237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2. evaluate/run.py aplica el gate → Production</a:t>
                </a:r>
              </a:p>
            </p:txBody>
          </p:sp>
          <p:sp>
            <p:nvSpPr>
              <p:cNvPr id="34" name="TextBox 34"/>
              <p:cNvSpPr txBox="1"/>
              <p:nvPr/>
            </p:nvSpPr>
            <p:spPr>
              <a:xfrm>
                <a:off x="6318504" y="4191000"/>
                <a:ext cx="330341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3. Si falla, la versión anterior sigue en servicio</a:t>
                </a:r>
              </a:p>
            </p:txBody>
          </p:sp>
          <p:sp>
            <p:nvSpPr>
              <p:cNvPr id="35" name="TextBox 35"/>
              <p:cNvSpPr txBox="1"/>
              <p:nvPr/>
            </p:nvSpPr>
            <p:spPr>
              <a:xfrm>
                <a:off x="6318504" y="4438650"/>
                <a:ext cx="376842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Tags de trazabilidad: método, balanceo, AUC, recall</a:t>
                </a:r>
              </a:p>
            </p:txBody>
          </p:sp>
        </p:grpSp>
      </p:grpSp>
      <p:grpSp>
        <p:nvGrpSpPr>
          <p:cNvPr id="45" name="dvc"/>
          <p:cNvGrpSpPr/>
          <p:nvPr/>
        </p:nvGrpSpPr>
        <p:grpSpPr>
          <a:xfrm>
            <a:off x="609600" y="5334000"/>
            <a:ext cx="10972800" cy="762000"/>
            <a:chOff x="609600" y="5334000"/>
            <a:chExt cx="10972800" cy="762000"/>
          </a:xfrm>
        </p:grpSpPr>
        <p:sp>
          <p:nvSpPr>
            <p:cNvPr id="38" name="Rectangle 38"/>
            <p:cNvSpPr/>
            <p:nvPr/>
          </p:nvSpPr>
          <p:spPr>
            <a:xfrm>
              <a:off x="609600" y="5334000"/>
              <a:ext cx="10972800" cy="762000"/>
            </a:xfrm>
            <a:prstGeom prst="rect">
              <a:avLst/>
            </a:prstGeom>
            <a:solidFill>
              <a:schemeClr val="lt2"/>
            </a:solidFill>
            <a:ln>
              <a:noFill/>
            </a:ln>
          </p:spPr>
        </p:sp>
        <p:grpSp>
          <p:nvGrpSpPr>
            <p:cNvPr id="42" name="Group 42"/>
            <p:cNvGrpSpPr/>
            <p:nvPr/>
          </p:nvGrpSpPr>
          <p:grpSpPr>
            <a:xfrm>
              <a:off x="876299" y="5588000"/>
              <a:ext cx="228600" cy="253999"/>
              <a:chOff x="876299" y="5588000"/>
              <a:chExt cx="228600" cy="253999"/>
            </a:xfrm>
          </p:grpSpPr>
          <p:sp>
            <p:nvSpPr>
              <p:cNvPr id="39" name="Freeform 39"/>
              <p:cNvSpPr/>
              <p:nvPr/>
            </p:nvSpPr>
            <p:spPr>
              <a:xfrm>
                <a:off x="876300" y="5762383"/>
                <a:ext cx="228599" cy="79616"/>
              </a:xfrm>
              <a:custGeom>
                <a:avLst/>
                <a:gdLst/>
                <a:ahLst/>
                <a:cxnLst/>
                <a:rect l="l" t="t" r="r" b="b"/>
                <a:pathLst>
                  <a:path w="228599" h="79616">
                    <a:moveTo>
                      <a:pt x="0" y="0"/>
                    </a:moveTo>
                    <a:cubicBezTo>
                      <a:pt x="24994" y="19139"/>
                      <a:pt x="66472" y="28816"/>
                      <a:pt x="114300" y="28816"/>
                    </a:cubicBezTo>
                    <a:cubicBezTo>
                      <a:pt x="162052" y="28816"/>
                      <a:pt x="203517" y="19164"/>
                      <a:pt x="228599" y="216"/>
                    </a:cubicBezTo>
                    <a:lnTo>
                      <a:pt x="228599" y="28816"/>
                    </a:lnTo>
                    <a:cubicBezTo>
                      <a:pt x="228599" y="59614"/>
                      <a:pt x="179133" y="78803"/>
                      <a:pt x="118199" y="79591"/>
                    </a:cubicBezTo>
                    <a:lnTo>
                      <a:pt x="114300" y="79616"/>
                    </a:lnTo>
                    <a:cubicBezTo>
                      <a:pt x="51587" y="79616"/>
                      <a:pt x="0" y="60274"/>
                      <a:pt x="0" y="28816"/>
                    </a:cubicBezTo>
                    <a:close/>
                  </a:path>
                </a:pathLst>
              </a:custGeom>
              <a:solidFill>
                <a:schemeClr val="accent1"/>
              </a:solidFill>
              <a:ln>
                <a:noFill/>
              </a:ln>
            </p:spPr>
          </p:sp>
          <p:sp>
            <p:nvSpPr>
              <p:cNvPr id="40" name="Freeform 40"/>
              <p:cNvSpPr/>
              <p:nvPr/>
            </p:nvSpPr>
            <p:spPr>
              <a:xfrm>
                <a:off x="876300" y="5686183"/>
                <a:ext cx="228599" cy="79616"/>
              </a:xfrm>
              <a:custGeom>
                <a:avLst/>
                <a:gdLst/>
                <a:ahLst/>
                <a:cxnLst/>
                <a:rect l="l" t="t" r="r" b="b"/>
                <a:pathLst>
                  <a:path w="228599" h="79616">
                    <a:moveTo>
                      <a:pt x="0" y="0"/>
                    </a:moveTo>
                    <a:cubicBezTo>
                      <a:pt x="24994" y="19139"/>
                      <a:pt x="66472" y="28816"/>
                      <a:pt x="114300" y="28816"/>
                    </a:cubicBezTo>
                    <a:cubicBezTo>
                      <a:pt x="162052" y="28816"/>
                      <a:pt x="203517" y="19164"/>
                      <a:pt x="228599" y="216"/>
                    </a:cubicBezTo>
                    <a:lnTo>
                      <a:pt x="228599" y="28816"/>
                    </a:lnTo>
                    <a:cubicBezTo>
                      <a:pt x="228599" y="60274"/>
                      <a:pt x="177012" y="79616"/>
                      <a:pt x="114300" y="79616"/>
                    </a:cubicBezTo>
                    <a:cubicBezTo>
                      <a:pt x="53365" y="79616"/>
                      <a:pt x="2921" y="61354"/>
                      <a:pt x="267" y="31420"/>
                    </a:cubicBezTo>
                    <a:lnTo>
                      <a:pt x="63" y="30137"/>
                    </a:lnTo>
                    <a:lnTo>
                      <a:pt x="0" y="28816"/>
                    </a:lnTo>
                    <a:close/>
                  </a:path>
                </a:pathLst>
              </a:custGeom>
              <a:solidFill>
                <a:schemeClr val="accent1"/>
              </a:solidFill>
              <a:ln>
                <a:noFill/>
              </a:ln>
            </p:spPr>
          </p:sp>
          <p:sp>
            <p:nvSpPr>
              <p:cNvPr id="41" name="Freeform 41"/>
              <p:cNvSpPr/>
              <p:nvPr/>
            </p:nvSpPr>
            <p:spPr>
              <a:xfrm>
                <a:off x="876299" y="5588000"/>
                <a:ext cx="228600" cy="101600"/>
              </a:xfrm>
              <a:custGeom>
                <a:avLst/>
                <a:gdLst/>
                <a:ahLst/>
                <a:cxnLst/>
                <a:rect l="l" t="t" r="r" b="b"/>
                <a:pathLst>
                  <a:path w="228600" h="101600">
                    <a:moveTo>
                      <a:pt x="114301" y="0"/>
                    </a:moveTo>
                    <a:cubicBezTo>
                      <a:pt x="127521" y="0"/>
                      <a:pt x="140259" y="864"/>
                      <a:pt x="152109" y="2515"/>
                    </a:cubicBezTo>
                    <a:lnTo>
                      <a:pt x="158065" y="3416"/>
                    </a:lnTo>
                    <a:cubicBezTo>
                      <a:pt x="165177" y="4602"/>
                      <a:pt x="171891" y="6075"/>
                      <a:pt x="178207" y="7836"/>
                    </a:cubicBezTo>
                    <a:lnTo>
                      <a:pt x="183795" y="9500"/>
                    </a:lnTo>
                    <a:lnTo>
                      <a:pt x="184747" y="9804"/>
                    </a:lnTo>
                    <a:cubicBezTo>
                      <a:pt x="188204" y="10941"/>
                      <a:pt x="191614" y="12212"/>
                      <a:pt x="194971" y="13614"/>
                    </a:cubicBezTo>
                    <a:lnTo>
                      <a:pt x="197498" y="14707"/>
                    </a:lnTo>
                    <a:cubicBezTo>
                      <a:pt x="202028" y="16755"/>
                      <a:pt x="206121" y="18999"/>
                      <a:pt x="209779" y="21438"/>
                    </a:cubicBezTo>
                    <a:cubicBezTo>
                      <a:pt x="211176" y="22369"/>
                      <a:pt x="212501" y="23321"/>
                      <a:pt x="213754" y="24295"/>
                    </a:cubicBezTo>
                    <a:cubicBezTo>
                      <a:pt x="216928" y="26758"/>
                      <a:pt x="219783" y="29608"/>
                      <a:pt x="222250" y="32779"/>
                    </a:cubicBezTo>
                    <a:lnTo>
                      <a:pt x="223406" y="34404"/>
                    </a:lnTo>
                    <a:cubicBezTo>
                      <a:pt x="223999" y="35293"/>
                      <a:pt x="224545" y="36186"/>
                      <a:pt x="225044" y="37084"/>
                    </a:cubicBezTo>
                    <a:lnTo>
                      <a:pt x="225933" y="38849"/>
                    </a:lnTo>
                    <a:cubicBezTo>
                      <a:pt x="227313" y="41813"/>
                      <a:pt x="228160" y="44903"/>
                      <a:pt x="228473" y="48120"/>
                    </a:cubicBezTo>
                    <a:lnTo>
                      <a:pt x="228600" y="50800"/>
                    </a:lnTo>
                    <a:cubicBezTo>
                      <a:pt x="228600" y="82258"/>
                      <a:pt x="177013" y="101600"/>
                      <a:pt x="114301" y="101600"/>
                    </a:cubicBezTo>
                    <a:cubicBezTo>
                      <a:pt x="53366" y="101600"/>
                      <a:pt x="2922" y="83337"/>
                      <a:pt x="268" y="53403"/>
                    </a:cubicBezTo>
                    <a:cubicBezTo>
                      <a:pt x="89" y="52547"/>
                      <a:pt x="0" y="51675"/>
                      <a:pt x="1" y="50800"/>
                    </a:cubicBezTo>
                    <a:lnTo>
                      <a:pt x="64" y="49479"/>
                    </a:lnTo>
                    <a:lnTo>
                      <a:pt x="268" y="48209"/>
                    </a:lnTo>
                    <a:cubicBezTo>
                      <a:pt x="2871" y="18923"/>
                      <a:pt x="51195" y="800"/>
                      <a:pt x="110338" y="25"/>
                    </a:cubicBezTo>
                    <a:close/>
                  </a:path>
                </a:pathLst>
              </a:custGeom>
              <a:solidFill>
                <a:schemeClr val="accent1"/>
              </a:solidFill>
              <a:ln>
                <a:noFill/>
              </a:ln>
            </p:spPr>
          </p:sp>
        </p:grpSp>
        <p:sp>
          <p:nvSpPr>
            <p:cNvPr id="43" name="TextBox 43"/>
            <p:cNvSpPr txBox="1"/>
            <p:nvPr/>
          </p:nvSpPr>
          <p:spPr>
            <a:xfrm>
              <a:off x="1287018" y="5454650"/>
              <a:ext cx="5045472"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DVC versiona datos y modelo sin subirlos a Git</a:t>
              </a:r>
            </a:p>
          </p:txBody>
        </p:sp>
        <p:sp>
          <p:nvSpPr>
            <p:cNvPr id="44" name="TextBox 44"/>
            <p:cNvSpPr txBox="1"/>
            <p:nvPr/>
          </p:nvSpPr>
          <p:spPr>
            <a:xfrm>
              <a:off x="1289304" y="5772150"/>
              <a:ext cx="7303448"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dvc.yaml declara las 7 etapas · dvc.lock guarda el md5 de cada salida · dvc repro reproduce y verifica</a:t>
              </a:r>
            </a:p>
          </p:txBody>
        </p:sp>
      </p:grpSp>
      <p:grpSp>
        <p:nvGrpSpPr>
          <p:cNvPr id="48" name="footer"/>
          <p:cNvGrpSpPr/>
          <p:nvPr/>
        </p:nvGrpSpPr>
        <p:grpSpPr>
          <a:xfrm>
            <a:off x="603504" y="6381750"/>
            <a:ext cx="10984992" cy="234696"/>
            <a:chOff x="603504" y="6381750"/>
            <a:chExt cx="10984992" cy="234696"/>
          </a:xfrm>
        </p:grpSpPr>
        <p:sp>
          <p:nvSpPr>
            <p:cNvPr id="46" name="TextBox 46"/>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47" name="TextBox 47"/>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07 / 10</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985821"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07 · PRODUCCIÓN · UNIDADES 5, 7 Y 8</a:t>
              </a:r>
            </a:p>
          </p:txBody>
        </p:sp>
        <p:sp>
          <p:nvSpPr>
            <p:cNvPr id="3" name="TextBox 3"/>
            <p:cNvSpPr txBox="1"/>
            <p:nvPr/>
          </p:nvSpPr>
          <p:spPr>
            <a:xfrm>
              <a:off x="594360" y="850900"/>
              <a:ext cx="8012735"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La API recibe datos crudos y los transforma</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igual que en el entrenamiento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9" name="ejemplo-api"/>
          <p:cNvGrpSpPr/>
          <p:nvPr/>
        </p:nvGrpSpPr>
        <p:grpSpPr>
          <a:xfrm>
            <a:off x="609600" y="2152650"/>
            <a:ext cx="5334000" cy="3276600"/>
            <a:chOff x="609600" y="2152650"/>
            <a:chExt cx="5334000" cy="3276600"/>
          </a:xfrm>
        </p:grpSpPr>
        <p:sp>
          <p:nvSpPr>
            <p:cNvPr id="6" name="Rectangle 6"/>
            <p:cNvSpPr/>
            <p:nvPr/>
          </p:nvSpPr>
          <p:spPr>
            <a:xfrm>
              <a:off x="609600" y="2152650"/>
              <a:ext cx="5334000" cy="3276600"/>
            </a:xfrm>
            <a:prstGeom prst="rect">
              <a:avLst/>
            </a:prstGeom>
            <a:solidFill>
              <a:schemeClr val="lt2"/>
            </a:solidFill>
            <a:ln>
              <a:noFill/>
            </a:ln>
          </p:spPr>
        </p:sp>
        <p:sp>
          <p:nvSpPr>
            <p:cNvPr id="7" name="TextBox 7"/>
            <p:cNvSpPr txBox="1"/>
            <p:nvPr/>
          </p:nvSpPr>
          <p:spPr>
            <a:xfrm>
              <a:off x="831342" y="2317750"/>
              <a:ext cx="3314128" cy="2321433"/>
            </a:xfrm>
            <a:prstGeom prst="rect">
              <a:avLst/>
            </a:prstGeom>
            <a:noFill/>
            <a:ln>
              <a:noFill/>
            </a:ln>
          </p:spPr>
          <p:txBody>
            <a:bodyPr wrap="none" lIns="0" tIns="0" rIns="0" bIns="0" anchor="t" anchorCtr="0">
              <a:spAutoFit/>
            </a:bodyPr>
            <a:lstStyle/>
            <a:p>
              <a:pPr algn="l">
                <a:lnSpc>
                  <a:spcPts val="1800"/>
                </a:lnSpc>
              </a:pPr>
              <a:r>
                <a:rPr lang="es-419" sz="1350" b="1" dirty="0">
                  <a:solidFill>
                    <a:schemeClr val="accent1"/>
                  </a:solidFill>
                  <a:latin typeface="Consolas"/>
                  <a:ea typeface="Consolas"/>
                  <a:cs typeface="Consolas"/>
                </a:rPr>
                <a:t>POST /predecir</a:t>
              </a:r>
              <a:br>
                <a:rPr lang="es-419" sz="1350" b="1" dirty="0">
                  <a:solidFill>
                    <a:schemeClr val="accent1"/>
                  </a:solidFill>
                  <a:latin typeface="Consolas"/>
                  <a:ea typeface="Consolas"/>
                  <a:cs typeface="Consolas"/>
                </a:rPr>
              </a:br>
              <a:r>
                <a:rPr lang="es-419" sz="1350" dirty="0">
                  <a:solidFill>
                    <a:schemeClr val="dk1"/>
                  </a:solidFill>
                  <a:latin typeface="Consolas"/>
                  <a:ea typeface="Consolas"/>
                  <a:cs typeface="Consolas"/>
                </a:rPr>
                <a:t>{</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"Edad": 67,</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"Flag_hipertension": 1,</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"Flag_problem_cardiaco": 1,</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"Promedio_nivel_glucosa": 228.7,</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"IMC": 36.6,</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"Estados_civil": "Si",</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 xml:space="preserve">  "Tipo_trabajo": "Empresa_privada"</a:t>
              </a:r>
              <a:br>
                <a:rPr lang="es-419" sz="1350" dirty="0">
                  <a:solidFill>
                    <a:schemeClr val="dk1"/>
                  </a:solidFill>
                  <a:latin typeface="Consolas"/>
                  <a:ea typeface="Consolas"/>
                  <a:cs typeface="Consolas"/>
                </a:rPr>
              </a:br>
              <a:r>
                <a:rPr lang="es-419" sz="1350" dirty="0">
                  <a:solidFill>
                    <a:schemeClr val="dk1"/>
                  </a:solidFill>
                  <a:latin typeface="Consolas"/>
                  <a:ea typeface="Consolas"/>
                  <a:cs typeface="Consolas"/>
                </a:rPr>
                <a:t>}</a:t>
              </a:r>
            </a:p>
          </p:txBody>
        </p:sp>
        <p:sp>
          <p:nvSpPr>
            <p:cNvPr id="8" name="TextBox 8"/>
            <p:cNvSpPr txBox="1"/>
            <p:nvPr/>
          </p:nvSpPr>
          <p:spPr>
            <a:xfrm>
              <a:off x="831342" y="4705350"/>
              <a:ext cx="2936939" cy="511683"/>
            </a:xfrm>
            <a:prstGeom prst="rect">
              <a:avLst/>
            </a:prstGeom>
            <a:noFill/>
            <a:ln>
              <a:noFill/>
            </a:ln>
          </p:spPr>
          <p:txBody>
            <a:bodyPr wrap="none" lIns="0" tIns="0" rIns="0" bIns="0" anchor="t" anchorCtr="0">
              <a:spAutoFit/>
            </a:bodyPr>
            <a:lstStyle/>
            <a:p>
              <a:pPr algn="l">
                <a:lnSpc>
                  <a:spcPts val="1950"/>
                </a:lnSpc>
              </a:pPr>
              <a:r>
                <a:rPr lang="es-419" sz="1350" b="1" dirty="0">
                  <a:solidFill>
                    <a:schemeClr val="accent1"/>
                  </a:solidFill>
                  <a:latin typeface="Consolas"/>
                  <a:ea typeface="Consolas"/>
                  <a:cs typeface="Consolas"/>
                </a:rPr>
                <a:t>→ probabilidad_infarto: 0.8087</a:t>
              </a:r>
              <a:br>
                <a:rPr lang="es-419" sz="1350" b="1" dirty="0">
                  <a:solidFill>
                    <a:schemeClr val="accent1"/>
                  </a:solidFill>
                  <a:latin typeface="Consolas"/>
                  <a:ea typeface="Consolas"/>
                  <a:cs typeface="Consolas"/>
                </a:rPr>
              </a:br>
              <a:r>
                <a:rPr lang="es-419" sz="1350" b="1" dirty="0">
                  <a:solidFill>
                    <a:schemeClr val="accent2"/>
                  </a:solidFill>
                  <a:latin typeface="Consolas"/>
                  <a:ea typeface="Consolas"/>
                  <a:cs typeface="Consolas"/>
                </a:rPr>
                <a:t xml:space="preserve">  decision: PROGRAMA PREVENCION</a:t>
              </a:r>
            </a:p>
          </p:txBody>
        </p:sp>
      </p:grpSp>
      <p:grpSp>
        <p:nvGrpSpPr>
          <p:cNvPr id="25" name="escala-umbrales"/>
          <p:cNvGrpSpPr/>
          <p:nvPr/>
        </p:nvGrpSpPr>
        <p:grpSpPr>
          <a:xfrm>
            <a:off x="6394704" y="2184400"/>
            <a:ext cx="5193792" cy="1267778"/>
            <a:chOff x="6394704" y="2184400"/>
            <a:chExt cx="5193792" cy="1267778"/>
          </a:xfrm>
        </p:grpSpPr>
        <p:sp>
          <p:nvSpPr>
            <p:cNvPr id="10" name="TextBox 10"/>
            <p:cNvSpPr txBox="1"/>
            <p:nvPr/>
          </p:nvSpPr>
          <p:spPr>
            <a:xfrm>
              <a:off x="6395085" y="2184400"/>
              <a:ext cx="3436665"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DECISIÓN POR UMBRAL DE PROBABILIDAD</a:t>
              </a:r>
            </a:p>
          </p:txBody>
        </p:sp>
        <p:sp>
          <p:nvSpPr>
            <p:cNvPr id="11" name="TextBox 11"/>
            <p:cNvSpPr txBox="1"/>
            <p:nvPr/>
          </p:nvSpPr>
          <p:spPr>
            <a:xfrm>
              <a:off x="10122219" y="2419350"/>
              <a:ext cx="937258" cy="234696"/>
            </a:xfrm>
            <a:prstGeom prst="rect">
              <a:avLst/>
            </a:prstGeom>
            <a:noFill/>
            <a:ln>
              <a:noFill/>
            </a:ln>
          </p:spPr>
          <p:txBody>
            <a:bodyPr wrap="none" lIns="0" tIns="0" rIns="0" bIns="0" anchor="t" anchorCtr="0">
              <a:spAutoFit/>
            </a:bodyPr>
            <a:lstStyle/>
            <a:p>
              <a:pPr algn="ctr"/>
              <a:r>
                <a:rPr lang="es-419" sz="1200" dirty="0">
                  <a:solidFill>
                    <a:schemeClr val="accent1"/>
                  </a:solidFill>
                  <a:latin typeface="+mn-lt"/>
                  <a:ea typeface="+mn-ea"/>
                  <a:cs typeface="+mn-cs"/>
                </a:rPr>
                <a:t>ejemplo 0,81</a:t>
              </a:r>
            </a:p>
          </p:txBody>
        </p:sp>
        <p:sp>
          <p:nvSpPr>
            <p:cNvPr id="12" name="Rectangle 12"/>
            <p:cNvSpPr/>
            <p:nvPr/>
          </p:nvSpPr>
          <p:spPr>
            <a:xfrm>
              <a:off x="6400800" y="2686050"/>
              <a:ext cx="1554480" cy="304800"/>
            </a:xfrm>
            <a:prstGeom prst="rect">
              <a:avLst/>
            </a:prstGeom>
            <a:solidFill>
              <a:schemeClr val="accent6"/>
            </a:solidFill>
            <a:ln>
              <a:noFill/>
            </a:ln>
          </p:spPr>
        </p:sp>
        <p:sp>
          <p:nvSpPr>
            <p:cNvPr id="13" name="Rectangle 13"/>
            <p:cNvSpPr/>
            <p:nvPr/>
          </p:nvSpPr>
          <p:spPr>
            <a:xfrm>
              <a:off x="7955280" y="2686050"/>
              <a:ext cx="1036320" cy="304800"/>
            </a:xfrm>
            <a:prstGeom prst="rect">
              <a:avLst/>
            </a:prstGeom>
            <a:solidFill>
              <a:schemeClr val="accent3"/>
            </a:solidFill>
            <a:ln>
              <a:noFill/>
            </a:ln>
          </p:spPr>
        </p:sp>
        <p:sp>
          <p:nvSpPr>
            <p:cNvPr id="14" name="Rectangle 14"/>
            <p:cNvSpPr/>
            <p:nvPr/>
          </p:nvSpPr>
          <p:spPr>
            <a:xfrm>
              <a:off x="8991600" y="2686050"/>
              <a:ext cx="2590800" cy="304800"/>
            </a:xfrm>
            <a:prstGeom prst="rect">
              <a:avLst/>
            </a:prstGeom>
            <a:solidFill>
              <a:schemeClr val="accent2"/>
            </a:solidFill>
            <a:ln>
              <a:noFill/>
            </a:ln>
          </p:spPr>
        </p:sp>
        <p:sp>
          <p:nvSpPr>
            <p:cNvPr id="15" name="Line 15"/>
            <p:cNvSpPr/>
            <p:nvPr/>
          </p:nvSpPr>
          <p:spPr>
            <a:xfrm>
              <a:off x="10590848" y="2628900"/>
              <a:ext cx="9525" cy="419100"/>
            </a:xfrm>
            <a:custGeom>
              <a:avLst/>
              <a:gdLst/>
              <a:ahLst/>
              <a:cxnLst/>
              <a:rect l="l" t="t" r="r" b="b"/>
              <a:pathLst>
                <a:path w="9525" h="419100">
                  <a:moveTo>
                    <a:pt x="0" y="0"/>
                  </a:moveTo>
                  <a:lnTo>
                    <a:pt x="0" y="419100"/>
                  </a:lnTo>
                </a:path>
              </a:pathLst>
            </a:custGeom>
            <a:noFill/>
            <a:ln w="28575">
              <a:solidFill>
                <a:schemeClr val="accent1"/>
              </a:solidFill>
            </a:ln>
          </p:spPr>
        </p:sp>
        <p:grpSp>
          <p:nvGrpSpPr>
            <p:cNvPr id="20" name="Group 20"/>
            <p:cNvGrpSpPr/>
            <p:nvPr/>
          </p:nvGrpSpPr>
          <p:grpSpPr>
            <a:xfrm>
              <a:off x="6394704" y="3028950"/>
              <a:ext cx="5193792" cy="234696"/>
              <a:chOff x="6394704" y="3028950"/>
              <a:chExt cx="5193792" cy="234696"/>
            </a:xfrm>
          </p:grpSpPr>
          <p:sp>
            <p:nvSpPr>
              <p:cNvPr id="16" name="TextBox 16"/>
              <p:cNvSpPr txBox="1"/>
              <p:nvPr/>
            </p:nvSpPr>
            <p:spPr>
              <a:xfrm>
                <a:off x="6394704" y="3028950"/>
                <a:ext cx="10204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0</a:t>
                </a:r>
              </a:p>
            </p:txBody>
          </p:sp>
          <p:sp>
            <p:nvSpPr>
              <p:cNvPr id="17" name="TextBox 17"/>
              <p:cNvSpPr txBox="1"/>
              <p:nvPr/>
            </p:nvSpPr>
            <p:spPr>
              <a:xfrm>
                <a:off x="7791969" y="3028950"/>
                <a:ext cx="326621" cy="234696"/>
              </a:xfrm>
              <a:prstGeom prst="rect">
                <a:avLst/>
              </a:prstGeom>
              <a:noFill/>
              <a:ln>
                <a:noFill/>
              </a:ln>
            </p:spPr>
            <p:txBody>
              <a:bodyPr wrap="none" lIns="0" tIns="0" rIns="0" bIns="0" anchor="t" anchorCtr="0">
                <a:spAutoFit/>
              </a:bodyPr>
              <a:lstStyle/>
              <a:p>
                <a:pPr algn="ctr"/>
                <a:r>
                  <a:rPr lang="es-419" sz="1200" dirty="0">
                    <a:solidFill>
                      <a:schemeClr val="accent5"/>
                    </a:solidFill>
                    <a:latin typeface="+mn-lt"/>
                    <a:ea typeface="+mn-ea"/>
                    <a:cs typeface="+mn-cs"/>
                  </a:rPr>
                  <a:t>0,30</a:t>
                </a:r>
              </a:p>
            </p:txBody>
          </p:sp>
          <p:sp>
            <p:nvSpPr>
              <p:cNvPr id="18" name="TextBox 18"/>
              <p:cNvSpPr txBox="1"/>
              <p:nvPr/>
            </p:nvSpPr>
            <p:spPr>
              <a:xfrm>
                <a:off x="8828289" y="3028950"/>
                <a:ext cx="326621" cy="234696"/>
              </a:xfrm>
              <a:prstGeom prst="rect">
                <a:avLst/>
              </a:prstGeom>
              <a:noFill/>
              <a:ln>
                <a:noFill/>
              </a:ln>
            </p:spPr>
            <p:txBody>
              <a:bodyPr wrap="none" lIns="0" tIns="0" rIns="0" bIns="0" anchor="t" anchorCtr="0">
                <a:spAutoFit/>
              </a:bodyPr>
              <a:lstStyle/>
              <a:p>
                <a:pPr algn="ctr"/>
                <a:r>
                  <a:rPr lang="es-419" sz="1200" dirty="0">
                    <a:solidFill>
                      <a:schemeClr val="accent5"/>
                    </a:solidFill>
                    <a:latin typeface="+mn-lt"/>
                    <a:ea typeface="+mn-ea"/>
                    <a:cs typeface="+mn-cs"/>
                  </a:rPr>
                  <a:t>0,50</a:t>
                </a:r>
              </a:p>
            </p:txBody>
          </p:sp>
          <p:sp>
            <p:nvSpPr>
              <p:cNvPr id="19" name="TextBox 19"/>
              <p:cNvSpPr txBox="1"/>
              <p:nvPr/>
            </p:nvSpPr>
            <p:spPr>
              <a:xfrm>
                <a:off x="11486453" y="3028950"/>
                <a:ext cx="102043"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1</a:t>
                </a:r>
              </a:p>
            </p:txBody>
          </p:sp>
        </p:grpSp>
        <p:grpSp>
          <p:nvGrpSpPr>
            <p:cNvPr id="24" name="Group 24"/>
            <p:cNvGrpSpPr/>
            <p:nvPr/>
          </p:nvGrpSpPr>
          <p:grpSpPr>
            <a:xfrm>
              <a:off x="6395085" y="3232150"/>
              <a:ext cx="5193030" cy="220028"/>
              <a:chOff x="6395085" y="3232150"/>
              <a:chExt cx="5193030" cy="220028"/>
            </a:xfrm>
          </p:grpSpPr>
          <p:sp>
            <p:nvSpPr>
              <p:cNvPr id="21" name="TextBox 21"/>
              <p:cNvSpPr txBox="1"/>
              <p:nvPr/>
            </p:nvSpPr>
            <p:spPr>
              <a:xfrm>
                <a:off x="6395085" y="3232150"/>
                <a:ext cx="613203" cy="220028"/>
              </a:xfrm>
              <a:prstGeom prst="rect">
                <a:avLst/>
              </a:prstGeom>
              <a:noFill/>
              <a:ln>
                <a:noFill/>
              </a:ln>
            </p:spPr>
            <p:txBody>
              <a:bodyPr wrap="none" lIns="0" tIns="0" rIns="0" bIns="0" anchor="t" anchorCtr="0">
                <a:spAutoFit/>
              </a:bodyPr>
              <a:lstStyle/>
              <a:p>
                <a:pPr algn="l"/>
                <a:r>
                  <a:rPr lang="es-419" sz="1120" b="1" dirty="0">
                    <a:solidFill>
                      <a:schemeClr val="accent1"/>
                    </a:solidFill>
                    <a:latin typeface="+mn-lt"/>
                    <a:ea typeface="+mn-ea"/>
                    <a:cs typeface="+mn-cs"/>
                  </a:rPr>
                  <a:t>RUTINA</a:t>
                </a:r>
              </a:p>
            </p:txBody>
          </p:sp>
          <p:sp>
            <p:nvSpPr>
              <p:cNvPr id="22" name="TextBox 22"/>
              <p:cNvSpPr txBox="1"/>
              <p:nvPr/>
            </p:nvSpPr>
            <p:spPr>
              <a:xfrm>
                <a:off x="7910112" y="3232150"/>
                <a:ext cx="1126655" cy="220028"/>
              </a:xfrm>
              <a:prstGeom prst="rect">
                <a:avLst/>
              </a:prstGeom>
              <a:noFill/>
              <a:ln>
                <a:noFill/>
              </a:ln>
            </p:spPr>
            <p:txBody>
              <a:bodyPr wrap="none" lIns="0" tIns="0" rIns="0" bIns="0" anchor="t" anchorCtr="0">
                <a:spAutoFit/>
              </a:bodyPr>
              <a:lstStyle/>
              <a:p>
                <a:pPr algn="ctr"/>
                <a:r>
                  <a:rPr lang="es-419" sz="1120" b="1" dirty="0">
                    <a:solidFill>
                      <a:schemeClr val="accent1"/>
                    </a:solidFill>
                    <a:latin typeface="+mn-lt"/>
                    <a:ea typeface="+mn-ea"/>
                    <a:cs typeface="+mn-cs"/>
                  </a:rPr>
                  <a:t>SEGUIMIENTO</a:t>
                </a:r>
              </a:p>
            </p:txBody>
          </p:sp>
          <p:sp>
            <p:nvSpPr>
              <p:cNvPr id="23" name="TextBox 23"/>
              <p:cNvSpPr txBox="1"/>
              <p:nvPr/>
            </p:nvSpPr>
            <p:spPr>
              <a:xfrm>
                <a:off x="9532020" y="3232150"/>
                <a:ext cx="2056095" cy="220028"/>
              </a:xfrm>
              <a:prstGeom prst="rect">
                <a:avLst/>
              </a:prstGeom>
              <a:noFill/>
              <a:ln>
                <a:noFill/>
              </a:ln>
            </p:spPr>
            <p:txBody>
              <a:bodyPr wrap="none" lIns="0" tIns="0" rIns="0" bIns="0" anchor="t" anchorCtr="0">
                <a:spAutoFit/>
              </a:bodyPr>
              <a:lstStyle/>
              <a:p>
                <a:pPr algn="r"/>
                <a:r>
                  <a:rPr lang="es-419" sz="1120" b="1" dirty="0">
                    <a:solidFill>
                      <a:schemeClr val="accent1"/>
                    </a:solidFill>
                    <a:latin typeface="+mn-lt"/>
                    <a:ea typeface="+mn-ea"/>
                    <a:cs typeface="+mn-cs"/>
                  </a:rPr>
                  <a:t>PROGRAMA PREVENCIÓN</a:t>
                </a:r>
              </a:p>
            </p:txBody>
          </p:sp>
        </p:grpSp>
      </p:grpSp>
      <p:grpSp>
        <p:nvGrpSpPr>
          <p:cNvPr id="27" name="entrada-segura"/>
          <p:cNvGrpSpPr/>
          <p:nvPr/>
        </p:nvGrpSpPr>
        <p:grpSpPr>
          <a:xfrm>
            <a:off x="6392418" y="3575050"/>
            <a:ext cx="4163926" cy="608457"/>
            <a:chOff x="6392418" y="3575050"/>
            <a:chExt cx="4163926" cy="608457"/>
          </a:xfrm>
        </p:grpSpPr>
        <p:sp>
          <p:nvSpPr>
            <p:cNvPr id="26" name="TextBox 26"/>
            <p:cNvSpPr txBox="1"/>
            <p:nvPr/>
          </p:nvSpPr>
          <p:spPr>
            <a:xfrm>
              <a:off x="6392418" y="3575050"/>
              <a:ext cx="4163926" cy="608457"/>
            </a:xfrm>
            <a:prstGeom prst="rect">
              <a:avLst/>
            </a:prstGeom>
            <a:noFill/>
            <a:ln>
              <a:noFill/>
            </a:ln>
          </p:spPr>
          <p:txBody>
            <a:bodyPr wrap="none" lIns="0" tIns="0" rIns="0" bIns="0" anchor="t" anchorCtr="0">
              <a:spAutoFit/>
            </a:bodyPr>
            <a:lstStyle/>
            <a:p>
              <a:pPr algn="l">
                <a:lnSpc>
                  <a:spcPts val="2250"/>
                </a:lnSpc>
              </a:pPr>
              <a:r>
                <a:rPr lang="es-419" sz="1650" dirty="0">
                  <a:solidFill>
                    <a:schemeClr val="dk1"/>
                  </a:solidFill>
                  <a:latin typeface="+mn-lt"/>
                  <a:ea typeface="+mn-ea"/>
                  <a:cs typeface="+mn-cs"/>
                </a:rPr>
                <a:t>IMC opcional: si falta, se imputa el promedio</a:t>
              </a:r>
              <a:br>
                <a:rPr lang="es-419" sz="1650" dirty="0">
                  <a:solidFill>
                    <a:schemeClr val="dk1"/>
                  </a:solidFill>
                  <a:latin typeface="+mn-lt"/>
                  <a:ea typeface="+mn-ea"/>
                  <a:cs typeface="+mn-cs"/>
                </a:rPr>
              </a:br>
              <a:r>
                <a:rPr lang="es-419" sz="1650" dirty="0">
                  <a:solidFill>
                    <a:schemeClr val="dk1"/>
                  </a:solidFill>
                  <a:latin typeface="+mn-lt"/>
                  <a:ea typeface="+mn-ea"/>
                  <a:cs typeface="+mn-cs"/>
                </a:rPr>
                <a:t>Pydantic rechaza datos fuera de rango (422)</a:t>
              </a:r>
            </a:p>
          </p:txBody>
        </p:sp>
      </p:grpSp>
      <p:grpSp>
        <p:nvGrpSpPr>
          <p:cNvPr id="39" name="cicd"/>
          <p:cNvGrpSpPr/>
          <p:nvPr/>
        </p:nvGrpSpPr>
        <p:grpSpPr>
          <a:xfrm>
            <a:off x="6394704" y="4413250"/>
            <a:ext cx="5187696" cy="1199896"/>
            <a:chOff x="6394704" y="4413250"/>
            <a:chExt cx="5187696" cy="1199896"/>
          </a:xfrm>
        </p:grpSpPr>
        <p:sp>
          <p:nvSpPr>
            <p:cNvPr id="28" name="TextBox 28"/>
            <p:cNvSpPr txBox="1"/>
            <p:nvPr/>
          </p:nvSpPr>
          <p:spPr>
            <a:xfrm>
              <a:off x="6395085" y="4413250"/>
              <a:ext cx="2109145"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CI/CD Y PRE-PRODUCCIÓN</a:t>
              </a:r>
            </a:p>
          </p:txBody>
        </p:sp>
        <p:grpSp>
          <p:nvGrpSpPr>
            <p:cNvPr id="35" name="Group 35"/>
            <p:cNvGrpSpPr/>
            <p:nvPr/>
          </p:nvGrpSpPr>
          <p:grpSpPr>
            <a:xfrm>
              <a:off x="6400800" y="4686300"/>
              <a:ext cx="5181600" cy="381000"/>
              <a:chOff x="6400800" y="4686300"/>
              <a:chExt cx="5181600" cy="381000"/>
            </a:xfrm>
          </p:grpSpPr>
          <p:sp>
            <p:nvSpPr>
              <p:cNvPr id="29" name="Rectangle 29"/>
              <p:cNvSpPr/>
              <p:nvPr/>
            </p:nvSpPr>
            <p:spPr>
              <a:xfrm>
                <a:off x="6400800" y="4686300"/>
                <a:ext cx="1524000" cy="381000"/>
              </a:xfrm>
              <a:prstGeom prst="rect">
                <a:avLst/>
              </a:prstGeom>
              <a:solidFill>
                <a:schemeClr val="lt2"/>
              </a:solidFill>
              <a:ln>
                <a:noFill/>
              </a:ln>
            </p:spPr>
          </p:sp>
          <p:sp>
            <p:nvSpPr>
              <p:cNvPr id="30" name="TextBox 30"/>
              <p:cNvSpPr txBox="1"/>
              <p:nvPr/>
            </p:nvSpPr>
            <p:spPr>
              <a:xfrm>
                <a:off x="6579184" y="4794250"/>
                <a:ext cx="1167232"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Consolas"/>
                    <a:ea typeface="Consolas"/>
                    <a:cs typeface="Consolas"/>
                  </a:rPr>
                  <a:t>lint-and-test</a:t>
                </a:r>
              </a:p>
            </p:txBody>
          </p:sp>
          <p:sp>
            <p:nvSpPr>
              <p:cNvPr id="31" name="Rectangle 31"/>
              <p:cNvSpPr/>
              <p:nvPr/>
            </p:nvSpPr>
            <p:spPr>
              <a:xfrm>
                <a:off x="8229600" y="4686300"/>
                <a:ext cx="1524000" cy="381000"/>
              </a:xfrm>
              <a:prstGeom prst="rect">
                <a:avLst/>
              </a:prstGeom>
              <a:solidFill>
                <a:schemeClr val="lt2"/>
              </a:solidFill>
              <a:ln>
                <a:noFill/>
              </a:ln>
            </p:spPr>
          </p:sp>
          <p:sp>
            <p:nvSpPr>
              <p:cNvPr id="32" name="TextBox 32"/>
              <p:cNvSpPr txBox="1"/>
              <p:nvPr/>
            </p:nvSpPr>
            <p:spPr>
              <a:xfrm>
                <a:off x="8496833" y="4794250"/>
                <a:ext cx="989533"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Consolas"/>
                    <a:ea typeface="Consolas"/>
                    <a:cs typeface="Consolas"/>
                  </a:rPr>
                  <a:t>ml-pipeline</a:t>
                </a:r>
              </a:p>
            </p:txBody>
          </p:sp>
          <p:sp>
            <p:nvSpPr>
              <p:cNvPr id="33" name="Rectangle 33"/>
              <p:cNvSpPr/>
              <p:nvPr/>
            </p:nvSpPr>
            <p:spPr>
              <a:xfrm>
                <a:off x="10058400" y="4686300"/>
                <a:ext cx="1524000" cy="381000"/>
              </a:xfrm>
              <a:prstGeom prst="rect">
                <a:avLst/>
              </a:prstGeom>
              <a:solidFill>
                <a:schemeClr val="lt2"/>
              </a:solidFill>
              <a:ln>
                <a:noFill/>
              </a:ln>
            </p:spPr>
          </p:sp>
          <p:sp>
            <p:nvSpPr>
              <p:cNvPr id="34" name="TextBox 34"/>
              <p:cNvSpPr txBox="1"/>
              <p:nvPr/>
            </p:nvSpPr>
            <p:spPr>
              <a:xfrm>
                <a:off x="10281209" y="4794250"/>
                <a:ext cx="1078382" cy="234696"/>
              </a:xfrm>
              <a:prstGeom prst="rect">
                <a:avLst/>
              </a:prstGeom>
              <a:noFill/>
              <a:ln>
                <a:noFill/>
              </a:ln>
            </p:spPr>
            <p:txBody>
              <a:bodyPr wrap="none" lIns="0" tIns="0" rIns="0" bIns="0" anchor="t" anchorCtr="0">
                <a:spAutoFit/>
              </a:bodyPr>
              <a:lstStyle/>
              <a:p>
                <a:pPr algn="ctr"/>
                <a:r>
                  <a:rPr lang="es-419" sz="1200" b="1" dirty="0">
                    <a:solidFill>
                      <a:schemeClr val="accent1"/>
                    </a:solidFill>
                    <a:latin typeface="Consolas"/>
                    <a:ea typeface="Consolas"/>
                    <a:cs typeface="Consolas"/>
                  </a:rPr>
                  <a:t>build-docker</a:t>
                </a:r>
              </a:p>
            </p:txBody>
          </p:sp>
        </p:grpSp>
        <p:sp>
          <p:nvSpPr>
            <p:cNvPr id="36" name="Line 36"/>
            <p:cNvSpPr/>
            <p:nvPr/>
          </p:nvSpPr>
          <p:spPr>
            <a:xfrm>
              <a:off x="7924800" y="4876800"/>
              <a:ext cx="285750" cy="1"/>
            </a:xfrm>
            <a:prstGeom prst="line">
              <a:avLst/>
            </a:prstGeom>
            <a:noFill/>
            <a:ln w="19050">
              <a:solidFill>
                <a:srgbClr val="5B6470"/>
              </a:solidFill>
              <a:tailEnd type="triangle" w="lg" len="lg"/>
            </a:ln>
          </p:spPr>
        </p:sp>
        <p:sp>
          <p:nvSpPr>
            <p:cNvPr id="37" name="Line 37"/>
            <p:cNvSpPr/>
            <p:nvPr/>
          </p:nvSpPr>
          <p:spPr>
            <a:xfrm>
              <a:off x="9753600" y="4876800"/>
              <a:ext cx="285750" cy="1"/>
            </a:xfrm>
            <a:prstGeom prst="line">
              <a:avLst/>
            </a:prstGeom>
            <a:noFill/>
            <a:ln w="19050">
              <a:solidFill>
                <a:srgbClr val="5B6470"/>
              </a:solidFill>
              <a:tailEnd type="triangle" w="lg" len="lg"/>
            </a:ln>
          </p:spPr>
        </p:sp>
        <p:sp>
          <p:nvSpPr>
            <p:cNvPr id="38" name="TextBox 38"/>
            <p:cNvSpPr txBox="1"/>
            <p:nvPr/>
          </p:nvSpPr>
          <p:spPr>
            <a:xfrm>
              <a:off x="6394704" y="5168900"/>
              <a:ext cx="4213586" cy="44424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5"/>
                  </a:solidFill>
                  <a:latin typeface="+mn-lt"/>
                  <a:ea typeface="+mn-ea"/>
                  <a:cs typeface="+mn-cs"/>
                </a:rPr>
                <a:t>Smoke tests contra el contenedor en cada push</a:t>
              </a:r>
              <a:br>
                <a:rPr lang="es-419" sz="1200" dirty="0">
                  <a:solidFill>
                    <a:schemeClr val="accent5"/>
                  </a:solidFill>
                  <a:latin typeface="+mn-lt"/>
                  <a:ea typeface="+mn-ea"/>
                  <a:cs typeface="+mn-cs"/>
                </a:rPr>
              </a:br>
              <a:r>
                <a:rPr lang="es-419" sz="1200" dirty="0">
                  <a:solidFill>
                    <a:schemeClr val="accent5"/>
                  </a:solidFill>
                  <a:latin typeface="+mn-lt"/>
                  <a:ea typeface="+mn-ea"/>
                  <a:cs typeface="+mn-cs"/>
                </a:rPr>
                <a:t>Pre-prod: mlflow → trainer → api, que carga desde el Registry</a:t>
              </a:r>
            </a:p>
          </p:txBody>
        </p:sp>
      </p:grpSp>
      <p:grpSp>
        <p:nvGrpSpPr>
          <p:cNvPr id="42" name="footer"/>
          <p:cNvGrpSpPr/>
          <p:nvPr/>
        </p:nvGrpSpPr>
        <p:grpSpPr>
          <a:xfrm>
            <a:off x="603504" y="6381750"/>
            <a:ext cx="10984992" cy="234696"/>
            <a:chOff x="603504" y="6381750"/>
            <a:chExt cx="10984992" cy="234696"/>
          </a:xfrm>
        </p:grpSpPr>
        <p:sp>
          <p:nvSpPr>
            <p:cNvPr id="40" name="TextBox 40"/>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41" name="TextBox 41"/>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08 / 10</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2206514"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08 · MONITOREO · UNIDAD 9</a:t>
              </a:r>
            </a:p>
          </p:txBody>
        </p:sp>
        <p:sp>
          <p:nvSpPr>
            <p:cNvPr id="3" name="TextBox 3"/>
            <p:cNvSpPr txBox="1"/>
            <p:nvPr/>
          </p:nvSpPr>
          <p:spPr>
            <a:xfrm>
              <a:off x="594360" y="850900"/>
              <a:ext cx="6509537"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El monitoreo semanal avisa cuando</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la población de asegurados cambia</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7" name="grafico-psi"/>
          <p:cNvGrpSpPr/>
          <p:nvPr/>
        </p:nvGrpSpPr>
        <p:grpSpPr>
          <a:xfrm>
            <a:off x="609600" y="2155627"/>
            <a:ext cx="7048500" cy="3137297"/>
            <a:chOff x="609600" y="2155627"/>
            <a:chExt cx="7048500" cy="3137297"/>
          </a:xfrm>
        </p:grpSpPr>
        <p:pic>
          <p:nvPicPr>
            <p:cNvPr id="6" name="Image 6"/>
            <p:cNvPicPr>
              <a:picLocks noChangeAspect="1"/>
            </p:cNvPicPr>
            <p:nvPr/>
          </p:nvPicPr>
          <p:blipFill>
            <a:blip r:embed="rId2"/>
            <a:stretch>
              <a:fillRect/>
            </a:stretch>
          </p:blipFill>
          <p:spPr>
            <a:xfrm>
              <a:off x="609600" y="2155627"/>
              <a:ext cx="7048500" cy="3137297"/>
            </a:xfrm>
            <a:prstGeom prst="rect">
              <a:avLst/>
            </a:prstGeom>
          </p:spPr>
        </p:pic>
      </p:grpSp>
      <p:grpSp>
        <p:nvGrpSpPr>
          <p:cNvPr id="14" name="lote-simulado"/>
          <p:cNvGrpSpPr/>
          <p:nvPr/>
        </p:nvGrpSpPr>
        <p:grpSpPr>
          <a:xfrm>
            <a:off x="7992618" y="2184400"/>
            <a:ext cx="3573750" cy="1783207"/>
            <a:chOff x="7992618" y="2184400"/>
            <a:chExt cx="3573750" cy="1783207"/>
          </a:xfrm>
        </p:grpSpPr>
        <p:sp>
          <p:nvSpPr>
            <p:cNvPr id="8" name="TextBox 8"/>
            <p:cNvSpPr txBox="1"/>
            <p:nvPr/>
          </p:nvSpPr>
          <p:spPr>
            <a:xfrm>
              <a:off x="7995285" y="2184400"/>
              <a:ext cx="3286182"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LOTE SIMULADO · DATOS DE ESCENARIO</a:t>
              </a:r>
            </a:p>
          </p:txBody>
        </p:sp>
        <p:sp>
          <p:nvSpPr>
            <p:cNvPr id="9" name="TextBox 9"/>
            <p:cNvSpPr txBox="1"/>
            <p:nvPr/>
          </p:nvSpPr>
          <p:spPr>
            <a:xfrm>
              <a:off x="7992618" y="2451100"/>
              <a:ext cx="2451484" cy="608457"/>
            </a:xfrm>
            <a:prstGeom prst="rect">
              <a:avLst/>
            </a:prstGeom>
            <a:noFill/>
            <a:ln>
              <a:noFill/>
            </a:ln>
          </p:spPr>
          <p:txBody>
            <a:bodyPr wrap="none" lIns="0" tIns="0" rIns="0" bIns="0" anchor="t" anchorCtr="0">
              <a:spAutoFit/>
            </a:bodyPr>
            <a:lstStyle/>
            <a:p>
              <a:pPr algn="l">
                <a:lnSpc>
                  <a:spcPts val="2250"/>
                </a:lnSpc>
              </a:pPr>
              <a:r>
                <a:rPr lang="es-419" sz="1650" dirty="0">
                  <a:solidFill>
                    <a:schemeClr val="dk1"/>
                  </a:solidFill>
                  <a:latin typeface="+mn-lt"/>
                  <a:ea typeface="+mn-ea"/>
                  <a:cs typeface="+mn-cs"/>
                </a:rPr>
                <a:t>Población más envejecida</a:t>
              </a:r>
              <a:br>
                <a:rPr lang="es-419" sz="1650" dirty="0">
                  <a:solidFill>
                    <a:schemeClr val="dk1"/>
                  </a:solidFill>
                  <a:latin typeface="+mn-lt"/>
                  <a:ea typeface="+mn-ea"/>
                  <a:cs typeface="+mn-cs"/>
                </a:rPr>
              </a:br>
              <a:r>
                <a:rPr lang="es-419" sz="1650" dirty="0">
                  <a:solidFill>
                    <a:schemeClr val="dk1"/>
                  </a:solidFill>
                  <a:latin typeface="+mn-lt"/>
                  <a:ea typeface="+mn-ea"/>
                  <a:cs typeface="+mn-cs"/>
                </a:rPr>
                <a:t>y con más diabetes</a:t>
              </a:r>
            </a:p>
          </p:txBody>
        </p:sp>
        <p:sp>
          <p:nvSpPr>
            <p:cNvPr id="10" name="Freeform 10"/>
            <p:cNvSpPr/>
            <p:nvPr/>
          </p:nvSpPr>
          <p:spPr>
            <a:xfrm>
              <a:off x="8010538" y="3257058"/>
              <a:ext cx="247496" cy="214761"/>
            </a:xfrm>
            <a:custGeom>
              <a:avLst/>
              <a:gdLst/>
              <a:ahLst/>
              <a:cxnLst/>
              <a:rect l="l" t="t" r="r" b="b"/>
              <a:pathLst>
                <a:path w="247496" h="214761">
                  <a:moveTo>
                    <a:pt x="123812" y="0"/>
                  </a:moveTo>
                  <a:cubicBezTo>
                    <a:pt x="134425" y="0"/>
                    <a:pt x="144315" y="5190"/>
                    <a:pt x="150371" y="13857"/>
                  </a:cubicBezTo>
                  <a:lnTo>
                    <a:pt x="151538" y="15635"/>
                  </a:lnTo>
                  <a:lnTo>
                    <a:pt x="241705" y="166188"/>
                  </a:lnTo>
                  <a:cubicBezTo>
                    <a:pt x="247275" y="175835"/>
                    <a:pt x="247496" y="187668"/>
                    <a:pt x="242289" y="197516"/>
                  </a:cubicBezTo>
                  <a:cubicBezTo>
                    <a:pt x="237081" y="207364"/>
                    <a:pt x="227178" y="213844"/>
                    <a:pt x="216069" y="214672"/>
                  </a:cubicBezTo>
                  <a:lnTo>
                    <a:pt x="213902" y="214761"/>
                  </a:lnTo>
                  <a:lnTo>
                    <a:pt x="33601" y="214761"/>
                  </a:lnTo>
                  <a:cubicBezTo>
                    <a:pt x="22481" y="214636"/>
                    <a:pt x="12203" y="208813"/>
                    <a:pt x="6379" y="199340"/>
                  </a:cubicBezTo>
                  <a:cubicBezTo>
                    <a:pt x="555" y="189866"/>
                    <a:pt x="0" y="178067"/>
                    <a:pt x="4908" y="168088"/>
                  </a:cubicBezTo>
                  <a:lnTo>
                    <a:pt x="6009" y="166032"/>
                  </a:lnTo>
                  <a:lnTo>
                    <a:pt x="96131" y="15591"/>
                  </a:lnTo>
                  <a:cubicBezTo>
                    <a:pt x="102000" y="5914"/>
                    <a:pt x="112495" y="2"/>
                    <a:pt x="123812" y="0"/>
                  </a:cubicBezTo>
                  <a:close/>
                  <a:moveTo>
                    <a:pt x="123924" y="148130"/>
                  </a:moveTo>
                  <a:lnTo>
                    <a:pt x="122512" y="148208"/>
                  </a:lnTo>
                  <a:cubicBezTo>
                    <a:pt x="116922" y="148873"/>
                    <a:pt x="112712" y="153613"/>
                    <a:pt x="112712" y="159243"/>
                  </a:cubicBezTo>
                  <a:cubicBezTo>
                    <a:pt x="112712" y="164872"/>
                    <a:pt x="116922" y="169612"/>
                    <a:pt x="122512" y="170277"/>
                  </a:cubicBezTo>
                  <a:lnTo>
                    <a:pt x="123812" y="170355"/>
                  </a:lnTo>
                  <a:lnTo>
                    <a:pt x="125224" y="170277"/>
                  </a:lnTo>
                  <a:cubicBezTo>
                    <a:pt x="130814" y="169612"/>
                    <a:pt x="135024" y="164872"/>
                    <a:pt x="135024" y="159243"/>
                  </a:cubicBezTo>
                  <a:cubicBezTo>
                    <a:pt x="135024" y="153613"/>
                    <a:pt x="130814" y="148873"/>
                    <a:pt x="125224" y="148208"/>
                  </a:cubicBezTo>
                  <a:lnTo>
                    <a:pt x="123924" y="148130"/>
                  </a:lnTo>
                  <a:close/>
                  <a:moveTo>
                    <a:pt x="123812" y="70342"/>
                  </a:moveTo>
                  <a:cubicBezTo>
                    <a:pt x="118179" y="70343"/>
                    <a:pt x="113437" y="74560"/>
                    <a:pt x="112778" y="80155"/>
                  </a:cubicBezTo>
                  <a:lnTo>
                    <a:pt x="112700" y="81455"/>
                  </a:lnTo>
                  <a:lnTo>
                    <a:pt x="112700" y="125905"/>
                  </a:lnTo>
                  <a:lnTo>
                    <a:pt x="112778" y="127205"/>
                  </a:lnTo>
                  <a:cubicBezTo>
                    <a:pt x="113443" y="132795"/>
                    <a:pt x="118183" y="137005"/>
                    <a:pt x="123812" y="137005"/>
                  </a:cubicBezTo>
                  <a:cubicBezTo>
                    <a:pt x="129442" y="137005"/>
                    <a:pt x="134182" y="132795"/>
                    <a:pt x="134847" y="127205"/>
                  </a:cubicBezTo>
                  <a:lnTo>
                    <a:pt x="134925" y="125905"/>
                  </a:lnTo>
                  <a:lnTo>
                    <a:pt x="134925" y="81455"/>
                  </a:lnTo>
                  <a:lnTo>
                    <a:pt x="134847" y="80155"/>
                  </a:lnTo>
                  <a:cubicBezTo>
                    <a:pt x="134188" y="74560"/>
                    <a:pt x="129446" y="70343"/>
                    <a:pt x="123812" y="70342"/>
                  </a:cubicBezTo>
                  <a:close/>
                </a:path>
              </a:pathLst>
            </a:custGeom>
            <a:solidFill>
              <a:schemeClr val="accent2"/>
            </a:solidFill>
            <a:ln>
              <a:noFill/>
            </a:ln>
          </p:spPr>
        </p:sp>
        <p:sp>
          <p:nvSpPr>
            <p:cNvPr id="11" name="TextBox 11"/>
            <p:cNvSpPr txBox="1"/>
            <p:nvPr/>
          </p:nvSpPr>
          <p:spPr>
            <a:xfrm>
              <a:off x="8354568" y="3244850"/>
              <a:ext cx="2904537"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Edad: PSI 0,326 · CRÍTICO</a:t>
              </a:r>
            </a:p>
          </p:txBody>
        </p:sp>
        <p:sp>
          <p:nvSpPr>
            <p:cNvPr id="12" name="Freeform 12"/>
            <p:cNvSpPr/>
            <p:nvPr/>
          </p:nvSpPr>
          <p:spPr>
            <a:xfrm>
              <a:off x="8010538" y="3657108"/>
              <a:ext cx="247496" cy="214761"/>
            </a:xfrm>
            <a:custGeom>
              <a:avLst/>
              <a:gdLst/>
              <a:ahLst/>
              <a:cxnLst/>
              <a:rect l="l" t="t" r="r" b="b"/>
              <a:pathLst>
                <a:path w="247496" h="214761">
                  <a:moveTo>
                    <a:pt x="123812" y="0"/>
                  </a:moveTo>
                  <a:cubicBezTo>
                    <a:pt x="134425" y="0"/>
                    <a:pt x="144315" y="5190"/>
                    <a:pt x="150371" y="13857"/>
                  </a:cubicBezTo>
                  <a:lnTo>
                    <a:pt x="151538" y="15635"/>
                  </a:lnTo>
                  <a:lnTo>
                    <a:pt x="241705" y="166188"/>
                  </a:lnTo>
                  <a:cubicBezTo>
                    <a:pt x="247275" y="175835"/>
                    <a:pt x="247496" y="187668"/>
                    <a:pt x="242289" y="197516"/>
                  </a:cubicBezTo>
                  <a:cubicBezTo>
                    <a:pt x="237081" y="207364"/>
                    <a:pt x="227178" y="213844"/>
                    <a:pt x="216069" y="214672"/>
                  </a:cubicBezTo>
                  <a:lnTo>
                    <a:pt x="213902" y="214761"/>
                  </a:lnTo>
                  <a:lnTo>
                    <a:pt x="33601" y="214761"/>
                  </a:lnTo>
                  <a:cubicBezTo>
                    <a:pt x="22481" y="214636"/>
                    <a:pt x="12203" y="208813"/>
                    <a:pt x="6379" y="199340"/>
                  </a:cubicBezTo>
                  <a:cubicBezTo>
                    <a:pt x="555" y="189866"/>
                    <a:pt x="0" y="178067"/>
                    <a:pt x="4908" y="168088"/>
                  </a:cubicBezTo>
                  <a:lnTo>
                    <a:pt x="6009" y="166032"/>
                  </a:lnTo>
                  <a:lnTo>
                    <a:pt x="96131" y="15591"/>
                  </a:lnTo>
                  <a:cubicBezTo>
                    <a:pt x="102000" y="5914"/>
                    <a:pt x="112495" y="2"/>
                    <a:pt x="123812" y="0"/>
                  </a:cubicBezTo>
                  <a:close/>
                  <a:moveTo>
                    <a:pt x="123924" y="148130"/>
                  </a:moveTo>
                  <a:lnTo>
                    <a:pt x="122512" y="148208"/>
                  </a:lnTo>
                  <a:cubicBezTo>
                    <a:pt x="116922" y="148873"/>
                    <a:pt x="112712" y="153613"/>
                    <a:pt x="112712" y="159243"/>
                  </a:cubicBezTo>
                  <a:cubicBezTo>
                    <a:pt x="112712" y="164872"/>
                    <a:pt x="116922" y="169612"/>
                    <a:pt x="122512" y="170277"/>
                  </a:cubicBezTo>
                  <a:lnTo>
                    <a:pt x="123812" y="170355"/>
                  </a:lnTo>
                  <a:lnTo>
                    <a:pt x="125224" y="170277"/>
                  </a:lnTo>
                  <a:cubicBezTo>
                    <a:pt x="130814" y="169612"/>
                    <a:pt x="135024" y="164872"/>
                    <a:pt x="135024" y="159243"/>
                  </a:cubicBezTo>
                  <a:cubicBezTo>
                    <a:pt x="135024" y="153613"/>
                    <a:pt x="130814" y="148873"/>
                    <a:pt x="125224" y="148208"/>
                  </a:cubicBezTo>
                  <a:lnTo>
                    <a:pt x="123924" y="148130"/>
                  </a:lnTo>
                  <a:close/>
                  <a:moveTo>
                    <a:pt x="123812" y="70342"/>
                  </a:moveTo>
                  <a:cubicBezTo>
                    <a:pt x="118179" y="70343"/>
                    <a:pt x="113437" y="74560"/>
                    <a:pt x="112778" y="80155"/>
                  </a:cubicBezTo>
                  <a:lnTo>
                    <a:pt x="112700" y="81455"/>
                  </a:lnTo>
                  <a:lnTo>
                    <a:pt x="112700" y="125905"/>
                  </a:lnTo>
                  <a:lnTo>
                    <a:pt x="112778" y="127205"/>
                  </a:lnTo>
                  <a:cubicBezTo>
                    <a:pt x="113443" y="132795"/>
                    <a:pt x="118183" y="137005"/>
                    <a:pt x="123812" y="137005"/>
                  </a:cubicBezTo>
                  <a:cubicBezTo>
                    <a:pt x="129442" y="137005"/>
                    <a:pt x="134182" y="132795"/>
                    <a:pt x="134847" y="127205"/>
                  </a:cubicBezTo>
                  <a:lnTo>
                    <a:pt x="134925" y="125905"/>
                  </a:lnTo>
                  <a:lnTo>
                    <a:pt x="134925" y="81455"/>
                  </a:lnTo>
                  <a:lnTo>
                    <a:pt x="134847" y="80155"/>
                  </a:lnTo>
                  <a:cubicBezTo>
                    <a:pt x="134188" y="74560"/>
                    <a:pt x="129446" y="70343"/>
                    <a:pt x="123812" y="70342"/>
                  </a:cubicBezTo>
                  <a:close/>
                </a:path>
              </a:pathLst>
            </a:custGeom>
            <a:solidFill>
              <a:srgbClr val="FAB219"/>
            </a:solidFill>
            <a:ln>
              <a:noFill/>
            </a:ln>
          </p:spPr>
        </p:sp>
        <p:sp>
          <p:nvSpPr>
            <p:cNvPr id="13" name="TextBox 13"/>
            <p:cNvSpPr txBox="1"/>
            <p:nvPr/>
          </p:nvSpPr>
          <p:spPr>
            <a:xfrm>
              <a:off x="8354568" y="3644900"/>
              <a:ext cx="3211800"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Glucosa: PSI 0,195 · ALERTA</a:t>
              </a:r>
            </a:p>
          </p:txBody>
        </p:sp>
      </p:grpSp>
      <p:grpSp>
        <p:nvGrpSpPr>
          <p:cNvPr id="17" name="regla-reentrenamiento"/>
          <p:cNvGrpSpPr/>
          <p:nvPr/>
        </p:nvGrpSpPr>
        <p:grpSpPr>
          <a:xfrm>
            <a:off x="7994904" y="4203700"/>
            <a:ext cx="2543100" cy="895096"/>
            <a:chOff x="7994904" y="4203700"/>
            <a:chExt cx="2543100" cy="895096"/>
          </a:xfrm>
        </p:grpSpPr>
        <p:sp>
          <p:nvSpPr>
            <p:cNvPr id="15" name="TextBox 15"/>
            <p:cNvSpPr txBox="1"/>
            <p:nvPr/>
          </p:nvSpPr>
          <p:spPr>
            <a:xfrm>
              <a:off x="7995285" y="4203700"/>
              <a:ext cx="2542719"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REGLA DE RE-ENTRENAMIENTO</a:t>
              </a:r>
            </a:p>
          </p:txBody>
        </p:sp>
        <p:sp>
          <p:nvSpPr>
            <p:cNvPr id="16" name="TextBox 16"/>
            <p:cNvSpPr txBox="1"/>
            <p:nvPr/>
          </p:nvSpPr>
          <p:spPr>
            <a:xfrm>
              <a:off x="7994904" y="4445000"/>
              <a:ext cx="2510424" cy="653796"/>
            </a:xfrm>
            <a:prstGeom prst="rect">
              <a:avLst/>
            </a:prstGeom>
            <a:noFill/>
            <a:ln>
              <a:noFill/>
            </a:ln>
          </p:spPr>
          <p:txBody>
            <a:bodyPr wrap="none" lIns="0" tIns="0" rIns="0" bIns="0" anchor="t" anchorCtr="0">
              <a:spAutoFit/>
            </a:bodyPr>
            <a:lstStyle/>
            <a:p>
              <a:pPr algn="l">
                <a:lnSpc>
                  <a:spcPts val="1650"/>
                </a:lnSpc>
              </a:pPr>
              <a:r>
                <a:rPr lang="es-419" sz="1200" dirty="0">
                  <a:solidFill>
                    <a:schemeClr val="dk1"/>
                  </a:solidFill>
                  <a:latin typeface="+mn-lt"/>
                  <a:ea typeface="+mn-ea"/>
                  <a:cs typeface="+mn-cs"/>
                </a:rPr>
                <a:t>PSI ≥ 0,25 en alguna variable, o más</a:t>
              </a:r>
              <a:br>
                <a:rPr lang="es-419" sz="1200" dirty="0">
                  <a:solidFill>
                    <a:schemeClr val="dk1"/>
                  </a:solidFill>
                  <a:latin typeface="+mn-lt"/>
                  <a:ea typeface="+mn-ea"/>
                  <a:cs typeface="+mn-cs"/>
                </a:rPr>
              </a:br>
              <a:r>
                <a:rPr lang="es-419" sz="1200" dirty="0">
                  <a:solidFill>
                    <a:schemeClr val="dk1"/>
                  </a:solidFill>
                  <a:latin typeface="+mn-lt"/>
                  <a:ea typeface="+mn-ea"/>
                  <a:cs typeface="+mn-cs"/>
                </a:rPr>
                <a:t>del 30% de variables con drift:</a:t>
              </a:r>
              <a:br>
                <a:rPr lang="es-419" sz="1200" dirty="0">
                  <a:solidFill>
                    <a:schemeClr val="dk1"/>
                  </a:solidFill>
                  <a:latin typeface="+mn-lt"/>
                  <a:ea typeface="+mn-ea"/>
                  <a:cs typeface="+mn-cs"/>
                </a:rPr>
              </a:br>
              <a:r>
                <a:rPr lang="es-419" sz="1200" dirty="0">
                  <a:solidFill>
                    <a:schemeClr val="dk1"/>
                  </a:solidFill>
                  <a:latin typeface="+mn-lt"/>
                  <a:ea typeface="+mn-ea"/>
                  <a:cs typeface="+mn-cs"/>
                </a:rPr>
                <a:t>el job falla y GitHub avisa por email</a:t>
              </a:r>
            </a:p>
          </p:txBody>
        </p:sp>
      </p:grpSp>
      <p:grpSp>
        <p:nvGrpSpPr>
          <p:cNvPr id="22" name="cron"/>
          <p:cNvGrpSpPr/>
          <p:nvPr/>
        </p:nvGrpSpPr>
        <p:grpSpPr>
          <a:xfrm>
            <a:off x="609600" y="5486400"/>
            <a:ext cx="10972800" cy="685800"/>
            <a:chOff x="609600" y="5486400"/>
            <a:chExt cx="10972800" cy="685800"/>
          </a:xfrm>
        </p:grpSpPr>
        <p:sp>
          <p:nvSpPr>
            <p:cNvPr id="18" name="Rectangle 18"/>
            <p:cNvSpPr/>
            <p:nvPr/>
          </p:nvSpPr>
          <p:spPr>
            <a:xfrm>
              <a:off x="609600" y="5486400"/>
              <a:ext cx="10972800" cy="685800"/>
            </a:xfrm>
            <a:prstGeom prst="rect">
              <a:avLst/>
            </a:prstGeom>
            <a:solidFill>
              <a:schemeClr val="lt2"/>
            </a:solidFill>
            <a:ln>
              <a:noFill/>
            </a:ln>
          </p:spPr>
        </p:sp>
        <p:sp>
          <p:nvSpPr>
            <p:cNvPr id="19" name="Freeform 19"/>
            <p:cNvSpPr/>
            <p:nvPr/>
          </p:nvSpPr>
          <p:spPr>
            <a:xfrm>
              <a:off x="863600" y="5696611"/>
              <a:ext cx="267081" cy="267518"/>
            </a:xfrm>
            <a:custGeom>
              <a:avLst/>
              <a:gdLst/>
              <a:ahLst/>
              <a:cxnLst/>
              <a:rect l="l" t="t" r="r" b="b"/>
              <a:pathLst>
                <a:path w="267081" h="267518">
                  <a:moveTo>
                    <a:pt x="190500" y="22707"/>
                  </a:moveTo>
                  <a:cubicBezTo>
                    <a:pt x="243425" y="53266"/>
                    <a:pt x="267081" y="117187"/>
                    <a:pt x="246798" y="174837"/>
                  </a:cubicBezTo>
                  <a:cubicBezTo>
                    <a:pt x="226516" y="232488"/>
                    <a:pt x="168049" y="267518"/>
                    <a:pt x="107648" y="258207"/>
                  </a:cubicBezTo>
                  <a:cubicBezTo>
                    <a:pt x="47247" y="248896"/>
                    <a:pt x="2043" y="197886"/>
                    <a:pt x="63" y="136803"/>
                  </a:cubicBezTo>
                  <a:lnTo>
                    <a:pt x="0" y="132688"/>
                  </a:lnTo>
                  <a:lnTo>
                    <a:pt x="63" y="128574"/>
                  </a:lnTo>
                  <a:cubicBezTo>
                    <a:pt x="1510" y="83958"/>
                    <a:pt x="26274" y="43379"/>
                    <a:pt x="65289" y="21689"/>
                  </a:cubicBezTo>
                  <a:cubicBezTo>
                    <a:pt x="104304" y="0"/>
                    <a:pt x="151842" y="386"/>
                    <a:pt x="190500" y="22707"/>
                  </a:cubicBezTo>
                  <a:close/>
                  <a:moveTo>
                    <a:pt x="186778" y="72910"/>
                  </a:moveTo>
                  <a:cubicBezTo>
                    <a:pt x="181819" y="67952"/>
                    <a:pt x="173780" y="67952"/>
                    <a:pt x="168821" y="72910"/>
                  </a:cubicBezTo>
                  <a:lnTo>
                    <a:pt x="135928" y="105803"/>
                  </a:lnTo>
                  <a:lnTo>
                    <a:pt x="134874" y="106996"/>
                  </a:lnTo>
                  <a:lnTo>
                    <a:pt x="134010" y="108266"/>
                  </a:lnTo>
                  <a:cubicBezTo>
                    <a:pt x="126661" y="106159"/>
                    <a:pt x="118754" y="107472"/>
                    <a:pt x="112481" y="111841"/>
                  </a:cubicBezTo>
                  <a:cubicBezTo>
                    <a:pt x="106207" y="116211"/>
                    <a:pt x="102234" y="123172"/>
                    <a:pt x="101663" y="130796"/>
                  </a:cubicBezTo>
                  <a:lnTo>
                    <a:pt x="101600" y="132688"/>
                  </a:lnTo>
                  <a:lnTo>
                    <a:pt x="101663" y="134593"/>
                  </a:lnTo>
                  <a:cubicBezTo>
                    <a:pt x="102391" y="144260"/>
                    <a:pt x="108558" y="152670"/>
                    <a:pt x="117559" y="156270"/>
                  </a:cubicBezTo>
                  <a:cubicBezTo>
                    <a:pt x="126559" y="159870"/>
                    <a:pt x="136825" y="158033"/>
                    <a:pt x="144018" y="151535"/>
                  </a:cubicBezTo>
                  <a:cubicBezTo>
                    <a:pt x="151212" y="145036"/>
                    <a:pt x="154079" y="135010"/>
                    <a:pt x="151409" y="125691"/>
                  </a:cubicBezTo>
                  <a:cubicBezTo>
                    <a:pt x="152314" y="125156"/>
                    <a:pt x="153146" y="124507"/>
                    <a:pt x="153886" y="123760"/>
                  </a:cubicBezTo>
                  <a:lnTo>
                    <a:pt x="186778" y="90867"/>
                  </a:lnTo>
                  <a:lnTo>
                    <a:pt x="187833" y="89674"/>
                  </a:lnTo>
                  <a:cubicBezTo>
                    <a:pt x="191754" y="84618"/>
                    <a:pt x="191303" y="77434"/>
                    <a:pt x="186778" y="72910"/>
                  </a:cubicBezTo>
                  <a:close/>
                  <a:moveTo>
                    <a:pt x="127000" y="56489"/>
                  </a:moveTo>
                  <a:cubicBezTo>
                    <a:pt x="106790" y="56489"/>
                    <a:pt x="87409" y="64517"/>
                    <a:pt x="73118" y="78807"/>
                  </a:cubicBezTo>
                  <a:cubicBezTo>
                    <a:pt x="58828" y="93097"/>
                    <a:pt x="50800" y="112479"/>
                    <a:pt x="50800" y="132688"/>
                  </a:cubicBezTo>
                  <a:cubicBezTo>
                    <a:pt x="50800" y="139702"/>
                    <a:pt x="56486" y="145388"/>
                    <a:pt x="63500" y="145388"/>
                  </a:cubicBezTo>
                  <a:cubicBezTo>
                    <a:pt x="70514" y="145388"/>
                    <a:pt x="76200" y="139702"/>
                    <a:pt x="76200" y="132688"/>
                  </a:cubicBezTo>
                  <a:cubicBezTo>
                    <a:pt x="76200" y="104632"/>
                    <a:pt x="98944" y="81889"/>
                    <a:pt x="127000" y="81889"/>
                  </a:cubicBezTo>
                  <a:cubicBezTo>
                    <a:pt x="134014" y="81889"/>
                    <a:pt x="139700" y="76203"/>
                    <a:pt x="139700" y="69189"/>
                  </a:cubicBezTo>
                  <a:cubicBezTo>
                    <a:pt x="139700" y="62175"/>
                    <a:pt x="134014" y="56489"/>
                    <a:pt x="127000" y="56489"/>
                  </a:cubicBezTo>
                  <a:close/>
                </a:path>
              </a:pathLst>
            </a:custGeom>
            <a:solidFill>
              <a:schemeClr val="accent1"/>
            </a:solidFill>
            <a:ln>
              <a:noFill/>
            </a:ln>
          </p:spPr>
        </p:sp>
        <p:sp>
          <p:nvSpPr>
            <p:cNvPr id="20" name="TextBox 20"/>
            <p:cNvSpPr txBox="1"/>
            <p:nvPr/>
          </p:nvSpPr>
          <p:spPr>
            <a:xfrm>
              <a:off x="1287018" y="5568950"/>
              <a:ext cx="7556983" cy="322707"/>
            </a:xfrm>
            <a:prstGeom prst="rect">
              <a:avLst/>
            </a:prstGeom>
            <a:noFill/>
            <a:ln>
              <a:noFill/>
            </a:ln>
          </p:spPr>
          <p:txBody>
            <a:bodyPr wrap="none" lIns="0" tIns="0" rIns="0" bIns="0" anchor="t" anchorCtr="0">
              <a:spAutoFit/>
            </a:bodyPr>
            <a:lstStyle/>
            <a:p>
              <a:pPr algn="l"/>
              <a:r>
                <a:rPr lang="es-419" sz="1650" b="1" dirty="0">
                  <a:solidFill>
                    <a:schemeClr val="accent1"/>
                  </a:solidFill>
                  <a:latin typeface="+mn-lt"/>
                  <a:ea typeface="+mn-ea"/>
                  <a:cs typeface="+mn-cs"/>
                </a:rPr>
                <a:t>monitoreo_drift.yml corre cada lunes a las 8:00 UTC en GitHub Actions</a:t>
              </a:r>
            </a:p>
          </p:txBody>
        </p:sp>
        <p:sp>
          <p:nvSpPr>
            <p:cNvPr id="21" name="TextBox 21"/>
            <p:cNvSpPr txBox="1"/>
            <p:nvPr/>
          </p:nvSpPr>
          <p:spPr>
            <a:xfrm>
              <a:off x="1289304" y="5867400"/>
              <a:ext cx="585409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El modelo re-entrenado solo reemplaza al actual si aprueba el mismo quality gate</a:t>
              </a:r>
            </a:p>
          </p:txBody>
        </p:sp>
      </p:grpSp>
      <p:grpSp>
        <p:nvGrpSpPr>
          <p:cNvPr id="25" name="footer"/>
          <p:cNvGrpSpPr/>
          <p:nvPr/>
        </p:nvGrpSpPr>
        <p:grpSpPr>
          <a:xfrm>
            <a:off x="603504" y="6381750"/>
            <a:ext cx="10984992" cy="234696"/>
            <a:chOff x="603504" y="6381750"/>
            <a:chExt cx="10984992" cy="234696"/>
          </a:xfrm>
        </p:grpSpPr>
        <p:sp>
          <p:nvSpPr>
            <p:cNvPr id="23" name="TextBox 23"/>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24" name="TextBox 24"/>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09 / 10</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94360" y="584200"/>
            <a:ext cx="10988040" cy="1387475"/>
            <a:chOff x="594360" y="584200"/>
            <a:chExt cx="10988040" cy="1387475"/>
          </a:xfrm>
        </p:grpSpPr>
        <p:sp>
          <p:nvSpPr>
            <p:cNvPr id="2" name="TextBox 2"/>
            <p:cNvSpPr txBox="1"/>
            <p:nvPr/>
          </p:nvSpPr>
          <p:spPr>
            <a:xfrm>
              <a:off x="603885" y="584200"/>
              <a:ext cx="932139" cy="220028"/>
            </a:xfrm>
            <a:prstGeom prst="rect">
              <a:avLst/>
            </a:prstGeom>
            <a:noFill/>
            <a:ln>
              <a:noFill/>
            </a:ln>
          </p:spPr>
          <p:txBody>
            <a:bodyPr wrap="none" lIns="0" tIns="0" rIns="0" bIns="0" anchor="t" anchorCtr="0">
              <a:spAutoFit/>
            </a:bodyPr>
            <a:lstStyle/>
            <a:p>
              <a:pPr algn="l"/>
              <a:r>
                <a:rPr lang="es-419" sz="1120" b="1" dirty="0">
                  <a:solidFill>
                    <a:schemeClr val="accent5"/>
                  </a:solidFill>
                  <a:latin typeface="+mn-lt"/>
                  <a:ea typeface="+mn-ea"/>
                  <a:cs typeface="+mn-cs"/>
                </a:rPr>
                <a:t>09 · CIERRE</a:t>
              </a:r>
            </a:p>
          </p:txBody>
        </p:sp>
        <p:sp>
          <p:nvSpPr>
            <p:cNvPr id="3" name="TextBox 3"/>
            <p:cNvSpPr txBox="1"/>
            <p:nvPr/>
          </p:nvSpPr>
          <p:spPr>
            <a:xfrm>
              <a:off x="594360" y="850900"/>
              <a:ext cx="6063691" cy="1062990"/>
            </a:xfrm>
            <a:prstGeom prst="rect">
              <a:avLst/>
            </a:prstGeom>
            <a:noFill/>
            <a:ln>
              <a:noFill/>
            </a:ln>
          </p:spPr>
          <p:txBody>
            <a:bodyPr wrap="none" lIns="0" tIns="0" rIns="0" bIns="0" anchor="t" anchorCtr="0">
              <a:spAutoFit/>
            </a:bodyPr>
            <a:lstStyle/>
            <a:p>
              <a:pPr algn="l">
                <a:lnSpc>
                  <a:spcPts val="3750"/>
                </a:lnSpc>
              </a:pPr>
              <a:r>
                <a:rPr lang="es-419" sz="3000" b="1" dirty="0">
                  <a:solidFill>
                    <a:schemeClr val="accent1"/>
                  </a:solidFill>
                  <a:latin typeface="+mn-lt"/>
                  <a:ea typeface="+mn-ea"/>
                  <a:cs typeface="+mn-cs"/>
                </a:rPr>
                <a:t>Las 10 unidades del curso,</a:t>
              </a:r>
              <a:br>
                <a:rPr lang="es-419" sz="3000" b="1" dirty="0">
                  <a:solidFill>
                    <a:schemeClr val="accent1"/>
                  </a:solidFill>
                  <a:latin typeface="+mn-lt"/>
                  <a:ea typeface="+mn-ea"/>
                  <a:cs typeface="+mn-cs"/>
                </a:rPr>
              </a:br>
              <a:r>
                <a:rPr lang="es-419" sz="3000" b="1" dirty="0">
                  <a:solidFill>
                    <a:schemeClr val="accent1"/>
                  </a:solidFill>
                  <a:latin typeface="+mn-lt"/>
                  <a:ea typeface="+mn-ea"/>
                  <a:cs typeface="+mn-cs"/>
                </a:rPr>
                <a:t>integradas en un solo repositorio</a:t>
              </a:r>
            </a:p>
          </p:txBody>
        </p:sp>
        <p:sp>
          <p:nvSpPr>
            <p:cNvPr id="4" name="Line 4"/>
            <p:cNvSpPr/>
            <p:nvPr/>
          </p:nvSpPr>
          <p:spPr>
            <a:xfrm>
              <a:off x="609600" y="196215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50" name="grilla-unidades"/>
          <p:cNvGrpSpPr/>
          <p:nvPr/>
        </p:nvGrpSpPr>
        <p:grpSpPr>
          <a:xfrm>
            <a:off x="609600" y="2152650"/>
            <a:ext cx="10972800" cy="2590800"/>
            <a:chOff x="609600" y="2152650"/>
            <a:chExt cx="10972800" cy="2590800"/>
          </a:xfrm>
        </p:grpSpPr>
        <p:grpSp>
          <p:nvGrpSpPr>
            <p:cNvPr id="16" name="Group 16"/>
            <p:cNvGrpSpPr/>
            <p:nvPr/>
          </p:nvGrpSpPr>
          <p:grpSpPr>
            <a:xfrm>
              <a:off x="609600" y="2152650"/>
              <a:ext cx="10972800" cy="2590800"/>
              <a:chOff x="609600" y="2152650"/>
              <a:chExt cx="10972800" cy="2590800"/>
            </a:xfrm>
          </p:grpSpPr>
          <p:sp>
            <p:nvSpPr>
              <p:cNvPr id="6" name="Rectangle 6"/>
              <p:cNvSpPr/>
              <p:nvPr/>
            </p:nvSpPr>
            <p:spPr>
              <a:xfrm>
                <a:off x="609600" y="2152650"/>
                <a:ext cx="2072640" cy="1219200"/>
              </a:xfrm>
              <a:prstGeom prst="rect">
                <a:avLst/>
              </a:prstGeom>
              <a:solidFill>
                <a:schemeClr val="lt2"/>
              </a:solidFill>
              <a:ln>
                <a:noFill/>
              </a:ln>
            </p:spPr>
          </p:sp>
          <p:sp>
            <p:nvSpPr>
              <p:cNvPr id="7" name="Rectangle 7"/>
              <p:cNvSpPr/>
              <p:nvPr/>
            </p:nvSpPr>
            <p:spPr>
              <a:xfrm>
                <a:off x="2834640" y="2152650"/>
                <a:ext cx="2072640" cy="1219200"/>
              </a:xfrm>
              <a:prstGeom prst="rect">
                <a:avLst/>
              </a:prstGeom>
              <a:solidFill>
                <a:schemeClr val="lt2"/>
              </a:solidFill>
              <a:ln>
                <a:noFill/>
              </a:ln>
            </p:spPr>
          </p:sp>
          <p:sp>
            <p:nvSpPr>
              <p:cNvPr id="8" name="Rectangle 8"/>
              <p:cNvSpPr/>
              <p:nvPr/>
            </p:nvSpPr>
            <p:spPr>
              <a:xfrm>
                <a:off x="5059680" y="2152650"/>
                <a:ext cx="2072640" cy="1219200"/>
              </a:xfrm>
              <a:prstGeom prst="rect">
                <a:avLst/>
              </a:prstGeom>
              <a:solidFill>
                <a:schemeClr val="lt2"/>
              </a:solidFill>
              <a:ln>
                <a:noFill/>
              </a:ln>
            </p:spPr>
          </p:sp>
          <p:sp>
            <p:nvSpPr>
              <p:cNvPr id="9" name="Rectangle 9"/>
              <p:cNvSpPr/>
              <p:nvPr/>
            </p:nvSpPr>
            <p:spPr>
              <a:xfrm>
                <a:off x="7284720" y="2152650"/>
                <a:ext cx="2072640" cy="1219200"/>
              </a:xfrm>
              <a:prstGeom prst="rect">
                <a:avLst/>
              </a:prstGeom>
              <a:solidFill>
                <a:schemeClr val="lt2"/>
              </a:solidFill>
              <a:ln>
                <a:noFill/>
              </a:ln>
            </p:spPr>
          </p:sp>
          <p:sp>
            <p:nvSpPr>
              <p:cNvPr id="10" name="Rectangle 10"/>
              <p:cNvSpPr/>
              <p:nvPr/>
            </p:nvSpPr>
            <p:spPr>
              <a:xfrm>
                <a:off x="9509760" y="2152650"/>
                <a:ext cx="2072640" cy="1219200"/>
              </a:xfrm>
              <a:prstGeom prst="rect">
                <a:avLst/>
              </a:prstGeom>
              <a:solidFill>
                <a:schemeClr val="lt2"/>
              </a:solidFill>
              <a:ln>
                <a:noFill/>
              </a:ln>
            </p:spPr>
          </p:sp>
          <p:sp>
            <p:nvSpPr>
              <p:cNvPr id="11" name="Rectangle 11"/>
              <p:cNvSpPr/>
              <p:nvPr/>
            </p:nvSpPr>
            <p:spPr>
              <a:xfrm>
                <a:off x="609600" y="3524250"/>
                <a:ext cx="2072640" cy="1219200"/>
              </a:xfrm>
              <a:prstGeom prst="rect">
                <a:avLst/>
              </a:prstGeom>
              <a:solidFill>
                <a:schemeClr val="lt2"/>
              </a:solidFill>
              <a:ln>
                <a:noFill/>
              </a:ln>
            </p:spPr>
          </p:sp>
          <p:sp>
            <p:nvSpPr>
              <p:cNvPr id="12" name="Rectangle 12"/>
              <p:cNvSpPr/>
              <p:nvPr/>
            </p:nvSpPr>
            <p:spPr>
              <a:xfrm>
                <a:off x="2834640" y="3524250"/>
                <a:ext cx="2072640" cy="1219200"/>
              </a:xfrm>
              <a:prstGeom prst="rect">
                <a:avLst/>
              </a:prstGeom>
              <a:solidFill>
                <a:schemeClr val="lt2"/>
              </a:solidFill>
              <a:ln>
                <a:noFill/>
              </a:ln>
            </p:spPr>
          </p:sp>
          <p:sp>
            <p:nvSpPr>
              <p:cNvPr id="13" name="Rectangle 13"/>
              <p:cNvSpPr/>
              <p:nvPr/>
            </p:nvSpPr>
            <p:spPr>
              <a:xfrm>
                <a:off x="5059680" y="3524250"/>
                <a:ext cx="2072640" cy="1219200"/>
              </a:xfrm>
              <a:prstGeom prst="rect">
                <a:avLst/>
              </a:prstGeom>
              <a:solidFill>
                <a:schemeClr val="lt2"/>
              </a:solidFill>
              <a:ln>
                <a:noFill/>
              </a:ln>
            </p:spPr>
          </p:sp>
          <p:sp>
            <p:nvSpPr>
              <p:cNvPr id="14" name="Rectangle 14"/>
              <p:cNvSpPr/>
              <p:nvPr/>
            </p:nvSpPr>
            <p:spPr>
              <a:xfrm>
                <a:off x="7284720" y="3524250"/>
                <a:ext cx="2072640" cy="1219200"/>
              </a:xfrm>
              <a:prstGeom prst="rect">
                <a:avLst/>
              </a:prstGeom>
              <a:solidFill>
                <a:schemeClr val="lt2"/>
              </a:solidFill>
              <a:ln>
                <a:noFill/>
              </a:ln>
            </p:spPr>
          </p:sp>
          <p:sp>
            <p:nvSpPr>
              <p:cNvPr id="15" name="Rectangle 15"/>
              <p:cNvSpPr/>
              <p:nvPr/>
            </p:nvSpPr>
            <p:spPr>
              <a:xfrm>
                <a:off x="9509760" y="3524250"/>
                <a:ext cx="2072640" cy="1219200"/>
              </a:xfrm>
              <a:prstGeom prst="rect">
                <a:avLst/>
              </a:prstGeom>
              <a:solidFill>
                <a:schemeClr val="lt2"/>
              </a:solidFill>
              <a:ln>
                <a:noFill/>
              </a:ln>
            </p:spPr>
          </p:sp>
        </p:grpSp>
        <p:grpSp>
          <p:nvGrpSpPr>
            <p:cNvPr id="27" name="Group 27"/>
            <p:cNvGrpSpPr/>
            <p:nvPr/>
          </p:nvGrpSpPr>
          <p:grpSpPr>
            <a:xfrm>
              <a:off x="789432" y="2317750"/>
              <a:ext cx="9469498" cy="1782318"/>
              <a:chOff x="789432" y="2317750"/>
              <a:chExt cx="9469498" cy="1782318"/>
            </a:xfrm>
          </p:grpSpPr>
          <p:sp>
            <p:nvSpPr>
              <p:cNvPr id="17" name="TextBox 17"/>
              <p:cNvSpPr txBox="1"/>
              <p:nvPr/>
            </p:nvSpPr>
            <p:spPr>
              <a:xfrm>
                <a:off x="78943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U1</a:t>
                </a:r>
              </a:p>
            </p:txBody>
          </p:sp>
          <p:sp>
            <p:nvSpPr>
              <p:cNvPr id="18" name="TextBox 18"/>
              <p:cNvSpPr txBox="1"/>
              <p:nvPr/>
            </p:nvSpPr>
            <p:spPr>
              <a:xfrm>
                <a:off x="301447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U2</a:t>
                </a:r>
              </a:p>
            </p:txBody>
          </p:sp>
          <p:sp>
            <p:nvSpPr>
              <p:cNvPr id="19" name="TextBox 19"/>
              <p:cNvSpPr txBox="1"/>
              <p:nvPr/>
            </p:nvSpPr>
            <p:spPr>
              <a:xfrm>
                <a:off x="523951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U3</a:t>
                </a:r>
              </a:p>
            </p:txBody>
          </p:sp>
          <p:sp>
            <p:nvSpPr>
              <p:cNvPr id="20" name="TextBox 20"/>
              <p:cNvSpPr txBox="1"/>
              <p:nvPr/>
            </p:nvSpPr>
            <p:spPr>
              <a:xfrm>
                <a:off x="746455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U4</a:t>
                </a:r>
              </a:p>
            </p:txBody>
          </p:sp>
          <p:sp>
            <p:nvSpPr>
              <p:cNvPr id="21" name="TextBox 21"/>
              <p:cNvSpPr txBox="1"/>
              <p:nvPr/>
            </p:nvSpPr>
            <p:spPr>
              <a:xfrm>
                <a:off x="9689592" y="23177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U5</a:t>
                </a:r>
              </a:p>
            </p:txBody>
          </p:sp>
          <p:sp>
            <p:nvSpPr>
              <p:cNvPr id="22" name="TextBox 22"/>
              <p:cNvSpPr txBox="1"/>
              <p:nvPr/>
            </p:nvSpPr>
            <p:spPr>
              <a:xfrm>
                <a:off x="78943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U6</a:t>
                </a:r>
              </a:p>
            </p:txBody>
          </p:sp>
          <p:sp>
            <p:nvSpPr>
              <p:cNvPr id="23" name="TextBox 23"/>
              <p:cNvSpPr txBox="1"/>
              <p:nvPr/>
            </p:nvSpPr>
            <p:spPr>
              <a:xfrm>
                <a:off x="301447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U7</a:t>
                </a:r>
              </a:p>
            </p:txBody>
          </p:sp>
          <p:sp>
            <p:nvSpPr>
              <p:cNvPr id="24" name="TextBox 24"/>
              <p:cNvSpPr txBox="1"/>
              <p:nvPr/>
            </p:nvSpPr>
            <p:spPr>
              <a:xfrm>
                <a:off x="523951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U8</a:t>
                </a:r>
              </a:p>
            </p:txBody>
          </p:sp>
          <p:sp>
            <p:nvSpPr>
              <p:cNvPr id="25" name="TextBox 25"/>
              <p:cNvSpPr txBox="1"/>
              <p:nvPr/>
            </p:nvSpPr>
            <p:spPr>
              <a:xfrm>
                <a:off x="7464552" y="3689350"/>
                <a:ext cx="403199"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U9</a:t>
                </a:r>
              </a:p>
            </p:txBody>
          </p:sp>
          <p:sp>
            <p:nvSpPr>
              <p:cNvPr id="26" name="TextBox 26"/>
              <p:cNvSpPr txBox="1"/>
              <p:nvPr/>
            </p:nvSpPr>
            <p:spPr>
              <a:xfrm>
                <a:off x="9689592" y="3689350"/>
                <a:ext cx="569338" cy="410718"/>
              </a:xfrm>
              <a:prstGeom prst="rect">
                <a:avLst/>
              </a:prstGeom>
              <a:noFill/>
              <a:ln>
                <a:noFill/>
              </a:ln>
            </p:spPr>
            <p:txBody>
              <a:bodyPr wrap="none" lIns="0" tIns="0" rIns="0" bIns="0" anchor="t" anchorCtr="0">
                <a:spAutoFit/>
              </a:bodyPr>
              <a:lstStyle/>
              <a:p>
                <a:pPr algn="l"/>
                <a:r>
                  <a:rPr lang="es-419" sz="2100" b="1" dirty="0">
                    <a:solidFill>
                      <a:schemeClr val="accent1"/>
                    </a:solidFill>
                    <a:latin typeface="+mn-lt"/>
                    <a:ea typeface="+mn-ea"/>
                    <a:cs typeface="+mn-cs"/>
                  </a:rPr>
                  <a:t>U10</a:t>
                </a:r>
              </a:p>
            </p:txBody>
          </p:sp>
        </p:grpSp>
        <p:grpSp>
          <p:nvGrpSpPr>
            <p:cNvPr id="38" name="Group 38"/>
            <p:cNvGrpSpPr/>
            <p:nvPr/>
          </p:nvGrpSpPr>
          <p:grpSpPr>
            <a:xfrm>
              <a:off x="794004" y="2743200"/>
              <a:ext cx="10274699" cy="1606296"/>
              <a:chOff x="794004" y="2743200"/>
              <a:chExt cx="10274699" cy="1606296"/>
            </a:xfrm>
          </p:grpSpPr>
          <p:sp>
            <p:nvSpPr>
              <p:cNvPr id="28" name="TextBox 28"/>
              <p:cNvSpPr txBox="1"/>
              <p:nvPr/>
            </p:nvSpPr>
            <p:spPr>
              <a:xfrm>
                <a:off x="794004" y="2743200"/>
                <a:ext cx="1327712"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Repositorio base</a:t>
                </a:r>
              </a:p>
            </p:txBody>
          </p:sp>
          <p:sp>
            <p:nvSpPr>
              <p:cNvPr id="29" name="TextBox 29"/>
              <p:cNvSpPr txBox="1"/>
              <p:nvPr/>
            </p:nvSpPr>
            <p:spPr>
              <a:xfrm>
                <a:off x="3019044" y="2743200"/>
                <a:ext cx="1255948"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Código modular</a:t>
                </a:r>
              </a:p>
            </p:txBody>
          </p:sp>
          <p:sp>
            <p:nvSpPr>
              <p:cNvPr id="30" name="TextBox 30"/>
              <p:cNvSpPr txBox="1"/>
              <p:nvPr/>
            </p:nvSpPr>
            <p:spPr>
              <a:xfrm>
                <a:off x="5244084" y="2743200"/>
                <a:ext cx="1228995"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Versionamiento</a:t>
                </a:r>
              </a:p>
            </p:txBody>
          </p:sp>
          <p:sp>
            <p:nvSpPr>
              <p:cNvPr id="31" name="TextBox 31"/>
              <p:cNvSpPr txBox="1"/>
              <p:nvPr/>
            </p:nvSpPr>
            <p:spPr>
              <a:xfrm>
                <a:off x="7469124" y="2743200"/>
                <a:ext cx="1659550"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Pipeline reproducible</a:t>
                </a:r>
              </a:p>
            </p:txBody>
          </p:sp>
          <p:sp>
            <p:nvSpPr>
              <p:cNvPr id="32" name="TextBox 32"/>
              <p:cNvSpPr txBox="1"/>
              <p:nvPr/>
            </p:nvSpPr>
            <p:spPr>
              <a:xfrm>
                <a:off x="9694164" y="2743200"/>
                <a:ext cx="1374539"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Docker + FastAPI</a:t>
                </a:r>
              </a:p>
            </p:txBody>
          </p:sp>
          <p:sp>
            <p:nvSpPr>
              <p:cNvPr id="33" name="TextBox 33"/>
              <p:cNvSpPr txBox="1"/>
              <p:nvPr/>
            </p:nvSpPr>
            <p:spPr>
              <a:xfrm>
                <a:off x="794004" y="4114800"/>
                <a:ext cx="1336468"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Tuning y registro</a:t>
                </a:r>
              </a:p>
            </p:txBody>
          </p:sp>
          <p:sp>
            <p:nvSpPr>
              <p:cNvPr id="34" name="TextBox 34"/>
              <p:cNvSpPr txBox="1"/>
              <p:nvPr/>
            </p:nvSpPr>
            <p:spPr>
              <a:xfrm>
                <a:off x="3019044" y="4114800"/>
                <a:ext cx="476839"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CI/CD</a:t>
                </a:r>
              </a:p>
            </p:txBody>
          </p:sp>
          <p:sp>
            <p:nvSpPr>
              <p:cNvPr id="35" name="TextBox 35"/>
              <p:cNvSpPr txBox="1"/>
              <p:nvPr/>
            </p:nvSpPr>
            <p:spPr>
              <a:xfrm>
                <a:off x="5244084" y="4114800"/>
                <a:ext cx="1211135"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Pre-producción</a:t>
                </a:r>
              </a:p>
            </p:txBody>
          </p:sp>
          <p:sp>
            <p:nvSpPr>
              <p:cNvPr id="36" name="TextBox 36"/>
              <p:cNvSpPr txBox="1"/>
              <p:nvPr/>
            </p:nvSpPr>
            <p:spPr>
              <a:xfrm>
                <a:off x="7469124" y="4114800"/>
                <a:ext cx="797747"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Monitoreo</a:t>
                </a:r>
              </a:p>
            </p:txBody>
          </p:sp>
          <p:sp>
            <p:nvSpPr>
              <p:cNvPr id="37" name="TextBox 37"/>
              <p:cNvSpPr txBox="1"/>
              <p:nvPr/>
            </p:nvSpPr>
            <p:spPr>
              <a:xfrm>
                <a:off x="9694164" y="4114800"/>
                <a:ext cx="887330" cy="234696"/>
              </a:xfrm>
              <a:prstGeom prst="rect">
                <a:avLst/>
              </a:prstGeom>
              <a:noFill/>
              <a:ln>
                <a:noFill/>
              </a:ln>
            </p:spPr>
            <p:txBody>
              <a:bodyPr wrap="none" lIns="0" tIns="0" rIns="0" bIns="0" anchor="t" anchorCtr="0">
                <a:spAutoFit/>
              </a:bodyPr>
              <a:lstStyle/>
              <a:p>
                <a:pPr algn="l"/>
                <a:r>
                  <a:rPr lang="es-419" sz="1200" b="1" dirty="0">
                    <a:solidFill>
                      <a:schemeClr val="accent1"/>
                    </a:solidFill>
                    <a:latin typeface="+mn-lt"/>
                    <a:ea typeface="+mn-ea"/>
                    <a:cs typeface="+mn-cs"/>
                  </a:rPr>
                  <a:t>Integración</a:t>
                </a:r>
              </a:p>
            </p:txBody>
          </p:sp>
        </p:grpSp>
        <p:grpSp>
          <p:nvGrpSpPr>
            <p:cNvPr id="49" name="Group 49"/>
            <p:cNvGrpSpPr/>
            <p:nvPr/>
          </p:nvGrpSpPr>
          <p:grpSpPr>
            <a:xfrm>
              <a:off x="794004" y="2990850"/>
              <a:ext cx="10241342" cy="1606296"/>
              <a:chOff x="794004" y="2990850"/>
              <a:chExt cx="10241342" cy="1606296"/>
            </a:xfrm>
          </p:grpSpPr>
          <p:sp>
            <p:nvSpPr>
              <p:cNvPr id="39" name="TextBox 39"/>
              <p:cNvSpPr txBox="1"/>
              <p:nvPr/>
            </p:nvSpPr>
            <p:spPr>
              <a:xfrm>
                <a:off x="794004" y="2990850"/>
                <a:ext cx="1271117"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Git · Codespaces</a:t>
                </a:r>
              </a:p>
            </p:txBody>
          </p:sp>
          <p:sp>
            <p:nvSpPr>
              <p:cNvPr id="40" name="TextBox 40"/>
              <p:cNvSpPr txBox="1"/>
              <p:nvPr/>
            </p:nvSpPr>
            <p:spPr>
              <a:xfrm>
                <a:off x="3019044" y="2990850"/>
                <a:ext cx="1232980"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src/ · tests pytest</a:t>
                </a:r>
              </a:p>
            </p:txBody>
          </p:sp>
          <p:sp>
            <p:nvSpPr>
              <p:cNvPr id="41" name="TextBox 41"/>
              <p:cNvSpPr txBox="1"/>
              <p:nvPr/>
            </p:nvSpPr>
            <p:spPr>
              <a:xfrm>
                <a:off x="5244084" y="2990850"/>
                <a:ext cx="164582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DVC · MLflow tracking</a:t>
                </a:r>
              </a:p>
            </p:txBody>
          </p:sp>
          <p:sp>
            <p:nvSpPr>
              <p:cNvPr id="42" name="TextBox 42"/>
              <p:cNvSpPr txBox="1"/>
              <p:nvPr/>
            </p:nvSpPr>
            <p:spPr>
              <a:xfrm>
                <a:off x="7469124" y="2990850"/>
                <a:ext cx="122470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etapas validadas</a:t>
                </a:r>
              </a:p>
            </p:txBody>
          </p:sp>
          <p:sp>
            <p:nvSpPr>
              <p:cNvPr id="43" name="TextBox 43"/>
              <p:cNvSpPr txBox="1"/>
              <p:nvPr/>
            </p:nvSpPr>
            <p:spPr>
              <a:xfrm>
                <a:off x="9694164" y="2990850"/>
                <a:ext cx="1139325"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api/ · Dockerfile</a:t>
                </a:r>
              </a:p>
            </p:txBody>
          </p:sp>
          <p:sp>
            <p:nvSpPr>
              <p:cNvPr id="44" name="TextBox 44"/>
              <p:cNvSpPr txBox="1"/>
              <p:nvPr/>
            </p:nvSpPr>
            <p:spPr>
              <a:xfrm>
                <a:off x="794004" y="4362450"/>
                <a:ext cx="1724928"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Grid/Random · Registry</a:t>
                </a:r>
              </a:p>
            </p:txBody>
          </p:sp>
          <p:sp>
            <p:nvSpPr>
              <p:cNvPr id="45" name="TextBox 45"/>
              <p:cNvSpPr txBox="1"/>
              <p:nvPr/>
            </p:nvSpPr>
            <p:spPr>
              <a:xfrm>
                <a:off x="3019044" y="4362450"/>
                <a:ext cx="168077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GitHub Actions · 3 jobs</a:t>
                </a:r>
              </a:p>
            </p:txBody>
          </p:sp>
          <p:sp>
            <p:nvSpPr>
              <p:cNvPr id="46" name="TextBox 46"/>
              <p:cNvSpPr txBox="1"/>
              <p:nvPr/>
            </p:nvSpPr>
            <p:spPr>
              <a:xfrm>
                <a:off x="5244084" y="4362450"/>
                <a:ext cx="1502823"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compose · deploy.sh</a:t>
                </a:r>
              </a:p>
            </p:txBody>
          </p:sp>
          <p:sp>
            <p:nvSpPr>
              <p:cNvPr id="47" name="TextBox 47"/>
              <p:cNvSpPr txBox="1"/>
              <p:nvPr/>
            </p:nvSpPr>
            <p:spPr>
              <a:xfrm>
                <a:off x="7469124" y="4362450"/>
                <a:ext cx="1550916"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Evidently · PSI · cron</a:t>
                </a:r>
              </a:p>
            </p:txBody>
          </p:sp>
          <p:sp>
            <p:nvSpPr>
              <p:cNvPr id="48" name="TextBox 48"/>
              <p:cNvSpPr txBox="1"/>
              <p:nvPr/>
            </p:nvSpPr>
            <p:spPr>
              <a:xfrm>
                <a:off x="9694164" y="4362450"/>
                <a:ext cx="1341182"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main.py · 7 etapas</a:t>
                </a:r>
              </a:p>
            </p:txBody>
          </p:sp>
        </p:grpSp>
      </p:grpSp>
      <p:grpSp>
        <p:nvGrpSpPr>
          <p:cNvPr id="57" name="accion-final"/>
          <p:cNvGrpSpPr/>
          <p:nvPr/>
        </p:nvGrpSpPr>
        <p:grpSpPr>
          <a:xfrm>
            <a:off x="609600" y="4933950"/>
            <a:ext cx="10972800" cy="1257300"/>
            <a:chOff x="609600" y="4933950"/>
            <a:chExt cx="10972800" cy="1257300"/>
          </a:xfrm>
        </p:grpSpPr>
        <p:sp>
          <p:nvSpPr>
            <p:cNvPr id="51" name="Rectangle 51"/>
            <p:cNvSpPr/>
            <p:nvPr/>
          </p:nvSpPr>
          <p:spPr>
            <a:xfrm>
              <a:off x="609600" y="4933950"/>
              <a:ext cx="10972800" cy="1257300"/>
            </a:xfrm>
            <a:prstGeom prst="rect">
              <a:avLst/>
            </a:prstGeom>
            <a:solidFill>
              <a:schemeClr val="accent1"/>
            </a:solidFill>
            <a:ln>
              <a:noFill/>
            </a:ln>
          </p:spPr>
        </p:sp>
        <p:sp>
          <p:nvSpPr>
            <p:cNvPr id="52" name="TextBox 52"/>
            <p:cNvSpPr txBox="1"/>
            <p:nvPr/>
          </p:nvSpPr>
          <p:spPr>
            <a:xfrm>
              <a:off x="908685" y="5118100"/>
              <a:ext cx="3056363" cy="220028"/>
            </a:xfrm>
            <a:prstGeom prst="rect">
              <a:avLst/>
            </a:prstGeom>
            <a:noFill/>
            <a:ln>
              <a:noFill/>
            </a:ln>
          </p:spPr>
          <p:txBody>
            <a:bodyPr wrap="none" lIns="0" tIns="0" rIns="0" bIns="0" anchor="t" anchorCtr="0">
              <a:spAutoFit/>
            </a:bodyPr>
            <a:lstStyle/>
            <a:p>
              <a:pPr algn="l"/>
              <a:r>
                <a:rPr lang="es-419" sz="1120" b="1" dirty="0">
                  <a:solidFill>
                    <a:srgbClr val="9FB2C8"/>
                  </a:solidFill>
                  <a:latin typeface="+mn-lt"/>
                  <a:ea typeface="+mn-ea"/>
                  <a:cs typeface="+mn-cs"/>
                </a:rPr>
                <a:t>EJECÚTALO EN GITHUB CODESPACES</a:t>
              </a:r>
            </a:p>
          </p:txBody>
        </p:sp>
        <p:sp>
          <p:nvSpPr>
            <p:cNvPr id="53" name="TextBox 53"/>
            <p:cNvSpPr txBox="1"/>
            <p:nvPr/>
          </p:nvSpPr>
          <p:spPr>
            <a:xfrm>
              <a:off x="906780" y="5499100"/>
              <a:ext cx="4586723" cy="293370"/>
            </a:xfrm>
            <a:prstGeom prst="rect">
              <a:avLst/>
            </a:prstGeom>
            <a:noFill/>
            <a:ln>
              <a:noFill/>
            </a:ln>
          </p:spPr>
          <p:txBody>
            <a:bodyPr wrap="none" lIns="0" tIns="0" rIns="0" bIns="0" anchor="t" anchorCtr="0">
              <a:spAutoFit/>
            </a:bodyPr>
            <a:lstStyle/>
            <a:p>
              <a:pPr algn="l"/>
              <a:r>
                <a:rPr lang="es-419" sz="1500" dirty="0">
                  <a:solidFill>
                    <a:srgbClr val="FFFFFF"/>
                  </a:solidFill>
                  <a:latin typeface="Consolas"/>
                  <a:ea typeface="Consolas"/>
                  <a:cs typeface="Consolas"/>
                </a:rPr>
                <a:t xml:space="preserve">Code → Codespaces → </a:t>
              </a:r>
              <a:r>
                <a:rPr lang="es-419" sz="1500" b="1" dirty="0">
                  <a:solidFill>
                    <a:srgbClr val="FFFFFF"/>
                  </a:solidFill>
                  <a:latin typeface="Consolas"/>
                  <a:ea typeface="Consolas"/>
                  <a:cs typeface="Consolas"/>
                </a:rPr>
                <a:t>python main.py --demo</a:t>
              </a:r>
            </a:p>
          </p:txBody>
        </p:sp>
        <p:sp>
          <p:nvSpPr>
            <p:cNvPr id="54" name="TextBox 54"/>
            <p:cNvSpPr txBox="1"/>
            <p:nvPr/>
          </p:nvSpPr>
          <p:spPr>
            <a:xfrm>
              <a:off x="908304" y="5829300"/>
              <a:ext cx="4755630" cy="234696"/>
            </a:xfrm>
            <a:prstGeom prst="rect">
              <a:avLst/>
            </a:prstGeom>
            <a:noFill/>
            <a:ln>
              <a:noFill/>
            </a:ln>
          </p:spPr>
          <p:txBody>
            <a:bodyPr wrap="none" lIns="0" tIns="0" rIns="0" bIns="0" anchor="t" anchorCtr="0">
              <a:spAutoFit/>
            </a:bodyPr>
            <a:lstStyle/>
            <a:p>
              <a:pPr algn="l"/>
              <a:r>
                <a:rPr lang="es-419" sz="1200" dirty="0">
                  <a:solidFill>
                    <a:srgbClr val="9FB2C8"/>
                  </a:solidFill>
                  <a:latin typeface="+mn-lt"/>
                  <a:ea typeface="+mn-ea"/>
                  <a:cs typeface="+mn-cs"/>
                </a:rPr>
                <a:t>github.com/hangelo83/Mlops-proyectofinal · README con la guía</a:t>
              </a:r>
            </a:p>
          </p:txBody>
        </p:sp>
        <p:sp>
          <p:nvSpPr>
            <p:cNvPr id="55" name="TextBox 55"/>
            <p:cNvSpPr txBox="1"/>
            <p:nvPr/>
          </p:nvSpPr>
          <p:spPr>
            <a:xfrm>
              <a:off x="7233285" y="5118100"/>
              <a:ext cx="1472037" cy="220028"/>
            </a:xfrm>
            <a:prstGeom prst="rect">
              <a:avLst/>
            </a:prstGeom>
            <a:noFill/>
            <a:ln>
              <a:noFill/>
            </a:ln>
          </p:spPr>
          <p:txBody>
            <a:bodyPr wrap="none" lIns="0" tIns="0" rIns="0" bIns="0" anchor="t" anchorCtr="0">
              <a:spAutoFit/>
            </a:bodyPr>
            <a:lstStyle/>
            <a:p>
              <a:pPr algn="l"/>
              <a:r>
                <a:rPr lang="es-419" sz="1120" b="1" dirty="0">
                  <a:solidFill>
                    <a:srgbClr val="9FB2C8"/>
                  </a:solidFill>
                  <a:latin typeface="+mn-lt"/>
                  <a:ea typeface="+mn-ea"/>
                  <a:cs typeface="+mn-cs"/>
                </a:rPr>
                <a:t>PRÓXIMOS PASOS</a:t>
              </a:r>
            </a:p>
          </p:txBody>
        </p:sp>
        <p:sp>
          <p:nvSpPr>
            <p:cNvPr id="56" name="TextBox 56"/>
            <p:cNvSpPr txBox="1"/>
            <p:nvPr/>
          </p:nvSpPr>
          <p:spPr>
            <a:xfrm>
              <a:off x="7232904" y="5359400"/>
              <a:ext cx="3163611" cy="653796"/>
            </a:xfrm>
            <a:prstGeom prst="rect">
              <a:avLst/>
            </a:prstGeom>
            <a:noFill/>
            <a:ln>
              <a:noFill/>
            </a:ln>
          </p:spPr>
          <p:txBody>
            <a:bodyPr wrap="none" lIns="0" tIns="0" rIns="0" bIns="0" anchor="t" anchorCtr="0">
              <a:spAutoFit/>
            </a:bodyPr>
            <a:lstStyle/>
            <a:p>
              <a:pPr algn="l">
                <a:lnSpc>
                  <a:spcPts val="1650"/>
                </a:lnSpc>
              </a:pPr>
              <a:r>
                <a:rPr lang="es-419" sz="1200" dirty="0">
                  <a:solidFill>
                    <a:schemeClr val="accent6"/>
                  </a:solidFill>
                  <a:latin typeface="+mn-lt"/>
                  <a:ea typeface="+mn-ea"/>
                  <a:cs typeface="+mn-cs"/>
                </a:rPr>
                <a:t>Calibrar las probabilidades del modelo</a:t>
              </a:r>
              <a:br>
                <a:rPr lang="es-419" sz="1200" dirty="0">
                  <a:solidFill>
                    <a:schemeClr val="accent6"/>
                  </a:solidFill>
                  <a:latin typeface="+mn-lt"/>
                  <a:ea typeface="+mn-ea"/>
                  <a:cs typeface="+mn-cs"/>
                </a:rPr>
              </a:br>
              <a:r>
                <a:rPr lang="es-419" sz="1200" dirty="0">
                  <a:solidFill>
                    <a:schemeClr val="accent6"/>
                  </a:solidFill>
                  <a:latin typeface="+mn-lt"/>
                  <a:ea typeface="+mn-ea"/>
                  <a:cs typeface="+mn-cs"/>
                </a:rPr>
                <a:t>Usar edad y glucosa como variables continuas</a:t>
              </a:r>
              <a:br>
                <a:rPr lang="es-419" sz="1200" dirty="0">
                  <a:solidFill>
                    <a:schemeClr val="accent6"/>
                  </a:solidFill>
                  <a:latin typeface="+mn-lt"/>
                  <a:ea typeface="+mn-ea"/>
                  <a:cs typeface="+mn-cs"/>
                </a:rPr>
              </a:br>
              <a:r>
                <a:rPr lang="es-419" sz="1200" dirty="0">
                  <a:solidFill>
                    <a:schemeClr val="accent6"/>
                  </a:solidFill>
                  <a:latin typeface="+mn-lt"/>
                  <a:ea typeface="+mn-ea"/>
                  <a:cs typeface="+mn-cs"/>
                </a:rPr>
                <a:t>Remoto DVC compartido para el cache</a:t>
              </a:r>
            </a:p>
          </p:txBody>
        </p:sp>
      </p:grpSp>
      <p:grpSp>
        <p:nvGrpSpPr>
          <p:cNvPr id="60" name="footer"/>
          <p:cNvGrpSpPr/>
          <p:nvPr/>
        </p:nvGrpSpPr>
        <p:grpSpPr>
          <a:xfrm>
            <a:off x="603504" y="6381750"/>
            <a:ext cx="10984992" cy="234696"/>
            <a:chOff x="603504" y="6381750"/>
            <a:chExt cx="10984992" cy="234696"/>
          </a:xfrm>
        </p:grpSpPr>
        <p:sp>
          <p:nvSpPr>
            <p:cNvPr id="58" name="TextBox 58"/>
            <p:cNvSpPr txBox="1"/>
            <p:nvPr/>
          </p:nvSpPr>
          <p:spPr>
            <a:xfrm>
              <a:off x="603504" y="6381750"/>
              <a:ext cx="3405319" cy="234696"/>
            </a:xfrm>
            <a:prstGeom prst="rect">
              <a:avLst/>
            </a:prstGeom>
            <a:noFill/>
            <a:ln>
              <a:noFill/>
            </a:ln>
          </p:spPr>
          <p:txBody>
            <a:bodyPr wrap="none" lIns="0" tIns="0" rIns="0" bIns="0" anchor="t" anchorCtr="0">
              <a:spAutoFit/>
            </a:bodyPr>
            <a:lstStyle/>
            <a:p>
              <a:pPr algn="l"/>
              <a:r>
                <a:rPr lang="es-419" sz="1200" dirty="0">
                  <a:solidFill>
                    <a:schemeClr val="accent5"/>
                  </a:solidFill>
                  <a:latin typeface="+mn-lt"/>
                  <a:ea typeface="+mn-ea"/>
                  <a:cs typeface="+mn-cs"/>
                </a:rPr>
                <a:t>Proyecto Final MLOps · Prevención de Infartos</a:t>
              </a:r>
            </a:p>
          </p:txBody>
        </p:sp>
        <p:sp>
          <p:nvSpPr>
            <p:cNvPr id="59" name="TextBox 59"/>
            <p:cNvSpPr txBox="1"/>
            <p:nvPr/>
          </p:nvSpPr>
          <p:spPr>
            <a:xfrm>
              <a:off x="11082270" y="6381750"/>
              <a:ext cx="506226" cy="234696"/>
            </a:xfrm>
            <a:prstGeom prst="rect">
              <a:avLst/>
            </a:prstGeom>
            <a:noFill/>
            <a:ln>
              <a:noFill/>
            </a:ln>
          </p:spPr>
          <p:txBody>
            <a:bodyPr wrap="none" lIns="0" tIns="0" rIns="0" bIns="0" anchor="t" anchorCtr="0">
              <a:spAutoFit/>
            </a:bodyPr>
            <a:lstStyle/>
            <a:p>
              <a:pPr algn="r"/>
              <a:r>
                <a:rPr lang="es-419" sz="1200" dirty="0">
                  <a:solidFill>
                    <a:schemeClr val="accent5"/>
                  </a:solidFill>
                  <a:latin typeface="+mn-lt"/>
                  <a:ea typeface="+mn-ea"/>
                  <a:cs typeface="+mn-cs"/>
                </a:rPr>
                <a:t>10 / 10</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mlops_infartos_final">
  <a:themeElements>
    <a:clrScheme name="mlops_infartos_final">
      <a:dk1>
        <a:srgbClr val="1B1F24"/>
      </a:dk1>
      <a:lt1>
        <a:srgbClr val="FFFFFF"/>
      </a:lt1>
      <a:dk2>
        <a:srgbClr val="1F497D"/>
      </a:dk2>
      <a:lt2>
        <a:srgbClr val="F3F5F7"/>
      </a:lt2>
      <a:accent1>
        <a:srgbClr val="12263F"/>
      </a:accent1>
      <a:accent2>
        <a:srgbClr val="D7263D"/>
      </a:accent2>
      <a:accent3>
        <a:srgbClr val="2A78D6"/>
      </a:accent3>
      <a:accent4>
        <a:srgbClr val="12263F"/>
      </a:accent4>
      <a:accent5>
        <a:srgbClr val="5B6470"/>
      </a:accent5>
      <a:accent6>
        <a:srgbClr val="D5DAE0"/>
      </a:accent6>
      <a:hlink>
        <a:srgbClr val="D7263D"/>
      </a:hlink>
      <a:folHlink>
        <a:srgbClr val="2A78D6"/>
      </a:folHlink>
    </a:clrScheme>
    <a:fontScheme name="mlops_infartos_final">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lops_infartos_fin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lops_infartos_final">
  <a:themeElements>
    <a:clrScheme name="mlops_infartos_final">
      <a:dk1>
        <a:srgbClr val="1B1F24"/>
      </a:dk1>
      <a:lt1>
        <a:srgbClr val="FFFFFF"/>
      </a:lt1>
      <a:dk2>
        <a:srgbClr val="1F497D"/>
      </a:dk2>
      <a:lt2>
        <a:srgbClr val="F3F5F7"/>
      </a:lt2>
      <a:accent1>
        <a:srgbClr val="12263F"/>
      </a:accent1>
      <a:accent2>
        <a:srgbClr val="D7263D"/>
      </a:accent2>
      <a:accent3>
        <a:srgbClr val="2A78D6"/>
      </a:accent3>
      <a:accent4>
        <a:srgbClr val="12263F"/>
      </a:accent4>
      <a:accent5>
        <a:srgbClr val="5B6470"/>
      </a:accent5>
      <a:accent6>
        <a:srgbClr val="D5DAE0"/>
      </a:accent6>
      <a:hlink>
        <a:srgbClr val="D7263D"/>
      </a:hlink>
      <a:folHlink>
        <a:srgbClr val="2A78D6"/>
      </a:folHlink>
    </a:clrScheme>
    <a:fontScheme name="mlops_infartos_final">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lops_infartos_fin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es-419</dc:language>
  <cp:lastModifiedBy/>
  <cp:revision>1</cp:revision>
  <dcterms:created xsi:type="dcterms:W3CDTF">2026-10-18T20:39:27Z</dcterms:created>
  <dcterms:modified xsi:type="dcterms:W3CDTF">2026-10-18T20:39:27Z</dcterms:modified>
  <cp:category/>
  <cp:contentStatus/>
</cp:coreProperties>
</file>