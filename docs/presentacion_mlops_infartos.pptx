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17"/>
  </p:notes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16x9"/>
  <p:notesSz cx="6858000" cy="9144000"/>
  <p:defaultTextStyle>
    <a:defPPr>
      <a:defRPr lang="es-419"/>
    </a:defPPr>
    <a:lvl1pPr marL="0" algn="l" defTabSz="457200" rtl="0" eaLnBrk="1" latinLnBrk="0" hangingPunct="1">
      <a:defRPr sz="1800" kern="1200" lang="es-419">
        <a:solidFill>
          <a:schemeClr val="tx1"/>
        </a:solidFill>
        <a:latin typeface="+mn-lt"/>
        <a:ea typeface="+mn-ea"/>
        <a:cs typeface="+mn-cs"/>
      </a:defRPr>
    </a:lvl1pPr>
    <a:lvl2pPr marL="457200" algn="l" defTabSz="457200" rtl="0" eaLnBrk="1" latinLnBrk="0" hangingPunct="1">
      <a:defRPr sz="1800" kern="1200" lang="es-419">
        <a:solidFill>
          <a:schemeClr val="tx1"/>
        </a:solidFill>
        <a:latin typeface="+mn-lt"/>
        <a:ea typeface="+mn-ea"/>
        <a:cs typeface="+mn-cs"/>
      </a:defRPr>
    </a:lvl2pPr>
    <a:lvl3pPr marL="914400" algn="l" defTabSz="457200" rtl="0" eaLnBrk="1" latinLnBrk="0" hangingPunct="1">
      <a:defRPr sz="1800" kern="1200" lang="es-419">
        <a:solidFill>
          <a:schemeClr val="tx1"/>
        </a:solidFill>
        <a:latin typeface="+mn-lt"/>
        <a:ea typeface="+mn-ea"/>
        <a:cs typeface="+mn-cs"/>
      </a:defRPr>
    </a:lvl3pPr>
    <a:lvl4pPr marL="1371600" algn="l" defTabSz="457200" rtl="0" eaLnBrk="1" latinLnBrk="0" hangingPunct="1">
      <a:defRPr sz="1800" kern="1200" lang="es-419">
        <a:solidFill>
          <a:schemeClr val="tx1"/>
        </a:solidFill>
        <a:latin typeface="+mn-lt"/>
        <a:ea typeface="+mn-ea"/>
        <a:cs typeface="+mn-cs"/>
      </a:defRPr>
    </a:lvl4pPr>
    <a:lvl5pPr marL="1828800" algn="l" defTabSz="457200" rtl="0" eaLnBrk="1" latinLnBrk="0" hangingPunct="1">
      <a:defRPr sz="1800" kern="1200" lang="es-419">
        <a:solidFill>
          <a:schemeClr val="tx1"/>
        </a:solidFill>
        <a:latin typeface="+mn-lt"/>
        <a:ea typeface="+mn-ea"/>
        <a:cs typeface="+mn-cs"/>
      </a:defRPr>
    </a:lvl5pPr>
    <a:lvl6pPr marL="2286000" algn="l" defTabSz="457200" rtl="0" eaLnBrk="1" latinLnBrk="0" hangingPunct="1">
      <a:defRPr sz="1800" kern="1200" lang="es-419">
        <a:solidFill>
          <a:schemeClr val="tx1"/>
        </a:solidFill>
        <a:latin typeface="+mn-lt"/>
        <a:ea typeface="+mn-ea"/>
        <a:cs typeface="+mn-cs"/>
      </a:defRPr>
    </a:lvl6pPr>
    <a:lvl7pPr marL="2743200" algn="l" defTabSz="457200" rtl="0" eaLnBrk="1" latinLnBrk="0" hangingPunct="1">
      <a:defRPr sz="1800" kern="1200" lang="es-419">
        <a:solidFill>
          <a:schemeClr val="tx1"/>
        </a:solidFill>
        <a:latin typeface="+mn-lt"/>
        <a:ea typeface="+mn-ea"/>
        <a:cs typeface="+mn-cs"/>
      </a:defRPr>
    </a:lvl7pPr>
    <a:lvl8pPr marL="3200400" algn="l" defTabSz="457200" rtl="0" eaLnBrk="1" latinLnBrk="0" hangingPunct="1">
      <a:defRPr sz="1800" kern="1200" lang="es-419">
        <a:solidFill>
          <a:schemeClr val="tx1"/>
        </a:solidFill>
        <a:latin typeface="+mn-lt"/>
        <a:ea typeface="+mn-ea"/>
        <a:cs typeface="+mn-cs"/>
      </a:defRPr>
    </a:lvl8pPr>
    <a:lvl9pPr marL="3657600" algn="l" defTabSz="457200" rtl="0" eaLnBrk="1" latinLnBrk="0" hangingPunct="1">
      <a:defRPr sz="1800" kern="1200" lang="es-419">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  <Relationship Id="rId17"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s-419"/>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s-419"/>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s-419"/>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s-419"/>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s-419"/>
          </a:p>
        </p:txBody>
      </p:sp>
    </p:spTree>
  </p:cSld>
  <p:clrMap bg1="lt1" tx1="dk1" bg2="lt2" tx2="dk2" accent1="accent1" accent2="accent2" accent3="accent3" accent4="accent4" accent5="accent5" accent6="accent6" hlink="hlink" folHlink="folHlink"/>
  <p:hf/>
  <p:notesStyle>
    <a:lvl1pPr marL="0" algn="l">
      <a:defRPr sz="1200" lang="es-419"/>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s-419" dirty="0"/>
              <a:t>Este proyecto toma el caso de prevención de infartos en asegurados y lo lleva del notebook a un pipeline MLOps en producción. El resultado que vamos a defender es simple: el modelo anticipa ocho de cada diez infartos del conjunto de test, con un recall de 0,815 y un AUC de 0,828 sobre 8.680 asegurados que nunca vio. En los próximos minutos les muestro por qué ese número es el correcto y cómo el pipeline garantiza que solo un modelo así llegue a producción.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s-419" dirty="0"/>
              <a:t>Empecemos por el negocio. La aseguradora revisó 43.400 asegurados durante cuatro años y solo el 1,8% tuvo un infarto, 783 casos. Esa es la clase que importa, porque un infarto no detectado es caro: para el análisis asumimos US$20.000 por caso, frente a US$300 por un chequeo preventivo, y ambos son supuestos de escenario definidos en config.yaml. Con tan pocos positivos, un modelo que siempre dice que nadie tendrá un infarto acierta el 98,2% y no sirve para nada. Por eso el pipeline no mide accuracy, sino recall, es decir cuántos infartos detecta, y AUC, que mide qué tan bien ordena el riesgo.</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s-419" dirty="0"/>
              <a:t>Vamos directo a la respuesta. De los 157 infartos del test, el modelo marcó 128 como alto riesgo; eso es un recall de 0,815 con un AUC de 0,828. Traducido a costo esperado, sin modelo la aseguradora enfrenta 157 infartos no atendidos, unos US$3,14 millones. Con el modelo quedan 29 infartos no detectados y 2.291 chequeos preventivos a asegurados sanos, unos US$1,27 millones. El ahorro estimado es de US$1,87 millones, alrededor de un 60%, siempre bajo los supuestos de costo que mencioné.</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s-419" dirty="0"/>
              <a:t>¿De dónde sale esa capacidad? El análisis exploratorio muestra que casi todos los infartos ocurren después de los 45 años, y que la glucosa alta y los antecedentes de hipertensión o problema cardiaco suben claramente el riesgo; el IMC aporta poco por sí solo. Del notebook del caso conservamos sus decisiones: imputamos el IMC, que tenía 3,4% de vacíos, y descartamos Flag_fumador por su 31% de vacíos. El modelo usa las siete variables codificadas del notebook, y la misma función que las crea se usa en el entrenamiento y en la API.</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s-419" dirty="0"/>
              <a:t>Lo que convierte esto en MLOps es el pipeline. Siete etapas encadenadas corren con un solo comando, python main.py: ingesta y validación de columnas, preprocesamiento, split estratificado, once tests de datos, tuning con MLflow, evaluación y detección de drift. La sexta etapa es el quality gate: si el modelo no cumple los umbrales, main.py se detiene y no se despliega nada. Después del pipeline, el modelo se sirve con FastAPI, se empaqueta en Docker y todo el flujo corre en GitHub Actions. Para la demostración, python main.py con la opción demo agrega el drift simulado, construye y prueba la imagen Docker y deja arriba la interfaz de MLflow y la API.</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s-419" dirty="0"/>
              <a:t>Este es el punto de control más importante. El quality gate exige AUC de al menos 0,80 y recall de al menos 0,70, y el modelo los supera con 0,828 y 0,815. El F1 queda solo como piso, porque con 1,8% de positivos el umbral de 0,70 del template de la Unidad 10 es inalcanzable. La precisión de 0,053 significa que por cada infarto detectado entran unos 18 asegurados sanos al programa, un costo aceptable si se compara un chequeo con un infarto no atendido. Al aprobar, el modelo pasa automáticamente a Production. Además auditamos fairness con variables que el modelo no usa: marca a una proporción pareja de cada grupo, entre 27 y 29%, pero el recall es 0,85 en hombres y 0,79 en mujeres, y 0,88 en zona rural frente a 0,75 en urbana. Con unos 80 infartos por grupo puede ser ruido, así que queda registrado en MLflow como riesgo a vigilar.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s-419" dirty="0"/>
              <a:t>Cada experimento queda registrado. Corrimos dos búsquedas de hiperparámetros en MLflow: GridSearchCV con 18 combinaciones y RandomizedSearchCV con 20, y ganó la segunda por validación cruzada, con un F1 de 0,096 frente a 0,092. Ambos se compararon con una línea base, la Regresión Logística de la Unidad 2, y el resultado es honesto: empata con el Random Forest, con un AUC de 0,825 frente a 0,828 en test. Con siete variables en tramos el techo lo ponen los datos y no el algoritmo, por eso el próximo paso son variables continuas y no más tuning. El mejor run se registra como InfartosRiskModel, queda en Staging y solo pasa a Production si aprueba el gate; si falla, la versión anterior sigue en servicio, y cada versión lleva tags de método, balanceo, AUC y recall. En paralelo, DVC versiona los datos y el modelo sin subirlos a Git: dvc.yaml declara las siete etapas y dvc.lock guarda el hash de cada salida.</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s-419" dirty="0"/>
              <a:t>En producción, la API recibe los datos crudos del asegurado, como edad, glucosa o tipo de trabajo, y les aplica la misma transformación del entrenamiento. Así corregimos el desajuste entre entrenamiento y servicio que tenía el template de la Unidad 10. En el ejemplo, un asegurado de 67 años con hipertensión y glucosa alta obtiene 0,81 y entra al programa de prevención. Entre 0,30 y 0,50 queda en seguimiento y por debajo de 0,30, en rutina. El IMC es opcional y Pydantic rechaza datos fuera de rango. GitHub Actions corre tres jobs encadenados con smoke tests contra el contenedor, y el stack de preproducción levanta MLflow, el trainer y una API que carga el modelo desde el Registry.</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s-419" dirty="0"/>
              <a:t>El trabajo no termina al desplegar. Cada lunes a las 8:00 UTC, un workflow compara los datos nuevos con los de entrenamiento usando Evidently y el índice PSI. Para la demo simulamos un lote de datos de escenario con una población más envejecida y con más diabetes: la edad llega a un PSI de 0,326, crítico, y la glucosa a 0,195, en alerta. La regla es clara: si una variable supera 0,25 o más del 30% de las variables tiene drift, el job falla y GitHub avisa por email. El modelo re-entrenado solo reemplaza al actual si aprueba el mismo quality gate.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s-419" dirty="0"/>
              <a:t>Para cerrar, este repositorio integra las diez unidades del curso, desde el repositorio base y el código modular hasta el monitoreo y el orquestador main.py. Todo se puede ejecutar de punta a punta en GitHub Codespaces: se abre el Codespace y se corre python main.py con la opción demo, que deja todo funcionando, y el README del repositorio Mlops-proyectofinal tiene la guía completa. Como próximos pasos proponemos calibrar las probabilidades del modelo, usar edad y glucosa como variables continuas y configurar un remoto de DVC compartido. Gracias, quedo atento a sus preguntas.</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mlops_infartos_final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s-419" smtClean="0"/>
              <a:t>1/27/13</a:t>
            </a:fld>
            <a:endParaRPr lang="es-419"/>
          </a:p>
        </p:txBody>
      </p:sp>
      <p:sp>
        <p:nvSpPr>
          <p:cNvPr id="3" name="Footer Placeholder 2"/>
          <p:cNvSpPr>
            <a:spLocks noGrp="1"/>
          </p:cNvSpPr>
          <p:nvPr>
            <p:ph type="ftr" sz="quarter" idx="11"/>
          </p:nvPr>
        </p:nvSpPr>
        <p:spPr/>
        <p:txBody>
          <a:bodyPr/>
          <a:lstStyle/>
          <a:p>
            <a:endParaRPr lang="es-419"/>
          </a:p>
        </p:txBody>
      </p:sp>
      <p:sp>
        <p:nvSpPr>
          <p:cNvPr id="4" name="Slide Number Placeholder 3"/>
          <p:cNvSpPr>
            <a:spLocks noGrp="1"/>
          </p:cNvSpPr>
          <p:nvPr>
            <p:ph type="sldNum" sz="quarter" idx="12"/>
          </p:nvPr>
        </p:nvSpPr>
        <p:spPr/>
        <p:txBody>
          <a:bodyPr/>
          <a:lstStyle/>
          <a:p>
            <a:fld id="{C1FF6DA9-008F-8B48-92A6-B652298478BF}" type="slidenum">
              <a:rPr lang="es-419" smtClean="0"/>
              <a:t>‹#›</a:t>
            </a:fld>
            <a:endParaRPr lang="es-419"/>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mlops_infartos_final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es-419">
                <a:solidFill>
                  <a:schemeClr val="tx1">
                    <a:tint val="75000"/>
                  </a:schemeClr>
                </a:solidFill>
              </a:defRPr>
            </a:lvl1pPr>
          </a:lstStyle>
          <a:p>
            <a:fld id="{5BCAD085-E8A6-8845-BD4E-CB4CCA059FC4}" type="datetimeFigureOut">
              <a:rPr lang="es-419" smtClean="0"/>
              <a:t>1/27/13</a:t>
            </a:fld>
            <a:endParaRPr lang="es-419"/>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es-419">
                <a:solidFill>
                  <a:schemeClr val="tx1">
                    <a:tint val="75000"/>
                  </a:schemeClr>
                </a:solidFill>
              </a:defRPr>
            </a:lvl1pPr>
          </a:lstStyle>
          <a:p>
            <a:endParaRPr lang="es-419"/>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es-419">
                <a:solidFill>
                  <a:schemeClr val="tx1">
                    <a:tint val="75000"/>
                  </a:schemeClr>
                </a:solidFill>
              </a:defRPr>
            </a:lvl1pPr>
          </a:lstStyle>
          <a:p>
            <a:fld id="{C1FF6DA9-008F-8B48-92A6-B652298478BF}" type="slidenum">
              <a:rPr lang="es-419" smtClean="0"/>
              <a:t>‹#›</a:t>
            </a:fld>
            <a:endParaRPr lang="es-419"/>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000" kern="1200" lang="es-419">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lang="es-419">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lang="es-419">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lang="es-419">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lang="es-419">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lang="es-419">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lang="es-419">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lang="es-419">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lang="es-419">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lang="es-419">
          <a:solidFill>
            <a:schemeClr val="tx1"/>
          </a:solidFill>
          <a:latin typeface="+mn-lt"/>
          <a:ea typeface="+mn-ea"/>
          <a:cs typeface="+mn-cs"/>
        </a:defRPr>
      </a:lvl9pPr>
    </p:bodyStyle>
    <p:otherStyle>
      <a:defPPr>
        <a:defRPr lang="es-419"/>
      </a:defPPr>
      <a:lvl1pPr marL="0" algn="l" defTabSz="457200" rtl="0" eaLnBrk="1" latinLnBrk="0" hangingPunct="1">
        <a:defRPr sz="1800" kern="1200" lang="es-419">
          <a:solidFill>
            <a:schemeClr val="tx1"/>
          </a:solidFill>
          <a:latin typeface="+mn-lt"/>
          <a:ea typeface="+mn-ea"/>
          <a:cs typeface="+mn-cs"/>
        </a:defRPr>
      </a:lvl1pPr>
      <a:lvl2pPr marL="457200" algn="l" defTabSz="457200" rtl="0" eaLnBrk="1" latinLnBrk="0" hangingPunct="1">
        <a:defRPr sz="1700" kern="1200" lang="es-419">
          <a:solidFill>
            <a:schemeClr val="tx1"/>
          </a:solidFill>
          <a:latin typeface="+mn-lt"/>
          <a:ea typeface="+mn-ea"/>
          <a:cs typeface="+mn-cs"/>
        </a:defRPr>
      </a:lvl2pPr>
      <a:lvl3pPr marL="914400" algn="l" defTabSz="457200" rtl="0" eaLnBrk="1" latinLnBrk="0" hangingPunct="1">
        <a:defRPr sz="1600" kern="1200" lang="es-419">
          <a:solidFill>
            <a:schemeClr val="tx1"/>
          </a:solidFill>
          <a:latin typeface="+mn-lt"/>
          <a:ea typeface="+mn-ea"/>
          <a:cs typeface="+mn-cs"/>
        </a:defRPr>
      </a:lvl3pPr>
      <a:lvl4pPr marL="1371600" algn="l" defTabSz="457200" rtl="0" eaLnBrk="1" latinLnBrk="0" hangingPunct="1">
        <a:defRPr sz="1450" kern="1200" lang="es-419">
          <a:solidFill>
            <a:schemeClr val="tx1"/>
          </a:solidFill>
          <a:latin typeface="+mn-lt"/>
          <a:ea typeface="+mn-ea"/>
          <a:cs typeface="+mn-cs"/>
        </a:defRPr>
      </a:lvl4pPr>
      <a:lvl5pPr marL="1828800" algn="l" defTabSz="457200" rtl="0" eaLnBrk="1" latinLnBrk="0" hangingPunct="1">
        <a:defRPr sz="1350" kern="1200" lang="es-419">
          <a:solidFill>
            <a:schemeClr val="tx1"/>
          </a:solidFill>
          <a:latin typeface="+mn-lt"/>
          <a:ea typeface="+mn-ea"/>
          <a:cs typeface="+mn-cs"/>
        </a:defRPr>
      </a:lvl5pPr>
      <a:lvl6pPr marL="2286000" algn="l" defTabSz="457200" rtl="0" eaLnBrk="1" latinLnBrk="0" hangingPunct="1">
        <a:defRPr sz="1250" kern="1200" lang="es-419">
          <a:solidFill>
            <a:schemeClr val="tx1"/>
          </a:solidFill>
          <a:latin typeface="+mn-lt"/>
          <a:ea typeface="+mn-ea"/>
          <a:cs typeface="+mn-cs"/>
        </a:defRPr>
      </a:lvl6pPr>
      <a:lvl7pPr marL="2743200" algn="l" defTabSz="457200" rtl="0" eaLnBrk="1" latinLnBrk="0" hangingPunct="1">
        <a:defRPr sz="1100" kern="1200" lang="es-419">
          <a:solidFill>
            <a:schemeClr val="tx1"/>
          </a:solidFill>
          <a:latin typeface="+mn-lt"/>
          <a:ea typeface="+mn-ea"/>
          <a:cs typeface="+mn-cs"/>
        </a:defRPr>
      </a:lvl7pPr>
      <a:lvl8pPr marL="3200400" algn="l" defTabSz="457200" rtl="0" eaLnBrk="1" latinLnBrk="0" hangingPunct="1">
        <a:defRPr sz="1000" kern="1200" lang="es-419">
          <a:solidFill>
            <a:schemeClr val="tx1"/>
          </a:solidFill>
          <a:latin typeface="+mn-lt"/>
          <a:ea typeface="+mn-ea"/>
          <a:cs typeface="+mn-cs"/>
        </a:defRPr>
      </a:lvl8pPr>
      <a:lvl9pPr marL="3657600" algn="l" defTabSz="457200" rtl="0" eaLnBrk="1" latinLnBrk="0" hangingPunct="1">
        <a:defRPr sz="900" kern="1200" lang="es-419">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21b37fc87174a63d.png"/>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3aad74a7ac4d3822.pn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b346708ca675f534.pn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cover-plane"/>
          <p:cNvSpPr/>
          <p:nvPr/>
        </p:nvSpPr>
        <p:spPr>
          <a:xfrm>
            <a:off x="0" y="0"/>
            <a:ext cx="7315200" cy="6858000"/>
          </a:xfrm>
          <a:prstGeom prst="rect">
            <a:avLst/>
          </a:prstGeom>
          <a:solidFill>
            <a:schemeClr val="accent1"/>
          </a:solidFill>
          <a:ln>
            <a:noFill/>
          </a:ln>
        </p:spPr>
      </p:sp>
      <p:grpSp>
        <p:nvGrpSpPr>
          <p:cNvPr id="7" name="cover-title"/>
          <p:cNvGrpSpPr/>
          <p:nvPr/>
        </p:nvGrpSpPr>
        <p:grpSpPr>
          <a:xfrm>
            <a:off x="590550" y="927100"/>
            <a:ext cx="5788579" cy="3825875"/>
            <a:chOff x="590550" y="927100"/>
            <a:chExt cx="5788579" cy="3825875"/>
          </a:xfrm>
        </p:grpSpPr>
        <p:sp>
          <p:nvSpPr>
            <p:cNvPr id="3" name="TextBox 3"/>
            <p:cNvSpPr txBox="1"/>
            <p:nvPr/>
          </p:nvSpPr>
          <p:spPr>
            <a:xfrm>
              <a:off x="603885" y="927100"/>
              <a:ext cx="5450470" cy="220028"/>
            </a:xfrm>
            <a:prstGeom prst="rect">
              <a:avLst/>
            </a:prstGeom>
            <a:noFill/>
            <a:ln>
              <a:noFill/>
            </a:ln>
          </p:spPr>
          <p:txBody>
            <a:bodyPr wrap="none" lIns="0" tIns="0" rIns="0" bIns="0" anchor="t" anchorCtr="0">
              <a:spAutoFit/>
            </a:bodyPr>
            <a:lstStyle/>
            <a:p>
              <a:pPr algn="l"/>
              <a:r>
                <a:rPr lang="es-419" sz="1120" b="1" dirty="0">
                  <a:solidFill>
                    <a:srgbClr val="9FB2C8"/>
                  </a:solidFill>
                  <a:latin typeface="+mn-lt"/>
                  <a:ea typeface="+mn-ea"/>
                  <a:cs typeface="+mn-cs"/>
                </a:rPr>
                <a:t>PROYECTO FINAL · MLOps: DEL MODELO AL ENTORNO PRODUCTIVO</a:t>
              </a:r>
            </a:p>
          </p:txBody>
        </p:sp>
        <p:sp>
          <p:nvSpPr>
            <p:cNvPr id="4" name="TextBox 4"/>
            <p:cNvSpPr txBox="1"/>
            <p:nvPr/>
          </p:nvSpPr>
          <p:spPr>
            <a:xfrm>
              <a:off x="590550" y="2374900"/>
              <a:ext cx="5788579" cy="1466850"/>
            </a:xfrm>
            <a:prstGeom prst="rect">
              <a:avLst/>
            </a:prstGeom>
            <a:noFill/>
            <a:ln>
              <a:noFill/>
            </a:ln>
          </p:spPr>
          <p:txBody>
            <a:bodyPr wrap="none" lIns="0" tIns="0" rIns="0" bIns="0" anchor="t" anchorCtr="0">
              <a:spAutoFit/>
            </a:bodyPr>
            <a:lstStyle/>
            <a:p>
              <a:pPr algn="l">
                <a:lnSpc>
                  <a:spcPts val="5100"/>
                </a:lnSpc>
              </a:pPr>
              <a:r>
                <a:rPr lang="es-419" sz="4200" b="1" dirty="0">
                  <a:solidFill>
                    <a:srgbClr val="FFFFFF"/>
                  </a:solidFill>
                  <a:latin typeface="+mn-lt"/>
                  <a:ea typeface="+mn-ea"/>
                  <a:cs typeface="+mn-cs"/>
                </a:rPr>
                <a:t>Prevención de infartos</a:t>
              </a:r>
              <a:br>
                <a:rPr lang="es-419" sz="4200" b="1" dirty="0">
                  <a:solidFill>
                    <a:srgbClr val="FFFFFF"/>
                  </a:solidFill>
                  <a:latin typeface="+mn-lt"/>
                  <a:ea typeface="+mn-ea"/>
                  <a:cs typeface="+mn-cs"/>
                </a:rPr>
              </a:br>
              <a:r>
                <a:rPr lang="es-419" sz="4200" b="1" dirty="0">
                  <a:solidFill>
                    <a:srgbClr val="FFFFFF"/>
                  </a:solidFill>
                  <a:latin typeface="+mn-lt"/>
                  <a:ea typeface="+mn-ea"/>
                  <a:cs typeface="+mn-cs"/>
                </a:rPr>
                <a:t>en asegurados</a:t>
              </a:r>
            </a:p>
          </p:txBody>
        </p:sp>
        <p:sp>
          <p:nvSpPr>
            <p:cNvPr id="5" name="TextBox 5"/>
            <p:cNvSpPr txBox="1"/>
            <p:nvPr/>
          </p:nvSpPr>
          <p:spPr>
            <a:xfrm>
              <a:off x="598932" y="3873500"/>
              <a:ext cx="4113581" cy="772668"/>
            </a:xfrm>
            <a:prstGeom prst="rect">
              <a:avLst/>
            </a:prstGeom>
            <a:noFill/>
            <a:ln>
              <a:noFill/>
            </a:ln>
          </p:spPr>
          <p:txBody>
            <a:bodyPr wrap="none" lIns="0" tIns="0" rIns="0" bIns="0" anchor="t" anchorCtr="0">
              <a:spAutoFit/>
            </a:bodyPr>
            <a:lstStyle/>
            <a:p>
              <a:pPr algn="l">
                <a:lnSpc>
                  <a:spcPts val="2850"/>
                </a:lnSpc>
              </a:pPr>
              <a:r>
                <a:rPr lang="es-419" sz="2100" dirty="0">
                  <a:solidFill>
                    <a:schemeClr val="accent6"/>
                  </a:solidFill>
                  <a:latin typeface="+mn-lt"/>
                  <a:ea typeface="+mn-ea"/>
                  <a:cs typeface="+mn-cs"/>
                </a:rPr>
                <a:t>Del notebook a un pipeline MLOps</a:t>
              </a:r>
              <a:br>
                <a:rPr lang="es-419" sz="2100" dirty="0">
                  <a:solidFill>
                    <a:schemeClr val="accent6"/>
                  </a:solidFill>
                  <a:latin typeface="+mn-lt"/>
                  <a:ea typeface="+mn-ea"/>
                  <a:cs typeface="+mn-cs"/>
                </a:rPr>
              </a:br>
              <a:r>
                <a:rPr lang="es-419" sz="2100" dirty="0">
                  <a:solidFill>
                    <a:schemeClr val="accent6"/>
                  </a:solidFill>
                  <a:latin typeface="+mn-lt"/>
                  <a:ea typeface="+mn-ea"/>
                  <a:cs typeface="+mn-cs"/>
                </a:rPr>
                <a:t>en producción</a:t>
              </a:r>
            </a:p>
          </p:txBody>
        </p:sp>
        <p:sp>
          <p:nvSpPr>
            <p:cNvPr id="6" name="Rectangle 6"/>
            <p:cNvSpPr/>
            <p:nvPr/>
          </p:nvSpPr>
          <p:spPr>
            <a:xfrm>
              <a:off x="609600" y="4705350"/>
              <a:ext cx="914400" cy="47625"/>
            </a:xfrm>
            <a:prstGeom prst="rect">
              <a:avLst/>
            </a:prstGeom>
            <a:solidFill>
              <a:schemeClr val="accent2"/>
            </a:solidFill>
            <a:ln>
              <a:noFill/>
            </a:ln>
          </p:spPr>
        </p:sp>
      </p:grpSp>
      <p:grpSp>
        <p:nvGrpSpPr>
          <p:cNvPr id="9" name="cover-autor"/>
          <p:cNvGrpSpPr/>
          <p:nvPr/>
        </p:nvGrpSpPr>
        <p:grpSpPr>
          <a:xfrm>
            <a:off x="603504" y="5962650"/>
            <a:ext cx="4073653" cy="234696"/>
            <a:chOff x="603504" y="5962650"/>
            <a:chExt cx="4073653" cy="234696"/>
          </a:xfrm>
        </p:grpSpPr>
        <p:sp>
          <p:nvSpPr>
            <p:cNvPr id="8" name="TextBox 8"/>
            <p:cNvSpPr txBox="1"/>
            <p:nvPr/>
          </p:nvSpPr>
          <p:spPr>
            <a:xfrm>
              <a:off x="603504" y="5962650"/>
              <a:ext cx="4073653" cy="234696"/>
            </a:xfrm>
            <a:prstGeom prst="rect">
              <a:avLst/>
            </a:prstGeom>
            <a:noFill/>
            <a:ln>
              <a:noFill/>
            </a:ln>
          </p:spPr>
          <p:txBody>
            <a:bodyPr wrap="none" lIns="0" tIns="0" rIns="0" bIns="0" anchor="t" anchorCtr="0">
              <a:spAutoFit/>
            </a:bodyPr>
            <a:lstStyle/>
            <a:p>
              <a:pPr algn="l"/>
              <a:r>
                <a:rPr lang="es-419" sz="1200" b="1" dirty="0">
                  <a:solidFill>
                    <a:srgbClr val="FFFFFF"/>
                  </a:solidFill>
                  <a:latin typeface="+mn-lt"/>
                  <a:ea typeface="+mn-ea"/>
                  <a:cs typeface="+mn-cs"/>
                </a:rPr>
                <a:t>Angelo Flores</a:t>
              </a:r>
              <a:r>
                <a:rPr lang="es-419" sz="1200" dirty="0">
                  <a:solidFill>
                    <a:srgbClr val="9FB2C8"/>
                  </a:solidFill>
                  <a:latin typeface="+mn-lt"/>
                  <a:ea typeface="+mn-ea"/>
                  <a:cs typeface="+mn-cs"/>
                </a:rPr>
                <a:t xml:space="preserve"> · Smart Data, 4ta edición · Octubre 2026</a:t>
              </a:r>
            </a:p>
          </p:txBody>
        </p:sp>
      </p:grpSp>
      <p:grpSp>
        <p:nvGrpSpPr>
          <p:cNvPr id="15" name="cover-gancho"/>
          <p:cNvGrpSpPr/>
          <p:nvPr/>
        </p:nvGrpSpPr>
        <p:grpSpPr>
          <a:xfrm>
            <a:off x="7905750" y="2033941"/>
            <a:ext cx="2275669" cy="3236305"/>
            <a:chOff x="7905750" y="2033941"/>
            <a:chExt cx="2275669" cy="3236305"/>
          </a:xfrm>
        </p:grpSpPr>
        <p:sp>
          <p:nvSpPr>
            <p:cNvPr id="10" name="Freeform 10"/>
            <p:cNvSpPr/>
            <p:nvPr/>
          </p:nvSpPr>
          <p:spPr>
            <a:xfrm>
              <a:off x="7955037" y="2033941"/>
              <a:ext cx="396213" cy="349175"/>
            </a:xfrm>
            <a:custGeom>
              <a:avLst/>
              <a:gdLst/>
              <a:ahLst/>
              <a:cxnLst/>
              <a:rect l="l" t="t" r="r" b="b"/>
              <a:pathLst>
                <a:path w="396213" h="349175">
                  <a:moveTo>
                    <a:pt x="102713" y="5819"/>
                  </a:moveTo>
                  <a:cubicBezTo>
                    <a:pt x="136864" y="0"/>
                    <a:pt x="171811" y="9984"/>
                    <a:pt x="197735" y="32965"/>
                  </a:cubicBezTo>
                  <a:lnTo>
                    <a:pt x="198439" y="33594"/>
                  </a:lnTo>
                  <a:lnTo>
                    <a:pt x="199087" y="33022"/>
                  </a:lnTo>
                  <a:cubicBezTo>
                    <a:pt x="223798" y="11337"/>
                    <a:pt x="256650" y="1342"/>
                    <a:pt x="289251" y="5590"/>
                  </a:cubicBezTo>
                  <a:lnTo>
                    <a:pt x="293937" y="6276"/>
                  </a:lnTo>
                  <a:cubicBezTo>
                    <a:pt x="335320" y="13421"/>
                    <a:pt x="369453" y="42685"/>
                    <a:pt x="382833" y="82492"/>
                  </a:cubicBezTo>
                  <a:cubicBezTo>
                    <a:pt x="396213" y="122299"/>
                    <a:pt x="386687" y="166238"/>
                    <a:pt x="358021" y="196928"/>
                  </a:cubicBezTo>
                  <a:lnTo>
                    <a:pt x="354592" y="200453"/>
                  </a:lnTo>
                  <a:lnTo>
                    <a:pt x="353678" y="201234"/>
                  </a:lnTo>
                  <a:lnTo>
                    <a:pt x="211755" y="341804"/>
                  </a:lnTo>
                  <a:cubicBezTo>
                    <a:pt x="204982" y="348507"/>
                    <a:pt x="194297" y="349175"/>
                    <a:pt x="186743" y="343366"/>
                  </a:cubicBezTo>
                  <a:lnTo>
                    <a:pt x="184952" y="341804"/>
                  </a:lnTo>
                  <a:lnTo>
                    <a:pt x="42210" y="200415"/>
                  </a:lnTo>
                  <a:cubicBezTo>
                    <a:pt x="11376" y="170413"/>
                    <a:pt x="0" y="125640"/>
                    <a:pt x="12773" y="84558"/>
                  </a:cubicBezTo>
                  <a:cubicBezTo>
                    <a:pt x="25546" y="43477"/>
                    <a:pt x="60304" y="13048"/>
                    <a:pt x="102713" y="5819"/>
                  </a:cubicBezTo>
                  <a:close/>
                </a:path>
              </a:pathLst>
            </a:custGeom>
            <a:solidFill>
              <a:schemeClr val="accent2"/>
            </a:solidFill>
            <a:ln>
              <a:noFill/>
            </a:ln>
          </p:spPr>
        </p:sp>
        <p:sp>
          <p:nvSpPr>
            <p:cNvPr id="11" name="TextBox 11"/>
            <p:cNvSpPr txBox="1"/>
            <p:nvPr/>
          </p:nvSpPr>
          <p:spPr>
            <a:xfrm>
              <a:off x="7905750" y="2692400"/>
              <a:ext cx="711981" cy="1733550"/>
            </a:xfrm>
            <a:prstGeom prst="rect">
              <a:avLst/>
            </a:prstGeom>
            <a:noFill/>
            <a:ln>
              <a:noFill/>
            </a:ln>
          </p:spPr>
          <p:txBody>
            <a:bodyPr wrap="none" lIns="0" tIns="0" rIns="0" bIns="0" anchor="t" anchorCtr="0">
              <a:spAutoFit/>
            </a:bodyPr>
            <a:lstStyle/>
            <a:p>
              <a:pPr algn="l"/>
              <a:r>
                <a:rPr lang="es-419" sz="9000" b="1" dirty="0">
                  <a:solidFill>
                    <a:schemeClr val="accent2"/>
                  </a:solidFill>
                  <a:latin typeface="+mn-lt"/>
                  <a:ea typeface="+mn-ea"/>
                  <a:cs typeface="+mn-cs"/>
                </a:rPr>
                <a:t>8</a:t>
              </a:r>
            </a:p>
          </p:txBody>
        </p:sp>
        <p:sp>
          <p:nvSpPr>
            <p:cNvPr id="12" name="TextBox 12"/>
            <p:cNvSpPr txBox="1"/>
            <p:nvPr/>
          </p:nvSpPr>
          <p:spPr>
            <a:xfrm>
              <a:off x="8714232" y="3556000"/>
              <a:ext cx="1467187" cy="410718"/>
            </a:xfrm>
            <a:prstGeom prst="rect">
              <a:avLst/>
            </a:prstGeom>
            <a:noFill/>
            <a:ln>
              <a:noFill/>
            </a:ln>
          </p:spPr>
          <p:txBody>
            <a:bodyPr wrap="none" lIns="0" tIns="0" rIns="0" bIns="0" anchor="t" anchorCtr="0">
              <a:spAutoFit/>
            </a:bodyPr>
            <a:lstStyle/>
            <a:p>
              <a:pPr algn="l"/>
              <a:r>
                <a:rPr lang="es-419" sz="2100" b="1" dirty="0">
                  <a:solidFill>
                    <a:schemeClr val="accent1"/>
                  </a:solidFill>
                  <a:latin typeface="+mn-lt"/>
                  <a:ea typeface="+mn-ea"/>
                  <a:cs typeface="+mn-cs"/>
                </a:rPr>
                <a:t>de cada 10</a:t>
              </a:r>
            </a:p>
          </p:txBody>
        </p:sp>
        <p:sp>
          <p:nvSpPr>
            <p:cNvPr id="13" name="TextBox 13"/>
            <p:cNvSpPr txBox="1"/>
            <p:nvPr/>
          </p:nvSpPr>
          <p:spPr>
            <a:xfrm>
              <a:off x="7915656" y="4038600"/>
              <a:ext cx="1988043" cy="656844"/>
            </a:xfrm>
            <a:prstGeom prst="rect">
              <a:avLst/>
            </a:prstGeom>
            <a:noFill/>
            <a:ln>
              <a:noFill/>
            </a:ln>
          </p:spPr>
          <p:txBody>
            <a:bodyPr wrap="none" lIns="0" tIns="0" rIns="0" bIns="0" anchor="t" anchorCtr="0">
              <a:spAutoFit/>
            </a:bodyPr>
            <a:lstStyle/>
            <a:p>
              <a:pPr algn="l">
                <a:lnSpc>
                  <a:spcPts val="2400"/>
                </a:lnSpc>
              </a:pPr>
              <a:r>
                <a:rPr lang="es-419" sz="1800" dirty="0">
                  <a:solidFill>
                    <a:schemeClr val="dk1"/>
                  </a:solidFill>
                  <a:latin typeface="+mn-lt"/>
                  <a:ea typeface="+mn-ea"/>
                  <a:cs typeface="+mn-cs"/>
                </a:rPr>
                <a:t>infartos anticipados</a:t>
              </a:r>
              <a:br>
                <a:rPr lang="es-419" sz="1800" dirty="0">
                  <a:solidFill>
                    <a:schemeClr val="dk1"/>
                  </a:solidFill>
                  <a:latin typeface="+mn-lt"/>
                  <a:ea typeface="+mn-ea"/>
                  <a:cs typeface="+mn-cs"/>
                </a:rPr>
              </a:br>
              <a:r>
                <a:rPr lang="es-419" sz="1800" dirty="0">
                  <a:solidFill>
                    <a:schemeClr val="dk1"/>
                  </a:solidFill>
                  <a:latin typeface="+mn-lt"/>
                  <a:ea typeface="+mn-ea"/>
                  <a:cs typeface="+mn-cs"/>
                </a:rPr>
                <a:t>por el modelo</a:t>
              </a:r>
            </a:p>
          </p:txBody>
        </p:sp>
        <p:sp>
          <p:nvSpPr>
            <p:cNvPr id="14" name="TextBox 14"/>
            <p:cNvSpPr txBox="1"/>
            <p:nvPr/>
          </p:nvSpPr>
          <p:spPr>
            <a:xfrm>
              <a:off x="7918704" y="4826000"/>
              <a:ext cx="1740378" cy="444246"/>
            </a:xfrm>
            <a:prstGeom prst="rect">
              <a:avLst/>
            </a:prstGeom>
            <a:noFill/>
            <a:ln>
              <a:noFill/>
            </a:ln>
          </p:spPr>
          <p:txBody>
            <a:bodyPr wrap="none" lIns="0" tIns="0" rIns="0" bIns="0" anchor="t" anchorCtr="0">
              <a:spAutoFit/>
            </a:bodyPr>
            <a:lstStyle/>
            <a:p>
              <a:pPr algn="l">
                <a:lnSpc>
                  <a:spcPts val="1650"/>
                </a:lnSpc>
              </a:pPr>
              <a:r>
                <a:rPr lang="es-419" sz="1200" dirty="0">
                  <a:solidFill>
                    <a:schemeClr val="accent5"/>
                  </a:solidFill>
                  <a:latin typeface="+mn-lt"/>
                  <a:ea typeface="+mn-ea"/>
                  <a:cs typeface="+mn-cs"/>
                </a:rPr>
                <a:t>Recall 0,815 · AUC 0,828</a:t>
              </a:r>
              <a:br>
                <a:rPr lang="es-419" sz="1200" dirty="0">
                  <a:solidFill>
                    <a:schemeClr val="accent5"/>
                  </a:solidFill>
                  <a:latin typeface="+mn-lt"/>
                  <a:ea typeface="+mn-ea"/>
                  <a:cs typeface="+mn-cs"/>
                </a:rPr>
              </a:br>
              <a:r>
                <a:rPr lang="es-419" sz="1200" dirty="0">
                  <a:solidFill>
                    <a:schemeClr val="accent5"/>
                  </a:solidFill>
                  <a:latin typeface="+mn-lt"/>
                  <a:ea typeface="+mn-ea"/>
                  <a:cs typeface="+mn-cs"/>
                </a:rPr>
                <a:t>test de 8.680 asegurados</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4360" y="584200"/>
            <a:ext cx="10988040" cy="1387475"/>
            <a:chOff x="594360" y="584200"/>
            <a:chExt cx="10988040" cy="1387475"/>
          </a:xfrm>
        </p:grpSpPr>
        <p:sp>
          <p:nvSpPr>
            <p:cNvPr id="2" name="TextBox 2"/>
            <p:cNvSpPr txBox="1"/>
            <p:nvPr/>
          </p:nvSpPr>
          <p:spPr>
            <a:xfrm>
              <a:off x="603885" y="584200"/>
              <a:ext cx="2100478" cy="220028"/>
            </a:xfrm>
            <a:prstGeom prst="rect">
              <a:avLst/>
            </a:prstGeom>
            <a:noFill/>
            <a:ln>
              <a:noFill/>
            </a:ln>
          </p:spPr>
          <p:txBody>
            <a:bodyPr wrap="none" lIns="0" tIns="0" rIns="0" bIns="0" anchor="t" anchorCtr="0">
              <a:spAutoFit/>
            </a:bodyPr>
            <a:lstStyle/>
            <a:p>
              <a:pPr algn="l"/>
              <a:r>
                <a:rPr lang="es-419" sz="1120" b="1" dirty="0">
                  <a:solidFill>
                    <a:schemeClr val="accent5"/>
                  </a:solidFill>
                  <a:latin typeface="+mn-lt"/>
                  <a:ea typeface="+mn-ea"/>
                  <a:cs typeface="+mn-cs"/>
                </a:rPr>
                <a:t>01 · EL CASO DE NEGOCIO</a:t>
              </a:r>
            </a:p>
          </p:txBody>
        </p:sp>
        <p:sp>
          <p:nvSpPr>
            <p:cNvPr id="3" name="TextBox 3"/>
            <p:cNvSpPr txBox="1"/>
            <p:nvPr/>
          </p:nvSpPr>
          <p:spPr>
            <a:xfrm>
              <a:off x="594360" y="850900"/>
              <a:ext cx="9559519" cy="1062990"/>
            </a:xfrm>
            <a:prstGeom prst="rect">
              <a:avLst/>
            </a:prstGeom>
            <a:noFill/>
            <a:ln>
              <a:noFill/>
            </a:ln>
          </p:spPr>
          <p:txBody>
            <a:bodyPr wrap="none" lIns="0" tIns="0" rIns="0" bIns="0" anchor="t" anchorCtr="0">
              <a:spAutoFit/>
            </a:bodyPr>
            <a:lstStyle/>
            <a:p>
              <a:pPr algn="l">
                <a:lnSpc>
                  <a:spcPts val="3750"/>
                </a:lnSpc>
              </a:pPr>
              <a:r>
                <a:rPr lang="es-419" sz="3000" b="1" dirty="0">
                  <a:solidFill>
                    <a:schemeClr val="accent1"/>
                  </a:solidFill>
                  <a:latin typeface="+mn-lt"/>
                  <a:ea typeface="+mn-ea"/>
                  <a:cs typeface="+mn-cs"/>
                </a:rPr>
                <a:t>Un infarto no detectado le cuesta a la aseguradora,</a:t>
              </a:r>
              <a:br>
                <a:rPr lang="es-419" sz="3000" b="1" dirty="0">
                  <a:solidFill>
                    <a:schemeClr val="accent1"/>
                  </a:solidFill>
                  <a:latin typeface="+mn-lt"/>
                  <a:ea typeface="+mn-ea"/>
                  <a:cs typeface="+mn-cs"/>
                </a:rPr>
              </a:br>
              <a:r>
                <a:rPr lang="es-419" sz="3000" b="1" dirty="0">
                  <a:solidFill>
                    <a:schemeClr val="accent1"/>
                  </a:solidFill>
                  <a:latin typeface="+mn-lt"/>
                  <a:ea typeface="+mn-ea"/>
                  <a:cs typeface="+mn-cs"/>
                </a:rPr>
                <a:t>y decir “nadie tendrá infarto” ya da 98% de accuracy</a:t>
              </a:r>
            </a:p>
          </p:txBody>
        </p:sp>
        <p:sp>
          <p:nvSpPr>
            <p:cNvPr id="4" name="Line 4"/>
            <p:cNvSpPr/>
            <p:nvPr/>
          </p:nvSpPr>
          <p:spPr>
            <a:xfrm>
              <a:off x="609600" y="19621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8" name="cifra-desbalance"/>
          <p:cNvGrpSpPr/>
          <p:nvPr/>
        </p:nvGrpSpPr>
        <p:grpSpPr>
          <a:xfrm>
            <a:off x="590550" y="2501900"/>
            <a:ext cx="3408777" cy="2003044"/>
            <a:chOff x="590550" y="2501900"/>
            <a:chExt cx="3408777" cy="2003044"/>
          </a:xfrm>
        </p:grpSpPr>
        <p:sp>
          <p:nvSpPr>
            <p:cNvPr id="6" name="TextBox 6"/>
            <p:cNvSpPr txBox="1"/>
            <p:nvPr/>
          </p:nvSpPr>
          <p:spPr>
            <a:xfrm>
              <a:off x="590550" y="2501900"/>
              <a:ext cx="2799775" cy="1733550"/>
            </a:xfrm>
            <a:prstGeom prst="rect">
              <a:avLst/>
            </a:prstGeom>
            <a:noFill/>
            <a:ln>
              <a:noFill/>
            </a:ln>
          </p:spPr>
          <p:txBody>
            <a:bodyPr wrap="none" lIns="0" tIns="0" rIns="0" bIns="0" anchor="t" anchorCtr="0">
              <a:spAutoFit/>
            </a:bodyPr>
            <a:lstStyle/>
            <a:p>
              <a:pPr algn="l"/>
              <a:r>
                <a:rPr lang="es-419" sz="9000" b="1" dirty="0">
                  <a:solidFill>
                    <a:schemeClr val="accent2"/>
                  </a:solidFill>
                  <a:latin typeface="+mn-lt"/>
                  <a:ea typeface="+mn-ea"/>
                  <a:cs typeface="+mn-cs"/>
                </a:rPr>
                <a:t>1,8%</a:t>
              </a:r>
            </a:p>
          </p:txBody>
        </p:sp>
        <p:sp>
          <p:nvSpPr>
            <p:cNvPr id="7" name="TextBox 7"/>
            <p:cNvSpPr txBox="1"/>
            <p:nvPr/>
          </p:nvSpPr>
          <p:spPr>
            <a:xfrm>
              <a:off x="600456" y="3848100"/>
              <a:ext cx="3398871" cy="656844"/>
            </a:xfrm>
            <a:prstGeom prst="rect">
              <a:avLst/>
            </a:prstGeom>
            <a:noFill/>
            <a:ln>
              <a:noFill/>
            </a:ln>
          </p:spPr>
          <p:txBody>
            <a:bodyPr wrap="none" lIns="0" tIns="0" rIns="0" bIns="0" anchor="t" anchorCtr="0">
              <a:spAutoFit/>
            </a:bodyPr>
            <a:lstStyle/>
            <a:p>
              <a:pPr algn="l">
                <a:lnSpc>
                  <a:spcPts val="2400"/>
                </a:lnSpc>
              </a:pPr>
              <a:r>
                <a:rPr lang="es-419" sz="1800" dirty="0">
                  <a:solidFill>
                    <a:schemeClr val="dk1"/>
                  </a:solidFill>
                  <a:latin typeface="+mn-lt"/>
                  <a:ea typeface="+mn-ea"/>
                  <a:cs typeface="+mn-cs"/>
                </a:rPr>
                <a:t>de los asegurados tuvo un infarto</a:t>
              </a:r>
              <a:br>
                <a:rPr lang="es-419" sz="1800" dirty="0">
                  <a:solidFill>
                    <a:schemeClr val="dk1"/>
                  </a:solidFill>
                  <a:latin typeface="+mn-lt"/>
                  <a:ea typeface="+mn-ea"/>
                  <a:cs typeface="+mn-cs"/>
                </a:rPr>
              </a:br>
              <a:r>
                <a:rPr lang="es-419" sz="1800" dirty="0">
                  <a:solidFill>
                    <a:schemeClr val="dk1"/>
                  </a:solidFill>
                  <a:latin typeface="+mn-lt"/>
                  <a:ea typeface="+mn-ea"/>
                  <a:cs typeface="+mn-cs"/>
                </a:rPr>
                <a:t>en los 4 años revisados</a:t>
              </a:r>
            </a:p>
          </p:txBody>
        </p:sp>
      </p:grpSp>
      <p:grpSp>
        <p:nvGrpSpPr>
          <p:cNvPr id="18" name="hechos-contexto"/>
          <p:cNvGrpSpPr/>
          <p:nvPr/>
        </p:nvGrpSpPr>
        <p:grpSpPr>
          <a:xfrm>
            <a:off x="6085332" y="2336800"/>
            <a:ext cx="5497068" cy="1901825"/>
            <a:chOff x="6085332" y="2336800"/>
            <a:chExt cx="5497068" cy="1901825"/>
          </a:xfrm>
        </p:grpSpPr>
        <p:sp>
          <p:nvSpPr>
            <p:cNvPr id="9" name="TextBox 9"/>
            <p:cNvSpPr txBox="1"/>
            <p:nvPr/>
          </p:nvSpPr>
          <p:spPr>
            <a:xfrm>
              <a:off x="6085332" y="2336800"/>
              <a:ext cx="886065" cy="410718"/>
            </a:xfrm>
            <a:prstGeom prst="rect">
              <a:avLst/>
            </a:prstGeom>
            <a:noFill/>
            <a:ln>
              <a:noFill/>
            </a:ln>
          </p:spPr>
          <p:txBody>
            <a:bodyPr wrap="none" lIns="0" tIns="0" rIns="0" bIns="0" anchor="t" anchorCtr="0">
              <a:spAutoFit/>
            </a:bodyPr>
            <a:lstStyle/>
            <a:p>
              <a:pPr algn="l"/>
              <a:r>
                <a:rPr lang="es-419" sz="2100" b="1" dirty="0">
                  <a:solidFill>
                    <a:schemeClr val="accent1"/>
                  </a:solidFill>
                  <a:latin typeface="+mn-lt"/>
                  <a:ea typeface="+mn-ea"/>
                  <a:cs typeface="+mn-cs"/>
                </a:rPr>
                <a:t>43.400</a:t>
              </a:r>
            </a:p>
          </p:txBody>
        </p:sp>
        <p:sp>
          <p:nvSpPr>
            <p:cNvPr id="10" name="TextBox 10"/>
            <p:cNvSpPr txBox="1"/>
            <p:nvPr/>
          </p:nvSpPr>
          <p:spPr>
            <a:xfrm>
              <a:off x="7613904" y="2419350"/>
              <a:ext cx="2419068" cy="234696"/>
            </a:xfrm>
            <a:prstGeom prst="rect">
              <a:avLst/>
            </a:prstGeom>
            <a:noFill/>
            <a:ln>
              <a:noFill/>
            </a:ln>
          </p:spPr>
          <p:txBody>
            <a:bodyPr wrap="none" lIns="0" tIns="0" rIns="0" bIns="0" anchor="t" anchorCtr="0">
              <a:spAutoFit/>
            </a:bodyPr>
            <a:lstStyle/>
            <a:p>
              <a:pPr algn="l"/>
              <a:r>
                <a:rPr lang="es-419" sz="1200" dirty="0">
                  <a:solidFill>
                    <a:schemeClr val="accent5"/>
                  </a:solidFill>
                  <a:latin typeface="+mn-lt"/>
                  <a:ea typeface="+mn-ea"/>
                  <a:cs typeface="+mn-cs"/>
                </a:rPr>
                <a:t>asegurados con historial de salud</a:t>
              </a:r>
            </a:p>
          </p:txBody>
        </p:sp>
        <p:sp>
          <p:nvSpPr>
            <p:cNvPr id="11" name="Line 11"/>
            <p:cNvSpPr/>
            <p:nvPr/>
          </p:nvSpPr>
          <p:spPr>
            <a:xfrm>
              <a:off x="6096000" y="2819400"/>
              <a:ext cx="5486400" cy="9525"/>
            </a:xfrm>
            <a:custGeom>
              <a:avLst/>
              <a:gdLst/>
              <a:ahLst/>
              <a:cxnLst/>
              <a:rect l="l" t="t" r="r" b="b"/>
              <a:pathLst>
                <a:path w="5486400" h="9525">
                  <a:moveTo>
                    <a:pt x="0" y="0"/>
                  </a:moveTo>
                  <a:lnTo>
                    <a:pt x="5486400" y="0"/>
                  </a:lnTo>
                </a:path>
              </a:pathLst>
            </a:custGeom>
            <a:noFill/>
            <a:ln w="9525">
              <a:solidFill>
                <a:schemeClr val="accent6"/>
              </a:solidFill>
            </a:ln>
          </p:spPr>
        </p:sp>
        <p:sp>
          <p:nvSpPr>
            <p:cNvPr id="12" name="TextBox 12"/>
            <p:cNvSpPr txBox="1"/>
            <p:nvPr/>
          </p:nvSpPr>
          <p:spPr>
            <a:xfrm>
              <a:off x="6085332" y="3041650"/>
              <a:ext cx="916936" cy="410718"/>
            </a:xfrm>
            <a:prstGeom prst="rect">
              <a:avLst/>
            </a:prstGeom>
            <a:noFill/>
            <a:ln>
              <a:noFill/>
            </a:ln>
          </p:spPr>
          <p:txBody>
            <a:bodyPr wrap="none" lIns="0" tIns="0" rIns="0" bIns="0" anchor="t" anchorCtr="0">
              <a:spAutoFit/>
            </a:bodyPr>
            <a:lstStyle/>
            <a:p>
              <a:pPr algn="l"/>
              <a:r>
                <a:rPr lang="es-419" sz="2100" b="1" dirty="0">
                  <a:solidFill>
                    <a:schemeClr val="accent1"/>
                  </a:solidFill>
                  <a:latin typeface="+mn-lt"/>
                  <a:ea typeface="+mn-ea"/>
                  <a:cs typeface="+mn-cs"/>
                </a:rPr>
                <a:t>4 años</a:t>
              </a:r>
            </a:p>
          </p:txBody>
        </p:sp>
        <p:sp>
          <p:nvSpPr>
            <p:cNvPr id="13" name="TextBox 13"/>
            <p:cNvSpPr txBox="1"/>
            <p:nvPr/>
          </p:nvSpPr>
          <p:spPr>
            <a:xfrm>
              <a:off x="7613904" y="3124200"/>
              <a:ext cx="2562455" cy="234696"/>
            </a:xfrm>
            <a:prstGeom prst="rect">
              <a:avLst/>
            </a:prstGeom>
            <a:noFill/>
            <a:ln>
              <a:noFill/>
            </a:ln>
          </p:spPr>
          <p:txBody>
            <a:bodyPr wrap="none" lIns="0" tIns="0" rIns="0" bIns="0" anchor="t" anchorCtr="0">
              <a:spAutoFit/>
            </a:bodyPr>
            <a:lstStyle/>
            <a:p>
              <a:pPr algn="l"/>
              <a:r>
                <a:rPr lang="es-419" sz="1200" dirty="0">
                  <a:solidFill>
                    <a:schemeClr val="accent5"/>
                  </a:solidFill>
                  <a:latin typeface="+mn-lt"/>
                  <a:ea typeface="+mn-ea"/>
                  <a:cs typeface="+mn-cs"/>
                </a:rPr>
                <a:t>de otorgamiento histórico revisados</a:t>
              </a:r>
            </a:p>
          </p:txBody>
        </p:sp>
        <p:sp>
          <p:nvSpPr>
            <p:cNvPr id="14" name="Line 14"/>
            <p:cNvSpPr/>
            <p:nvPr/>
          </p:nvSpPr>
          <p:spPr>
            <a:xfrm>
              <a:off x="6096000" y="3524250"/>
              <a:ext cx="5486400" cy="9525"/>
            </a:xfrm>
            <a:custGeom>
              <a:avLst/>
              <a:gdLst/>
              <a:ahLst/>
              <a:cxnLst/>
              <a:rect l="l" t="t" r="r" b="b"/>
              <a:pathLst>
                <a:path w="5486400" h="9525">
                  <a:moveTo>
                    <a:pt x="0" y="0"/>
                  </a:moveTo>
                  <a:lnTo>
                    <a:pt x="5486400" y="0"/>
                  </a:lnTo>
                </a:path>
              </a:pathLst>
            </a:custGeom>
            <a:noFill/>
            <a:ln w="9525">
              <a:solidFill>
                <a:schemeClr val="accent6"/>
              </a:solidFill>
            </a:ln>
          </p:spPr>
        </p:sp>
        <p:sp>
          <p:nvSpPr>
            <p:cNvPr id="15" name="TextBox 15"/>
            <p:cNvSpPr txBox="1"/>
            <p:nvPr/>
          </p:nvSpPr>
          <p:spPr>
            <a:xfrm>
              <a:off x="6085332" y="3746500"/>
              <a:ext cx="493053" cy="410718"/>
            </a:xfrm>
            <a:prstGeom prst="rect">
              <a:avLst/>
            </a:prstGeom>
            <a:noFill/>
            <a:ln>
              <a:noFill/>
            </a:ln>
          </p:spPr>
          <p:txBody>
            <a:bodyPr wrap="none" lIns="0" tIns="0" rIns="0" bIns="0" anchor="t" anchorCtr="0">
              <a:spAutoFit/>
            </a:bodyPr>
            <a:lstStyle/>
            <a:p>
              <a:pPr algn="l"/>
              <a:r>
                <a:rPr lang="es-419" sz="2100" b="1" dirty="0">
                  <a:solidFill>
                    <a:schemeClr val="accent2"/>
                  </a:solidFill>
                  <a:latin typeface="+mn-lt"/>
                  <a:ea typeface="+mn-ea"/>
                  <a:cs typeface="+mn-cs"/>
                </a:rPr>
                <a:t>783</a:t>
              </a:r>
            </a:p>
          </p:txBody>
        </p:sp>
        <p:sp>
          <p:nvSpPr>
            <p:cNvPr id="16" name="TextBox 16"/>
            <p:cNvSpPr txBox="1"/>
            <p:nvPr/>
          </p:nvSpPr>
          <p:spPr>
            <a:xfrm>
              <a:off x="7613904" y="3829050"/>
              <a:ext cx="2706067" cy="234696"/>
            </a:xfrm>
            <a:prstGeom prst="rect">
              <a:avLst/>
            </a:prstGeom>
            <a:noFill/>
            <a:ln>
              <a:noFill/>
            </a:ln>
          </p:spPr>
          <p:txBody>
            <a:bodyPr wrap="none" lIns="0" tIns="0" rIns="0" bIns="0" anchor="t" anchorCtr="0">
              <a:spAutoFit/>
            </a:bodyPr>
            <a:lstStyle/>
            <a:p>
              <a:pPr algn="l"/>
              <a:r>
                <a:rPr lang="es-419" sz="1200" dirty="0">
                  <a:solidFill>
                    <a:schemeClr val="accent5"/>
                  </a:solidFill>
                  <a:latin typeface="+mn-lt"/>
                  <a:ea typeface="+mn-ea"/>
                  <a:cs typeface="+mn-cs"/>
                </a:rPr>
                <a:t>infartos: la clase que importa detectar</a:t>
              </a:r>
            </a:p>
          </p:txBody>
        </p:sp>
        <p:sp>
          <p:nvSpPr>
            <p:cNvPr id="17" name="Line 17"/>
            <p:cNvSpPr/>
            <p:nvPr/>
          </p:nvSpPr>
          <p:spPr>
            <a:xfrm>
              <a:off x="6096000" y="4229100"/>
              <a:ext cx="5486400" cy="9525"/>
            </a:xfrm>
            <a:custGeom>
              <a:avLst/>
              <a:gdLst/>
              <a:ahLst/>
              <a:cxnLst/>
              <a:rect l="l" t="t" r="r" b="b"/>
              <a:pathLst>
                <a:path w="5486400" h="9525">
                  <a:moveTo>
                    <a:pt x="0" y="0"/>
                  </a:moveTo>
                  <a:lnTo>
                    <a:pt x="5486400" y="0"/>
                  </a:lnTo>
                </a:path>
              </a:pathLst>
            </a:custGeom>
            <a:noFill/>
            <a:ln w="9525">
              <a:solidFill>
                <a:schemeClr val="accent6"/>
              </a:solidFill>
            </a:ln>
          </p:spPr>
        </p:sp>
      </p:grpSp>
      <p:grpSp>
        <p:nvGrpSpPr>
          <p:cNvPr id="24" name="conclusion"/>
          <p:cNvGrpSpPr/>
          <p:nvPr/>
        </p:nvGrpSpPr>
        <p:grpSpPr>
          <a:xfrm>
            <a:off x="609600" y="4762500"/>
            <a:ext cx="10972800" cy="1409700"/>
            <a:chOff x="609600" y="4762500"/>
            <a:chExt cx="10972800" cy="1409700"/>
          </a:xfrm>
        </p:grpSpPr>
        <p:sp>
          <p:nvSpPr>
            <p:cNvPr id="19" name="Rectangle 19"/>
            <p:cNvSpPr/>
            <p:nvPr/>
          </p:nvSpPr>
          <p:spPr>
            <a:xfrm>
              <a:off x="609600" y="4762500"/>
              <a:ext cx="10972800" cy="1409700"/>
            </a:xfrm>
            <a:prstGeom prst="rect">
              <a:avLst/>
            </a:prstGeom>
            <a:solidFill>
              <a:schemeClr val="lt2"/>
            </a:solidFill>
            <a:ln>
              <a:noFill/>
            </a:ln>
          </p:spPr>
        </p:sp>
        <p:sp>
          <p:nvSpPr>
            <p:cNvPr id="20" name="Rectangle 20"/>
            <p:cNvSpPr/>
            <p:nvPr/>
          </p:nvSpPr>
          <p:spPr>
            <a:xfrm>
              <a:off x="609600" y="4762500"/>
              <a:ext cx="57150" cy="1409700"/>
            </a:xfrm>
            <a:prstGeom prst="rect">
              <a:avLst/>
            </a:prstGeom>
            <a:solidFill>
              <a:schemeClr val="accent1"/>
            </a:solidFill>
            <a:ln>
              <a:noFill/>
            </a:ln>
          </p:spPr>
        </p:sp>
        <p:sp>
          <p:nvSpPr>
            <p:cNvPr id="21" name="TextBox 21"/>
            <p:cNvSpPr txBox="1"/>
            <p:nvPr/>
          </p:nvSpPr>
          <p:spPr>
            <a:xfrm>
              <a:off x="905256" y="4953000"/>
              <a:ext cx="9159750" cy="352044"/>
            </a:xfrm>
            <a:prstGeom prst="rect">
              <a:avLst/>
            </a:prstGeom>
            <a:noFill/>
            <a:ln>
              <a:noFill/>
            </a:ln>
          </p:spPr>
          <p:txBody>
            <a:bodyPr wrap="none" lIns="0" tIns="0" rIns="0" bIns="0" anchor="t" anchorCtr="0">
              <a:spAutoFit/>
            </a:bodyPr>
            <a:lstStyle/>
            <a:p>
              <a:pPr algn="l"/>
              <a:r>
                <a:rPr lang="es-419" sz="1800" dirty="0">
                  <a:solidFill>
                    <a:schemeClr val="dk1"/>
                  </a:solidFill>
                  <a:latin typeface="+mn-lt"/>
                  <a:ea typeface="+mn-ea"/>
                  <a:cs typeface="+mn-cs"/>
                </a:rPr>
                <a:t>Un modelo que siempre dice “no habrá infarto” acierta el 98,2% y no detecta a nadie.</a:t>
              </a:r>
            </a:p>
          </p:txBody>
        </p:sp>
        <p:sp>
          <p:nvSpPr>
            <p:cNvPr id="22" name="TextBox 22"/>
            <p:cNvSpPr txBox="1"/>
            <p:nvPr/>
          </p:nvSpPr>
          <p:spPr>
            <a:xfrm>
              <a:off x="905256" y="5295900"/>
              <a:ext cx="8399926" cy="352044"/>
            </a:xfrm>
            <a:prstGeom prst="rect">
              <a:avLst/>
            </a:prstGeom>
            <a:noFill/>
            <a:ln>
              <a:noFill/>
            </a:ln>
          </p:spPr>
          <p:txBody>
            <a:bodyPr wrap="none" lIns="0" tIns="0" rIns="0" bIns="0" anchor="t" anchorCtr="0">
              <a:spAutoFit/>
            </a:bodyPr>
            <a:lstStyle/>
            <a:p>
              <a:pPr algn="l"/>
              <a:r>
                <a:rPr lang="es-419" sz="1800" b="1" dirty="0">
                  <a:solidFill>
                    <a:schemeClr val="accent1"/>
                  </a:solidFill>
                  <a:latin typeface="+mn-lt"/>
                  <a:ea typeface="+mn-ea"/>
                  <a:cs typeface="+mn-cs"/>
                </a:rPr>
                <a:t>Por eso el pipeline mide recall (infartos detectados) y AUC, no accuracy.</a:t>
              </a:r>
            </a:p>
          </p:txBody>
        </p:sp>
        <p:sp>
          <p:nvSpPr>
            <p:cNvPr id="23" name="TextBox 23"/>
            <p:cNvSpPr txBox="1"/>
            <p:nvPr/>
          </p:nvSpPr>
          <p:spPr>
            <a:xfrm>
              <a:off x="908304" y="5772150"/>
              <a:ext cx="9165471" cy="234696"/>
            </a:xfrm>
            <a:prstGeom prst="rect">
              <a:avLst/>
            </a:prstGeom>
            <a:noFill/>
            <a:ln>
              <a:noFill/>
            </a:ln>
          </p:spPr>
          <p:txBody>
            <a:bodyPr wrap="none" lIns="0" tIns="0" rIns="0" bIns="0" anchor="t" anchorCtr="0">
              <a:spAutoFit/>
            </a:bodyPr>
            <a:lstStyle/>
            <a:p>
              <a:pPr algn="l"/>
              <a:r>
                <a:rPr lang="es-419" sz="1200" dirty="0">
                  <a:solidFill>
                    <a:schemeClr val="accent5"/>
                  </a:solidFill>
                  <a:latin typeface="+mn-lt"/>
                  <a:ea typeface="+mn-ea"/>
                  <a:cs typeface="+mn-cs"/>
                </a:rPr>
                <a:t>Datos de escenario · supuestos de costo en config.yaml: US$20.000 por infarto no detectado · US$300 por chequeo preventivo</a:t>
              </a:r>
            </a:p>
          </p:txBody>
        </p:sp>
      </p:grpSp>
      <p:grpSp>
        <p:nvGrpSpPr>
          <p:cNvPr id="27" name="footer"/>
          <p:cNvGrpSpPr/>
          <p:nvPr/>
        </p:nvGrpSpPr>
        <p:grpSpPr>
          <a:xfrm>
            <a:off x="603504" y="6381750"/>
            <a:ext cx="10984992" cy="234696"/>
            <a:chOff x="603504" y="6381750"/>
            <a:chExt cx="10984992" cy="234696"/>
          </a:xfrm>
        </p:grpSpPr>
        <p:sp>
          <p:nvSpPr>
            <p:cNvPr id="25" name="TextBox 25"/>
            <p:cNvSpPr txBox="1"/>
            <p:nvPr/>
          </p:nvSpPr>
          <p:spPr>
            <a:xfrm>
              <a:off x="603504" y="6381750"/>
              <a:ext cx="3405319" cy="234696"/>
            </a:xfrm>
            <a:prstGeom prst="rect">
              <a:avLst/>
            </a:prstGeom>
            <a:noFill/>
            <a:ln>
              <a:noFill/>
            </a:ln>
          </p:spPr>
          <p:txBody>
            <a:bodyPr wrap="none" lIns="0" tIns="0" rIns="0" bIns="0" anchor="t" anchorCtr="0">
              <a:spAutoFit/>
            </a:bodyPr>
            <a:lstStyle/>
            <a:p>
              <a:pPr algn="l"/>
              <a:r>
                <a:rPr lang="es-419" sz="1200" dirty="0">
                  <a:solidFill>
                    <a:schemeClr val="accent5"/>
                  </a:solidFill>
                  <a:latin typeface="+mn-lt"/>
                  <a:ea typeface="+mn-ea"/>
                  <a:cs typeface="+mn-cs"/>
                </a:rPr>
                <a:t>Proyecto Final MLOps · Prevención de Infartos</a:t>
              </a:r>
            </a:p>
          </p:txBody>
        </p:sp>
        <p:sp>
          <p:nvSpPr>
            <p:cNvPr id="26" name="TextBox 26"/>
            <p:cNvSpPr txBox="1"/>
            <p:nvPr/>
          </p:nvSpPr>
          <p:spPr>
            <a:xfrm>
              <a:off x="11082270" y="6381750"/>
              <a:ext cx="506226" cy="234696"/>
            </a:xfrm>
            <a:prstGeom prst="rect">
              <a:avLst/>
            </a:prstGeom>
            <a:noFill/>
            <a:ln>
              <a:noFill/>
            </a:ln>
          </p:spPr>
          <p:txBody>
            <a:bodyPr wrap="none" lIns="0" tIns="0" rIns="0" bIns="0" anchor="t" anchorCtr="0">
              <a:spAutoFit/>
            </a:bodyPr>
            <a:lstStyle/>
            <a:p>
              <a:pPr algn="r"/>
              <a:r>
                <a:rPr lang="es-419" sz="1200" dirty="0">
                  <a:solidFill>
                    <a:schemeClr val="accent5"/>
                  </a:solidFill>
                  <a:latin typeface="+mn-lt"/>
                  <a:ea typeface="+mn-ea"/>
                  <a:cs typeface="+mn-cs"/>
                </a:rPr>
                <a:t>02 / 10</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4360" y="584200"/>
            <a:ext cx="10988040" cy="1387475"/>
            <a:chOff x="594360" y="584200"/>
            <a:chExt cx="10988040" cy="1387475"/>
          </a:xfrm>
        </p:grpSpPr>
        <p:sp>
          <p:nvSpPr>
            <p:cNvPr id="2" name="TextBox 2"/>
            <p:cNvSpPr txBox="1"/>
            <p:nvPr/>
          </p:nvSpPr>
          <p:spPr>
            <a:xfrm>
              <a:off x="603885" y="584200"/>
              <a:ext cx="2746539" cy="220028"/>
            </a:xfrm>
            <a:prstGeom prst="rect">
              <a:avLst/>
            </a:prstGeom>
            <a:noFill/>
            <a:ln>
              <a:noFill/>
            </a:ln>
          </p:spPr>
          <p:txBody>
            <a:bodyPr wrap="none" lIns="0" tIns="0" rIns="0" bIns="0" anchor="t" anchorCtr="0">
              <a:spAutoFit/>
            </a:bodyPr>
            <a:lstStyle/>
            <a:p>
              <a:pPr algn="l"/>
              <a:r>
                <a:rPr lang="es-419" sz="1120" b="1" dirty="0">
                  <a:solidFill>
                    <a:schemeClr val="accent5"/>
                  </a:solidFill>
                  <a:latin typeface="+mn-lt"/>
                  <a:ea typeface="+mn-ea"/>
                  <a:cs typeface="+mn-cs"/>
                </a:rPr>
                <a:t>02 · LA RESPUESTA EN UNA CIFRA</a:t>
              </a:r>
            </a:p>
          </p:txBody>
        </p:sp>
        <p:sp>
          <p:nvSpPr>
            <p:cNvPr id="3" name="TextBox 3"/>
            <p:cNvSpPr txBox="1"/>
            <p:nvPr/>
          </p:nvSpPr>
          <p:spPr>
            <a:xfrm>
              <a:off x="594360" y="850900"/>
              <a:ext cx="8352053" cy="1062990"/>
            </a:xfrm>
            <a:prstGeom prst="rect">
              <a:avLst/>
            </a:prstGeom>
            <a:noFill/>
            <a:ln>
              <a:noFill/>
            </a:ln>
          </p:spPr>
          <p:txBody>
            <a:bodyPr wrap="none" lIns="0" tIns="0" rIns="0" bIns="0" anchor="t" anchorCtr="0">
              <a:spAutoFit/>
            </a:bodyPr>
            <a:lstStyle/>
            <a:p>
              <a:pPr algn="l">
                <a:lnSpc>
                  <a:spcPts val="3750"/>
                </a:lnSpc>
              </a:pPr>
              <a:r>
                <a:rPr lang="es-419" sz="3000" b="1" dirty="0">
                  <a:solidFill>
                    <a:schemeClr val="accent1"/>
                  </a:solidFill>
                  <a:latin typeface="+mn-lt"/>
                  <a:ea typeface="+mn-ea"/>
                  <a:cs typeface="+mn-cs"/>
                </a:rPr>
                <a:t>El modelo detecta 8 de cada 10 infartos y baja</a:t>
              </a:r>
              <a:br>
                <a:rPr lang="es-419" sz="3000" b="1" dirty="0">
                  <a:solidFill>
                    <a:schemeClr val="accent1"/>
                  </a:solidFill>
                  <a:latin typeface="+mn-lt"/>
                  <a:ea typeface="+mn-ea"/>
                  <a:cs typeface="+mn-cs"/>
                </a:rPr>
              </a:br>
              <a:r>
                <a:rPr lang="es-419" sz="3000" b="1" dirty="0">
                  <a:solidFill>
                    <a:schemeClr val="accent1"/>
                  </a:solidFill>
                  <a:latin typeface="+mn-lt"/>
                  <a:ea typeface="+mn-ea"/>
                  <a:cs typeface="+mn-cs"/>
                </a:rPr>
                <a:t>el costo esperado a menos de la mitad</a:t>
              </a:r>
            </a:p>
          </p:txBody>
        </p:sp>
        <p:sp>
          <p:nvSpPr>
            <p:cNvPr id="4" name="Line 4"/>
            <p:cNvSpPr/>
            <p:nvPr/>
          </p:nvSpPr>
          <p:spPr>
            <a:xfrm>
              <a:off x="609600" y="19621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10" name="resultado-recall"/>
          <p:cNvGrpSpPr/>
          <p:nvPr/>
        </p:nvGrpSpPr>
        <p:grpSpPr>
          <a:xfrm>
            <a:off x="590550" y="2501900"/>
            <a:ext cx="4429701" cy="2438146"/>
            <a:chOff x="590550" y="2501900"/>
            <a:chExt cx="4429701" cy="2438146"/>
          </a:xfrm>
        </p:grpSpPr>
        <p:sp>
          <p:nvSpPr>
            <p:cNvPr id="6" name="TextBox 6"/>
            <p:cNvSpPr txBox="1"/>
            <p:nvPr/>
          </p:nvSpPr>
          <p:spPr>
            <a:xfrm>
              <a:off x="590550" y="2501900"/>
              <a:ext cx="2059742" cy="1733550"/>
            </a:xfrm>
            <a:prstGeom prst="rect">
              <a:avLst/>
            </a:prstGeom>
            <a:noFill/>
            <a:ln>
              <a:noFill/>
            </a:ln>
          </p:spPr>
          <p:txBody>
            <a:bodyPr wrap="none" lIns="0" tIns="0" rIns="0" bIns="0" anchor="t" anchorCtr="0">
              <a:spAutoFit/>
            </a:bodyPr>
            <a:lstStyle/>
            <a:p>
              <a:pPr algn="l"/>
              <a:r>
                <a:rPr lang="es-419" sz="9000" b="1" dirty="0">
                  <a:solidFill>
                    <a:schemeClr val="accent2"/>
                  </a:solidFill>
                  <a:latin typeface="+mn-lt"/>
                  <a:ea typeface="+mn-ea"/>
                  <a:cs typeface="+mn-cs"/>
                </a:rPr>
                <a:t>128</a:t>
              </a:r>
            </a:p>
          </p:txBody>
        </p:sp>
        <p:sp>
          <p:nvSpPr>
            <p:cNvPr id="7" name="TextBox 7"/>
            <p:cNvSpPr txBox="1"/>
            <p:nvPr/>
          </p:nvSpPr>
          <p:spPr>
            <a:xfrm>
              <a:off x="598932" y="3822700"/>
              <a:ext cx="3084978" cy="410718"/>
            </a:xfrm>
            <a:prstGeom prst="rect">
              <a:avLst/>
            </a:prstGeom>
            <a:noFill/>
            <a:ln>
              <a:noFill/>
            </a:ln>
          </p:spPr>
          <p:txBody>
            <a:bodyPr wrap="none" lIns="0" tIns="0" rIns="0" bIns="0" anchor="t" anchorCtr="0">
              <a:spAutoFit/>
            </a:bodyPr>
            <a:lstStyle/>
            <a:p>
              <a:pPr algn="l"/>
              <a:r>
                <a:rPr lang="es-419" sz="2100" b="1" dirty="0">
                  <a:solidFill>
                    <a:schemeClr val="accent1"/>
                  </a:solidFill>
                  <a:latin typeface="+mn-lt"/>
                  <a:ea typeface="+mn-ea"/>
                  <a:cs typeface="+mn-cs"/>
                </a:rPr>
                <a:t>de 157 infartos del test</a:t>
              </a:r>
            </a:p>
          </p:txBody>
        </p:sp>
        <p:sp>
          <p:nvSpPr>
            <p:cNvPr id="8" name="TextBox 8"/>
            <p:cNvSpPr txBox="1"/>
            <p:nvPr/>
          </p:nvSpPr>
          <p:spPr>
            <a:xfrm>
              <a:off x="600456" y="4191000"/>
              <a:ext cx="4018925" cy="352044"/>
            </a:xfrm>
            <a:prstGeom prst="rect">
              <a:avLst/>
            </a:prstGeom>
            <a:noFill/>
            <a:ln>
              <a:noFill/>
            </a:ln>
          </p:spPr>
          <p:txBody>
            <a:bodyPr wrap="none" lIns="0" tIns="0" rIns="0" bIns="0" anchor="t" anchorCtr="0">
              <a:spAutoFit/>
            </a:bodyPr>
            <a:lstStyle/>
            <a:p>
              <a:pPr algn="l"/>
              <a:r>
                <a:rPr lang="es-419" sz="1800" dirty="0">
                  <a:solidFill>
                    <a:schemeClr val="dk1"/>
                  </a:solidFill>
                  <a:latin typeface="+mn-lt"/>
                  <a:ea typeface="+mn-ea"/>
                  <a:cs typeface="+mn-cs"/>
                </a:rPr>
                <a:t>quedaron marcados como alto riesgo</a:t>
              </a:r>
            </a:p>
          </p:txBody>
        </p:sp>
        <p:sp>
          <p:nvSpPr>
            <p:cNvPr id="9" name="TextBox 9"/>
            <p:cNvSpPr txBox="1"/>
            <p:nvPr/>
          </p:nvSpPr>
          <p:spPr>
            <a:xfrm>
              <a:off x="603504" y="4705350"/>
              <a:ext cx="4416747" cy="234696"/>
            </a:xfrm>
            <a:prstGeom prst="rect">
              <a:avLst/>
            </a:prstGeom>
            <a:noFill/>
            <a:ln>
              <a:noFill/>
            </a:ln>
          </p:spPr>
          <p:txBody>
            <a:bodyPr wrap="none" lIns="0" tIns="0" rIns="0" bIns="0" anchor="t" anchorCtr="0">
              <a:spAutoFit/>
            </a:bodyPr>
            <a:lstStyle/>
            <a:p>
              <a:pPr algn="l"/>
              <a:r>
                <a:rPr lang="es-419" sz="1200" dirty="0">
                  <a:solidFill>
                    <a:schemeClr val="accent5"/>
                  </a:solidFill>
                  <a:latin typeface="+mn-lt"/>
                  <a:ea typeface="+mn-ea"/>
                  <a:cs typeface="+mn-cs"/>
                </a:rPr>
                <a:t>Recall 0,815 · AUC 0,828 · test holdout de 8.680 asegurados</a:t>
              </a:r>
            </a:p>
          </p:txBody>
        </p:sp>
      </p:grpSp>
      <p:grpSp>
        <p:nvGrpSpPr>
          <p:cNvPr id="21" name="comparacion-costo"/>
          <p:cNvGrpSpPr/>
          <p:nvPr/>
        </p:nvGrpSpPr>
        <p:grpSpPr>
          <a:xfrm>
            <a:off x="6086856" y="2343150"/>
            <a:ext cx="5438409" cy="3327146"/>
            <a:chOff x="6086856" y="2343150"/>
            <a:chExt cx="5438409" cy="3327146"/>
          </a:xfrm>
        </p:grpSpPr>
        <p:sp>
          <p:nvSpPr>
            <p:cNvPr id="11" name="TextBox 11"/>
            <p:cNvSpPr txBox="1"/>
            <p:nvPr/>
          </p:nvSpPr>
          <p:spPr>
            <a:xfrm>
              <a:off x="6089904" y="2343150"/>
              <a:ext cx="4463981" cy="234696"/>
            </a:xfrm>
            <a:prstGeom prst="rect">
              <a:avLst/>
            </a:prstGeom>
            <a:noFill/>
            <a:ln>
              <a:noFill/>
            </a:ln>
          </p:spPr>
          <p:txBody>
            <a:bodyPr wrap="none" lIns="0" tIns="0" rIns="0" bIns="0" anchor="t" anchorCtr="0">
              <a:spAutoFit/>
            </a:bodyPr>
            <a:lstStyle/>
            <a:p>
              <a:pPr algn="l"/>
              <a:r>
                <a:rPr lang="es-419" sz="1200" dirty="0">
                  <a:solidFill>
                    <a:schemeClr val="accent5"/>
                  </a:solidFill>
                  <a:latin typeface="+mn-lt"/>
                  <a:ea typeface="+mn-ea"/>
                  <a:cs typeface="+mn-cs"/>
                </a:rPr>
                <a:t>Costo esperado para la aseguradora en el test (US$ millones)</a:t>
              </a:r>
            </a:p>
          </p:txBody>
        </p:sp>
        <p:sp>
          <p:nvSpPr>
            <p:cNvPr id="12" name="Line 12"/>
            <p:cNvSpPr/>
            <p:nvPr/>
          </p:nvSpPr>
          <p:spPr>
            <a:xfrm>
              <a:off x="6096000" y="2686050"/>
              <a:ext cx="9525" cy="1924050"/>
            </a:xfrm>
            <a:custGeom>
              <a:avLst/>
              <a:gdLst/>
              <a:ahLst/>
              <a:cxnLst/>
              <a:rect l="l" t="t" r="r" b="b"/>
              <a:pathLst>
                <a:path w="9525" h="1924050">
                  <a:moveTo>
                    <a:pt x="0" y="0"/>
                  </a:moveTo>
                  <a:lnTo>
                    <a:pt x="0" y="1924050"/>
                  </a:lnTo>
                </a:path>
              </a:pathLst>
            </a:custGeom>
            <a:noFill/>
            <a:ln w="9525">
              <a:solidFill>
                <a:srgbClr val="5B6470"/>
              </a:solidFill>
            </a:ln>
          </p:spPr>
        </p:sp>
        <p:sp>
          <p:nvSpPr>
            <p:cNvPr id="13" name="TextBox 13"/>
            <p:cNvSpPr txBox="1"/>
            <p:nvPr/>
          </p:nvSpPr>
          <p:spPr>
            <a:xfrm>
              <a:off x="6239256" y="2724150"/>
              <a:ext cx="1238268" cy="352044"/>
            </a:xfrm>
            <a:prstGeom prst="rect">
              <a:avLst/>
            </a:prstGeom>
            <a:noFill/>
            <a:ln>
              <a:noFill/>
            </a:ln>
          </p:spPr>
          <p:txBody>
            <a:bodyPr wrap="none" lIns="0" tIns="0" rIns="0" bIns="0" anchor="t" anchorCtr="0">
              <a:spAutoFit/>
            </a:bodyPr>
            <a:lstStyle/>
            <a:p>
              <a:pPr algn="l"/>
              <a:r>
                <a:rPr lang="es-419" sz="1800" dirty="0">
                  <a:solidFill>
                    <a:schemeClr val="dk1"/>
                  </a:solidFill>
                  <a:latin typeface="+mn-lt"/>
                  <a:ea typeface="+mn-ea"/>
                  <a:cs typeface="+mn-cs"/>
                </a:rPr>
                <a:t>Sin modelo</a:t>
              </a:r>
            </a:p>
          </p:txBody>
        </p:sp>
        <p:sp>
          <p:nvSpPr>
            <p:cNvPr id="14" name="Rectangle 14"/>
            <p:cNvSpPr/>
            <p:nvPr/>
          </p:nvSpPr>
          <p:spPr>
            <a:xfrm>
              <a:off x="6096000" y="3067050"/>
              <a:ext cx="3810000" cy="457200"/>
            </a:xfrm>
            <a:prstGeom prst="rect">
              <a:avLst/>
            </a:prstGeom>
            <a:solidFill>
              <a:schemeClr val="accent1"/>
            </a:solidFill>
            <a:ln>
              <a:noFill/>
            </a:ln>
          </p:spPr>
        </p:sp>
        <p:sp>
          <p:nvSpPr>
            <p:cNvPr id="15" name="TextBox 15"/>
            <p:cNvSpPr txBox="1"/>
            <p:nvPr/>
          </p:nvSpPr>
          <p:spPr>
            <a:xfrm>
              <a:off x="10009632" y="3136900"/>
              <a:ext cx="1515633" cy="410718"/>
            </a:xfrm>
            <a:prstGeom prst="rect">
              <a:avLst/>
            </a:prstGeom>
            <a:noFill/>
            <a:ln>
              <a:noFill/>
            </a:ln>
          </p:spPr>
          <p:txBody>
            <a:bodyPr wrap="none" lIns="0" tIns="0" rIns="0" bIns="0" anchor="t" anchorCtr="0">
              <a:spAutoFit/>
            </a:bodyPr>
            <a:lstStyle/>
            <a:p>
              <a:pPr algn="l"/>
              <a:r>
                <a:rPr lang="es-419" sz="2100" b="1" dirty="0">
                  <a:solidFill>
                    <a:schemeClr val="accent1"/>
                  </a:solidFill>
                  <a:latin typeface="+mn-lt"/>
                  <a:ea typeface="+mn-ea"/>
                  <a:cs typeface="+mn-cs"/>
                </a:rPr>
                <a:t>US$3,14 M</a:t>
              </a:r>
            </a:p>
          </p:txBody>
        </p:sp>
        <p:sp>
          <p:nvSpPr>
            <p:cNvPr id="16" name="TextBox 16"/>
            <p:cNvSpPr txBox="1"/>
            <p:nvPr/>
          </p:nvSpPr>
          <p:spPr>
            <a:xfrm>
              <a:off x="6239256" y="3695700"/>
              <a:ext cx="1333171" cy="352044"/>
            </a:xfrm>
            <a:prstGeom prst="rect">
              <a:avLst/>
            </a:prstGeom>
            <a:noFill/>
            <a:ln>
              <a:noFill/>
            </a:ln>
          </p:spPr>
          <p:txBody>
            <a:bodyPr wrap="none" lIns="0" tIns="0" rIns="0" bIns="0" anchor="t" anchorCtr="0">
              <a:spAutoFit/>
            </a:bodyPr>
            <a:lstStyle/>
            <a:p>
              <a:pPr algn="l"/>
              <a:r>
                <a:rPr lang="es-419" sz="1800" dirty="0">
                  <a:solidFill>
                    <a:schemeClr val="dk1"/>
                  </a:solidFill>
                  <a:latin typeface="+mn-lt"/>
                  <a:ea typeface="+mn-ea"/>
                  <a:cs typeface="+mn-cs"/>
                </a:rPr>
                <a:t>Con modelo</a:t>
              </a:r>
            </a:p>
          </p:txBody>
        </p:sp>
        <p:sp>
          <p:nvSpPr>
            <p:cNvPr id="17" name="Rectangle 17"/>
            <p:cNvSpPr/>
            <p:nvPr/>
          </p:nvSpPr>
          <p:spPr>
            <a:xfrm>
              <a:off x="6096000" y="4038600"/>
              <a:ext cx="1541145" cy="457200"/>
            </a:xfrm>
            <a:prstGeom prst="rect">
              <a:avLst/>
            </a:prstGeom>
            <a:solidFill>
              <a:schemeClr val="accent3"/>
            </a:solidFill>
            <a:ln>
              <a:noFill/>
            </a:ln>
          </p:spPr>
        </p:sp>
        <p:sp>
          <p:nvSpPr>
            <p:cNvPr id="18" name="TextBox 18"/>
            <p:cNvSpPr txBox="1"/>
            <p:nvPr/>
          </p:nvSpPr>
          <p:spPr>
            <a:xfrm>
              <a:off x="7740777" y="4108450"/>
              <a:ext cx="1515633" cy="410718"/>
            </a:xfrm>
            <a:prstGeom prst="rect">
              <a:avLst/>
            </a:prstGeom>
            <a:noFill/>
            <a:ln>
              <a:noFill/>
            </a:ln>
          </p:spPr>
          <p:txBody>
            <a:bodyPr wrap="none" lIns="0" tIns="0" rIns="0" bIns="0" anchor="t" anchorCtr="0">
              <a:spAutoFit/>
            </a:bodyPr>
            <a:lstStyle/>
            <a:p>
              <a:pPr algn="l"/>
              <a:r>
                <a:rPr lang="es-419" sz="2100" b="1" dirty="0">
                  <a:solidFill>
                    <a:schemeClr val="accent1"/>
                  </a:solidFill>
                  <a:latin typeface="+mn-lt"/>
                  <a:ea typeface="+mn-ea"/>
                  <a:cs typeface="+mn-cs"/>
                </a:rPr>
                <a:t>US$1,27 M</a:t>
              </a:r>
            </a:p>
          </p:txBody>
        </p:sp>
        <p:sp>
          <p:nvSpPr>
            <p:cNvPr id="19" name="TextBox 19"/>
            <p:cNvSpPr txBox="1"/>
            <p:nvPr/>
          </p:nvSpPr>
          <p:spPr>
            <a:xfrm>
              <a:off x="6086856" y="4857750"/>
              <a:ext cx="4227833" cy="352044"/>
            </a:xfrm>
            <a:prstGeom prst="rect">
              <a:avLst/>
            </a:prstGeom>
            <a:noFill/>
            <a:ln>
              <a:noFill/>
            </a:ln>
          </p:spPr>
          <p:txBody>
            <a:bodyPr wrap="none" lIns="0" tIns="0" rIns="0" bIns="0" anchor="t" anchorCtr="0">
              <a:spAutoFit/>
            </a:bodyPr>
            <a:lstStyle/>
            <a:p>
              <a:pPr algn="l"/>
              <a:r>
                <a:rPr lang="es-419" sz="1800" b="1" dirty="0">
                  <a:solidFill>
                    <a:schemeClr val="accent1"/>
                  </a:solidFill>
                  <a:latin typeface="+mn-lt"/>
                  <a:ea typeface="+mn-ea"/>
                  <a:cs typeface="+mn-cs"/>
                </a:rPr>
                <a:t>Ahorro estimado: US$1,87 M (−60%)</a:t>
              </a:r>
            </a:p>
          </p:txBody>
        </p:sp>
        <p:sp>
          <p:nvSpPr>
            <p:cNvPr id="20" name="TextBox 20"/>
            <p:cNvSpPr txBox="1"/>
            <p:nvPr/>
          </p:nvSpPr>
          <p:spPr>
            <a:xfrm>
              <a:off x="6089904" y="5226050"/>
              <a:ext cx="5201321" cy="444246"/>
            </a:xfrm>
            <a:prstGeom prst="rect">
              <a:avLst/>
            </a:prstGeom>
            <a:noFill/>
            <a:ln>
              <a:noFill/>
            </a:ln>
          </p:spPr>
          <p:txBody>
            <a:bodyPr wrap="none" lIns="0" tIns="0" rIns="0" bIns="0" anchor="t" anchorCtr="0">
              <a:spAutoFit/>
            </a:bodyPr>
            <a:lstStyle/>
            <a:p>
              <a:pPr algn="l">
                <a:lnSpc>
                  <a:spcPts val="1650"/>
                </a:lnSpc>
              </a:pPr>
              <a:r>
                <a:rPr lang="es-419" sz="1200" dirty="0">
                  <a:solidFill>
                    <a:schemeClr val="accent5"/>
                  </a:solidFill>
                  <a:latin typeface="+mn-lt"/>
                  <a:ea typeface="+mn-ea"/>
                  <a:cs typeface="+mn-cs"/>
                </a:rPr>
                <a:t>Datos de escenario · con modelo: 29 FN × US$20.000 + 2.291 FP × US$300</a:t>
              </a:r>
              <a:br>
                <a:rPr lang="es-419" sz="1200" dirty="0">
                  <a:solidFill>
                    <a:schemeClr val="accent5"/>
                  </a:solidFill>
                  <a:latin typeface="+mn-lt"/>
                  <a:ea typeface="+mn-ea"/>
                  <a:cs typeface="+mn-cs"/>
                </a:rPr>
              </a:br>
              <a:r>
                <a:rPr lang="es-419" sz="1200" dirty="0">
                  <a:solidFill>
                    <a:schemeClr val="accent5"/>
                  </a:solidFill>
                  <a:latin typeface="+mn-lt"/>
                  <a:ea typeface="+mn-ea"/>
                  <a:cs typeface="+mn-cs"/>
                </a:rPr>
                <a:t>sin modelo: 157 infartos × US$20.000</a:t>
              </a:r>
            </a:p>
          </p:txBody>
        </p:sp>
      </p:grpSp>
      <p:grpSp>
        <p:nvGrpSpPr>
          <p:cNvPr id="24" name="footer"/>
          <p:cNvGrpSpPr/>
          <p:nvPr/>
        </p:nvGrpSpPr>
        <p:grpSpPr>
          <a:xfrm>
            <a:off x="603504" y="6381750"/>
            <a:ext cx="10984992" cy="234696"/>
            <a:chOff x="603504" y="6381750"/>
            <a:chExt cx="10984992" cy="234696"/>
          </a:xfrm>
        </p:grpSpPr>
        <p:sp>
          <p:nvSpPr>
            <p:cNvPr id="22" name="TextBox 22"/>
            <p:cNvSpPr txBox="1"/>
            <p:nvPr/>
          </p:nvSpPr>
          <p:spPr>
            <a:xfrm>
              <a:off x="603504" y="6381750"/>
              <a:ext cx="3405319" cy="234696"/>
            </a:xfrm>
            <a:prstGeom prst="rect">
              <a:avLst/>
            </a:prstGeom>
            <a:noFill/>
            <a:ln>
              <a:noFill/>
            </a:ln>
          </p:spPr>
          <p:txBody>
            <a:bodyPr wrap="none" lIns="0" tIns="0" rIns="0" bIns="0" anchor="t" anchorCtr="0">
              <a:spAutoFit/>
            </a:bodyPr>
            <a:lstStyle/>
            <a:p>
              <a:pPr algn="l"/>
              <a:r>
                <a:rPr lang="es-419" sz="1200" dirty="0">
                  <a:solidFill>
                    <a:schemeClr val="accent5"/>
                  </a:solidFill>
                  <a:latin typeface="+mn-lt"/>
                  <a:ea typeface="+mn-ea"/>
                  <a:cs typeface="+mn-cs"/>
                </a:rPr>
                <a:t>Proyecto Final MLOps · Prevención de Infartos</a:t>
              </a:r>
            </a:p>
          </p:txBody>
        </p:sp>
        <p:sp>
          <p:nvSpPr>
            <p:cNvPr id="23" name="TextBox 23"/>
            <p:cNvSpPr txBox="1"/>
            <p:nvPr/>
          </p:nvSpPr>
          <p:spPr>
            <a:xfrm>
              <a:off x="11082270" y="6381750"/>
              <a:ext cx="506226" cy="234696"/>
            </a:xfrm>
            <a:prstGeom prst="rect">
              <a:avLst/>
            </a:prstGeom>
            <a:noFill/>
            <a:ln>
              <a:noFill/>
            </a:ln>
          </p:spPr>
          <p:txBody>
            <a:bodyPr wrap="none" lIns="0" tIns="0" rIns="0" bIns="0" anchor="t" anchorCtr="0">
              <a:spAutoFit/>
            </a:bodyPr>
            <a:lstStyle/>
            <a:p>
              <a:pPr algn="r"/>
              <a:r>
                <a:rPr lang="es-419" sz="1200" dirty="0">
                  <a:solidFill>
                    <a:schemeClr val="accent5"/>
                  </a:solidFill>
                  <a:latin typeface="+mn-lt"/>
                  <a:ea typeface="+mn-ea"/>
                  <a:cs typeface="+mn-cs"/>
                </a:rPr>
                <a:t>03 / 10</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4360" y="584200"/>
            <a:ext cx="10988040" cy="1387475"/>
            <a:chOff x="594360" y="584200"/>
            <a:chExt cx="10988040" cy="1387475"/>
          </a:xfrm>
        </p:grpSpPr>
        <p:sp>
          <p:nvSpPr>
            <p:cNvPr id="2" name="TextBox 2"/>
            <p:cNvSpPr txBox="1"/>
            <p:nvPr/>
          </p:nvSpPr>
          <p:spPr>
            <a:xfrm>
              <a:off x="603885" y="584200"/>
              <a:ext cx="2153464" cy="220028"/>
            </a:xfrm>
            <a:prstGeom prst="rect">
              <a:avLst/>
            </a:prstGeom>
            <a:noFill/>
            <a:ln>
              <a:noFill/>
            </a:ln>
          </p:spPr>
          <p:txBody>
            <a:bodyPr wrap="none" lIns="0" tIns="0" rIns="0" bIns="0" anchor="t" anchorCtr="0">
              <a:spAutoFit/>
            </a:bodyPr>
            <a:lstStyle/>
            <a:p>
              <a:pPr algn="l"/>
              <a:r>
                <a:rPr lang="es-419" sz="1120" b="1" dirty="0">
                  <a:solidFill>
                    <a:schemeClr val="accent5"/>
                  </a:solidFill>
                  <a:latin typeface="+mn-lt"/>
                  <a:ea typeface="+mn-ea"/>
                  <a:cs typeface="+mn-cs"/>
                </a:rPr>
                <a:t>03 · LOS DATOS · UNIDAD 2</a:t>
              </a:r>
            </a:p>
          </p:txBody>
        </p:sp>
        <p:sp>
          <p:nvSpPr>
            <p:cNvPr id="3" name="TextBox 3"/>
            <p:cNvSpPr txBox="1"/>
            <p:nvPr/>
          </p:nvSpPr>
          <p:spPr>
            <a:xfrm>
              <a:off x="594360" y="850900"/>
              <a:ext cx="7060387" cy="1062990"/>
            </a:xfrm>
            <a:prstGeom prst="rect">
              <a:avLst/>
            </a:prstGeom>
            <a:noFill/>
            <a:ln>
              <a:noFill/>
            </a:ln>
          </p:spPr>
          <p:txBody>
            <a:bodyPr wrap="none" lIns="0" tIns="0" rIns="0" bIns="0" anchor="t" anchorCtr="0">
              <a:spAutoFit/>
            </a:bodyPr>
            <a:lstStyle/>
            <a:p>
              <a:pPr algn="l">
                <a:lnSpc>
                  <a:spcPts val="3750"/>
                </a:lnSpc>
              </a:pPr>
              <a:r>
                <a:rPr lang="es-419" sz="3000" b="1" dirty="0">
                  <a:solidFill>
                    <a:schemeClr val="accent1"/>
                  </a:solidFill>
                  <a:latin typeface="+mn-lt"/>
                  <a:ea typeface="+mn-ea"/>
                  <a:cs typeface="+mn-cs"/>
                </a:rPr>
                <a:t>La edad, la glucosa y los antecedentes</a:t>
              </a:r>
              <a:br>
                <a:rPr lang="es-419" sz="3000" b="1" dirty="0">
                  <a:solidFill>
                    <a:schemeClr val="accent1"/>
                  </a:solidFill>
                  <a:latin typeface="+mn-lt"/>
                  <a:ea typeface="+mn-ea"/>
                  <a:cs typeface="+mn-cs"/>
                </a:rPr>
              </a:br>
              <a:r>
                <a:rPr lang="es-419" sz="3000" b="1" dirty="0">
                  <a:solidFill>
                    <a:schemeClr val="accent1"/>
                  </a:solidFill>
                  <a:latin typeface="+mn-lt"/>
                  <a:ea typeface="+mn-ea"/>
                  <a:cs typeface="+mn-cs"/>
                </a:rPr>
                <a:t>concentran el riesgo</a:t>
              </a:r>
            </a:p>
          </p:txBody>
        </p:sp>
        <p:sp>
          <p:nvSpPr>
            <p:cNvPr id="4" name="Line 4"/>
            <p:cNvSpPr/>
            <p:nvPr/>
          </p:nvSpPr>
          <p:spPr>
            <a:xfrm>
              <a:off x="609600" y="19621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7" name="grafico-eda"/>
          <p:cNvGrpSpPr/>
          <p:nvPr/>
        </p:nvGrpSpPr>
        <p:grpSpPr>
          <a:xfrm>
            <a:off x="609600" y="2095500"/>
            <a:ext cx="10274908" cy="2743200"/>
            <a:chOff x="609600" y="2095500"/>
            <a:chExt cx="10274908" cy="2743200"/>
          </a:xfrm>
        </p:grpSpPr>
        <p:pic>
          <p:nvPicPr>
            <p:cNvPr id="6" name="Image 6"/>
            <p:cNvPicPr>
              <a:picLocks noChangeAspect="1"/>
            </p:cNvPicPr>
            <p:nvPr/>
          </p:nvPicPr>
          <p:blipFill>
            <a:blip r:embed="rId2"/>
            <a:stretch>
              <a:fillRect/>
            </a:stretch>
          </p:blipFill>
          <p:spPr>
            <a:xfrm>
              <a:off x="609600" y="2095500"/>
              <a:ext cx="10274908" cy="2743200"/>
            </a:xfrm>
            <a:prstGeom prst="rect">
              <a:avLst/>
            </a:prstGeom>
          </p:spPr>
        </p:pic>
      </p:grpSp>
      <p:grpSp>
        <p:nvGrpSpPr>
          <p:cNvPr id="12" name="hallazgos"/>
          <p:cNvGrpSpPr/>
          <p:nvPr/>
        </p:nvGrpSpPr>
        <p:grpSpPr>
          <a:xfrm>
            <a:off x="601218" y="5041900"/>
            <a:ext cx="5620903" cy="1211707"/>
            <a:chOff x="601218" y="5041900"/>
            <a:chExt cx="5620903" cy="1211707"/>
          </a:xfrm>
        </p:grpSpPr>
        <p:sp>
          <p:nvSpPr>
            <p:cNvPr id="8" name="TextBox 8"/>
            <p:cNvSpPr txBox="1"/>
            <p:nvPr/>
          </p:nvSpPr>
          <p:spPr>
            <a:xfrm>
              <a:off x="603885" y="5041900"/>
              <a:ext cx="1746080" cy="220028"/>
            </a:xfrm>
            <a:prstGeom prst="rect">
              <a:avLst/>
            </a:prstGeom>
            <a:noFill/>
            <a:ln>
              <a:noFill/>
            </a:ln>
          </p:spPr>
          <p:txBody>
            <a:bodyPr wrap="none" lIns="0" tIns="0" rIns="0" bIns="0" anchor="t" anchorCtr="0">
              <a:spAutoFit/>
            </a:bodyPr>
            <a:lstStyle/>
            <a:p>
              <a:pPr algn="l"/>
              <a:r>
                <a:rPr lang="es-419" sz="1120" b="1" dirty="0">
                  <a:solidFill>
                    <a:schemeClr val="accent5"/>
                  </a:solidFill>
                  <a:latin typeface="+mn-lt"/>
                  <a:ea typeface="+mn-ea"/>
                  <a:cs typeface="+mn-cs"/>
                </a:rPr>
                <a:t>HALLAZGOS DEL EDA</a:t>
              </a:r>
            </a:p>
          </p:txBody>
        </p:sp>
        <p:sp>
          <p:nvSpPr>
            <p:cNvPr id="9" name="TextBox 9"/>
            <p:cNvSpPr txBox="1"/>
            <p:nvPr/>
          </p:nvSpPr>
          <p:spPr>
            <a:xfrm>
              <a:off x="601218" y="5321300"/>
              <a:ext cx="4810869" cy="322707"/>
            </a:xfrm>
            <a:prstGeom prst="rect">
              <a:avLst/>
            </a:prstGeom>
            <a:noFill/>
            <a:ln>
              <a:noFill/>
            </a:ln>
          </p:spPr>
          <p:txBody>
            <a:bodyPr wrap="none" lIns="0" tIns="0" rIns="0" bIns="0" anchor="t" anchorCtr="0">
              <a:spAutoFit/>
            </a:bodyPr>
            <a:lstStyle/>
            <a:p>
              <a:pPr algn="l" marL="131576" indent="-131576">
                <a:buClr>
                  <a:schemeClr val="dk1"/>
                </a:buClr>
                <a:buSzTx/>
                <a:buFontTx/>
                <a:buChar char="•"/>
              </a:pPr>
              <a:r>
                <a:rPr lang="es-419" sz="1650" dirty="0">
                  <a:solidFill>
                    <a:schemeClr val="dk1"/>
                  </a:solidFill>
                  <a:latin typeface="+mn-lt"/>
                  <a:ea typeface="+mn-ea"/>
                  <a:cs typeface="+mn-cs"/>
                </a:rPr>
                <a:t>Casi todos los infartos, después de los 45 años</a:t>
              </a:r>
            </a:p>
          </p:txBody>
        </p:sp>
        <p:sp>
          <p:nvSpPr>
            <p:cNvPr id="10" name="TextBox 10"/>
            <p:cNvSpPr txBox="1"/>
            <p:nvPr/>
          </p:nvSpPr>
          <p:spPr>
            <a:xfrm>
              <a:off x="601218" y="5626100"/>
              <a:ext cx="5538738" cy="322707"/>
            </a:xfrm>
            <a:prstGeom prst="rect">
              <a:avLst/>
            </a:prstGeom>
            <a:noFill/>
            <a:ln>
              <a:noFill/>
            </a:ln>
          </p:spPr>
          <p:txBody>
            <a:bodyPr wrap="none" lIns="0" tIns="0" rIns="0" bIns="0" anchor="t" anchorCtr="0">
              <a:spAutoFit/>
            </a:bodyPr>
            <a:lstStyle/>
            <a:p>
              <a:pPr algn="l" marL="131576" indent="-131576">
                <a:buClr>
                  <a:schemeClr val="dk1"/>
                </a:buClr>
                <a:buSzTx/>
                <a:buFontTx/>
                <a:buChar char="•"/>
              </a:pPr>
              <a:r>
                <a:rPr lang="es-419" sz="1650" dirty="0">
                  <a:solidFill>
                    <a:schemeClr val="dk1"/>
                  </a:solidFill>
                  <a:latin typeface="+mn-lt"/>
                  <a:ea typeface="+mn-ea"/>
                  <a:cs typeface="+mn-cs"/>
                </a:rPr>
                <a:t>Glucosa alta y antecedentes cardiacos suben el riesgo</a:t>
              </a:r>
            </a:p>
          </p:txBody>
        </p:sp>
        <p:sp>
          <p:nvSpPr>
            <p:cNvPr id="11" name="TextBox 11"/>
            <p:cNvSpPr txBox="1"/>
            <p:nvPr/>
          </p:nvSpPr>
          <p:spPr>
            <a:xfrm>
              <a:off x="601218" y="5930900"/>
              <a:ext cx="5620903" cy="322707"/>
            </a:xfrm>
            <a:prstGeom prst="rect">
              <a:avLst/>
            </a:prstGeom>
            <a:noFill/>
            <a:ln>
              <a:noFill/>
            </a:ln>
          </p:spPr>
          <p:txBody>
            <a:bodyPr wrap="none" lIns="0" tIns="0" rIns="0" bIns="0" anchor="t" anchorCtr="0">
              <a:spAutoFit/>
            </a:bodyPr>
            <a:lstStyle/>
            <a:p>
              <a:pPr algn="l" marL="131576" indent="-131576">
                <a:buClr>
                  <a:schemeClr val="dk1"/>
                </a:buClr>
                <a:buSzTx/>
                <a:buFontTx/>
                <a:buChar char="•"/>
              </a:pPr>
              <a:r>
                <a:rPr lang="es-419" sz="1650" dirty="0">
                  <a:solidFill>
                    <a:schemeClr val="dk1"/>
                  </a:solidFill>
                  <a:latin typeface="+mn-lt"/>
                  <a:ea typeface="+mn-ea"/>
                  <a:cs typeface="+mn-cs"/>
                </a:rPr>
                <a:t>IMC imputado (3,4% vacío); fumador descartado (31%)</a:t>
              </a:r>
            </a:p>
          </p:txBody>
        </p:sp>
      </p:grpSp>
      <p:grpSp>
        <p:nvGrpSpPr>
          <p:cNvPr id="22" name="variables-modelo"/>
          <p:cNvGrpSpPr/>
          <p:nvPr/>
        </p:nvGrpSpPr>
        <p:grpSpPr>
          <a:xfrm>
            <a:off x="7003542" y="5041900"/>
            <a:ext cx="4292984" cy="1286383"/>
            <a:chOff x="7003542" y="5041900"/>
            <a:chExt cx="4292984" cy="1286383"/>
          </a:xfrm>
        </p:grpSpPr>
        <p:sp>
          <p:nvSpPr>
            <p:cNvPr id="13" name="TextBox 13"/>
            <p:cNvSpPr txBox="1"/>
            <p:nvPr/>
          </p:nvSpPr>
          <p:spPr>
            <a:xfrm>
              <a:off x="7004685" y="5041900"/>
              <a:ext cx="3259832" cy="220028"/>
            </a:xfrm>
            <a:prstGeom prst="rect">
              <a:avLst/>
            </a:prstGeom>
            <a:noFill/>
            <a:ln>
              <a:noFill/>
            </a:ln>
          </p:spPr>
          <p:txBody>
            <a:bodyPr wrap="none" lIns="0" tIns="0" rIns="0" bIns="0" anchor="t" anchorCtr="0">
              <a:spAutoFit/>
            </a:bodyPr>
            <a:lstStyle/>
            <a:p>
              <a:pPr algn="l"/>
              <a:r>
                <a:rPr lang="es-419" sz="1120" b="1" dirty="0">
                  <a:solidFill>
                    <a:schemeClr val="accent5"/>
                  </a:solidFill>
                  <a:latin typeface="+mn-lt"/>
                  <a:ea typeface="+mn-ea"/>
                  <a:cs typeface="+mn-cs"/>
                </a:rPr>
                <a:t>7 VARIABLES DEL NOTEBOOK DEL CASO</a:t>
              </a:r>
            </a:p>
          </p:txBody>
        </p:sp>
        <p:grpSp>
          <p:nvGrpSpPr>
            <p:cNvPr id="21" name="Group 21"/>
            <p:cNvGrpSpPr/>
            <p:nvPr/>
          </p:nvGrpSpPr>
          <p:grpSpPr>
            <a:xfrm>
              <a:off x="7003542" y="5321300"/>
              <a:ext cx="4292984" cy="1006983"/>
              <a:chOff x="7003542" y="5321300"/>
              <a:chExt cx="4292984" cy="1006983"/>
            </a:xfrm>
          </p:grpSpPr>
          <p:sp>
            <p:nvSpPr>
              <p:cNvPr id="14" name="TextBox 14"/>
              <p:cNvSpPr txBox="1"/>
              <p:nvPr/>
            </p:nvSpPr>
            <p:spPr>
              <a:xfrm>
                <a:off x="7003542" y="5321300"/>
                <a:ext cx="1718968" cy="264033"/>
              </a:xfrm>
              <a:prstGeom prst="rect">
                <a:avLst/>
              </a:prstGeom>
              <a:noFill/>
              <a:ln>
                <a:noFill/>
              </a:ln>
            </p:spPr>
            <p:txBody>
              <a:bodyPr wrap="none" lIns="0" tIns="0" rIns="0" bIns="0" anchor="t" anchorCtr="0">
                <a:spAutoFit/>
              </a:bodyPr>
              <a:lstStyle/>
              <a:p>
                <a:pPr algn="l"/>
                <a:r>
                  <a:rPr lang="es-419" sz="1350" dirty="0">
                    <a:solidFill>
                      <a:schemeClr val="accent1"/>
                    </a:solidFill>
                    <a:latin typeface="Consolas"/>
                    <a:ea typeface="Consolas"/>
                    <a:cs typeface="Consolas"/>
                  </a:rPr>
                  <a:t>Flag_hipertension</a:t>
                </a:r>
              </a:p>
            </p:txBody>
          </p:sp>
          <p:sp>
            <p:nvSpPr>
              <p:cNvPr id="15" name="TextBox 15"/>
              <p:cNvSpPr txBox="1"/>
              <p:nvPr/>
            </p:nvSpPr>
            <p:spPr>
              <a:xfrm>
                <a:off x="7003542" y="5568950"/>
                <a:ext cx="2119032" cy="264033"/>
              </a:xfrm>
              <a:prstGeom prst="rect">
                <a:avLst/>
              </a:prstGeom>
              <a:noFill/>
              <a:ln>
                <a:noFill/>
              </a:ln>
            </p:spPr>
            <p:txBody>
              <a:bodyPr wrap="none" lIns="0" tIns="0" rIns="0" bIns="0" anchor="t" anchorCtr="0">
                <a:spAutoFit/>
              </a:bodyPr>
              <a:lstStyle/>
              <a:p>
                <a:pPr algn="l"/>
                <a:r>
                  <a:rPr lang="es-419" sz="1350" dirty="0">
                    <a:solidFill>
                      <a:schemeClr val="accent1"/>
                    </a:solidFill>
                    <a:latin typeface="Consolas"/>
                    <a:ea typeface="Consolas"/>
                    <a:cs typeface="Consolas"/>
                  </a:rPr>
                  <a:t>Flag_problem_cardiaco</a:t>
                </a:r>
              </a:p>
            </p:txBody>
          </p:sp>
          <p:sp>
            <p:nvSpPr>
              <p:cNvPr id="16" name="TextBox 16"/>
              <p:cNvSpPr txBox="1"/>
              <p:nvPr/>
            </p:nvSpPr>
            <p:spPr>
              <a:xfrm>
                <a:off x="7003542" y="5816600"/>
                <a:ext cx="1225525" cy="264033"/>
              </a:xfrm>
              <a:prstGeom prst="rect">
                <a:avLst/>
              </a:prstGeom>
              <a:noFill/>
              <a:ln>
                <a:noFill/>
              </a:ln>
            </p:spPr>
            <p:txBody>
              <a:bodyPr wrap="none" lIns="0" tIns="0" rIns="0" bIns="0" anchor="t" anchorCtr="0">
                <a:spAutoFit/>
              </a:bodyPr>
              <a:lstStyle/>
              <a:p>
                <a:pPr algn="l"/>
                <a:r>
                  <a:rPr lang="es-419" sz="1350" dirty="0">
                    <a:solidFill>
                      <a:schemeClr val="accent1"/>
                    </a:solidFill>
                    <a:latin typeface="Consolas"/>
                    <a:ea typeface="Consolas"/>
                    <a:cs typeface="Consolas"/>
                  </a:rPr>
                  <a:t>Edad_Encoded</a:t>
                </a:r>
              </a:p>
            </p:txBody>
          </p:sp>
          <p:sp>
            <p:nvSpPr>
              <p:cNvPr id="17" name="TextBox 17"/>
              <p:cNvSpPr txBox="1"/>
              <p:nvPr/>
            </p:nvSpPr>
            <p:spPr>
              <a:xfrm>
                <a:off x="7003542" y="6064250"/>
                <a:ext cx="1625072" cy="264033"/>
              </a:xfrm>
              <a:prstGeom prst="rect">
                <a:avLst/>
              </a:prstGeom>
              <a:noFill/>
              <a:ln>
                <a:noFill/>
              </a:ln>
            </p:spPr>
            <p:txBody>
              <a:bodyPr wrap="none" lIns="0" tIns="0" rIns="0" bIns="0" anchor="t" anchorCtr="0">
                <a:spAutoFit/>
              </a:bodyPr>
              <a:lstStyle/>
              <a:p>
                <a:pPr algn="l"/>
                <a:r>
                  <a:rPr lang="es-419" sz="1350" dirty="0">
                    <a:solidFill>
                      <a:schemeClr val="accent1"/>
                    </a:solidFill>
                    <a:latin typeface="Consolas"/>
                    <a:ea typeface="Consolas"/>
                    <a:cs typeface="Consolas"/>
                  </a:rPr>
                  <a:t>Gluocosa_Encoded</a:t>
                </a:r>
              </a:p>
            </p:txBody>
          </p:sp>
          <p:sp>
            <p:nvSpPr>
              <p:cNvPr id="18" name="TextBox 18"/>
              <p:cNvSpPr txBox="1"/>
              <p:nvPr/>
            </p:nvSpPr>
            <p:spPr>
              <a:xfrm>
                <a:off x="9365742" y="5321300"/>
                <a:ext cx="1138119" cy="264033"/>
              </a:xfrm>
              <a:prstGeom prst="rect">
                <a:avLst/>
              </a:prstGeom>
              <a:noFill/>
              <a:ln>
                <a:noFill/>
              </a:ln>
            </p:spPr>
            <p:txBody>
              <a:bodyPr wrap="none" lIns="0" tIns="0" rIns="0" bIns="0" anchor="t" anchorCtr="0">
                <a:spAutoFit/>
              </a:bodyPr>
              <a:lstStyle/>
              <a:p>
                <a:pPr algn="l"/>
                <a:r>
                  <a:rPr lang="es-419" sz="1350" dirty="0">
                    <a:solidFill>
                      <a:schemeClr val="accent1"/>
                    </a:solidFill>
                    <a:latin typeface="Consolas"/>
                    <a:ea typeface="Consolas"/>
                    <a:cs typeface="Consolas"/>
                  </a:rPr>
                  <a:t>IMC_Encoded</a:t>
                </a:r>
              </a:p>
            </p:txBody>
          </p:sp>
          <p:sp>
            <p:nvSpPr>
              <p:cNvPr id="19" name="TextBox 19"/>
              <p:cNvSpPr txBox="1"/>
              <p:nvPr/>
            </p:nvSpPr>
            <p:spPr>
              <a:xfrm>
                <a:off x="9365742" y="5568950"/>
                <a:ext cx="1425277" cy="264033"/>
              </a:xfrm>
              <a:prstGeom prst="rect">
                <a:avLst/>
              </a:prstGeom>
              <a:noFill/>
              <a:ln>
                <a:noFill/>
              </a:ln>
            </p:spPr>
            <p:txBody>
              <a:bodyPr wrap="none" lIns="0" tIns="0" rIns="0" bIns="0" anchor="t" anchorCtr="0">
                <a:spAutoFit/>
              </a:bodyPr>
              <a:lstStyle/>
              <a:p>
                <a:pPr algn="l"/>
                <a:r>
                  <a:rPr lang="es-419" sz="1350" dirty="0">
                    <a:solidFill>
                      <a:schemeClr val="accent1"/>
                    </a:solidFill>
                    <a:latin typeface="Consolas"/>
                    <a:ea typeface="Consolas"/>
                    <a:cs typeface="Consolas"/>
                  </a:rPr>
                  <a:t>Estado_Encoded</a:t>
                </a:r>
              </a:p>
            </p:txBody>
          </p:sp>
          <p:sp>
            <p:nvSpPr>
              <p:cNvPr id="20" name="TextBox 20"/>
              <p:cNvSpPr txBox="1"/>
              <p:nvPr/>
            </p:nvSpPr>
            <p:spPr>
              <a:xfrm>
                <a:off x="9365742" y="5816600"/>
                <a:ext cx="1930784" cy="264033"/>
              </a:xfrm>
              <a:prstGeom prst="rect">
                <a:avLst/>
              </a:prstGeom>
              <a:noFill/>
              <a:ln>
                <a:noFill/>
              </a:ln>
            </p:spPr>
            <p:txBody>
              <a:bodyPr wrap="none" lIns="0" tIns="0" rIns="0" bIns="0" anchor="t" anchorCtr="0">
                <a:spAutoFit/>
              </a:bodyPr>
              <a:lstStyle/>
              <a:p>
                <a:pPr algn="l"/>
                <a:r>
                  <a:rPr lang="es-419" sz="1350" dirty="0">
                    <a:solidFill>
                      <a:schemeClr val="accent1"/>
                    </a:solidFill>
                    <a:latin typeface="Consolas"/>
                    <a:ea typeface="Consolas"/>
                    <a:cs typeface="Consolas"/>
                  </a:rPr>
                  <a:t>TipoTrabajo_Encoded</a:t>
                </a:r>
              </a:p>
            </p:txBody>
          </p:sp>
        </p:grpSp>
      </p:grpSp>
      <p:grpSp>
        <p:nvGrpSpPr>
          <p:cNvPr id="25" name="footer"/>
          <p:cNvGrpSpPr/>
          <p:nvPr/>
        </p:nvGrpSpPr>
        <p:grpSpPr>
          <a:xfrm>
            <a:off x="603504" y="6381750"/>
            <a:ext cx="10984992" cy="234696"/>
            <a:chOff x="603504" y="6381750"/>
            <a:chExt cx="10984992" cy="234696"/>
          </a:xfrm>
        </p:grpSpPr>
        <p:sp>
          <p:nvSpPr>
            <p:cNvPr id="23" name="TextBox 23"/>
            <p:cNvSpPr txBox="1"/>
            <p:nvPr/>
          </p:nvSpPr>
          <p:spPr>
            <a:xfrm>
              <a:off x="603504" y="6381750"/>
              <a:ext cx="3405319" cy="234696"/>
            </a:xfrm>
            <a:prstGeom prst="rect">
              <a:avLst/>
            </a:prstGeom>
            <a:noFill/>
            <a:ln>
              <a:noFill/>
            </a:ln>
          </p:spPr>
          <p:txBody>
            <a:bodyPr wrap="none" lIns="0" tIns="0" rIns="0" bIns="0" anchor="t" anchorCtr="0">
              <a:spAutoFit/>
            </a:bodyPr>
            <a:lstStyle/>
            <a:p>
              <a:pPr algn="l"/>
              <a:r>
                <a:rPr lang="es-419" sz="1200" dirty="0">
                  <a:solidFill>
                    <a:schemeClr val="accent5"/>
                  </a:solidFill>
                  <a:latin typeface="+mn-lt"/>
                  <a:ea typeface="+mn-ea"/>
                  <a:cs typeface="+mn-cs"/>
                </a:rPr>
                <a:t>Proyecto Final MLOps · Prevención de Infartos</a:t>
              </a:r>
            </a:p>
          </p:txBody>
        </p:sp>
        <p:sp>
          <p:nvSpPr>
            <p:cNvPr id="24" name="TextBox 24"/>
            <p:cNvSpPr txBox="1"/>
            <p:nvPr/>
          </p:nvSpPr>
          <p:spPr>
            <a:xfrm>
              <a:off x="11082270" y="6381750"/>
              <a:ext cx="506226" cy="234696"/>
            </a:xfrm>
            <a:prstGeom prst="rect">
              <a:avLst/>
            </a:prstGeom>
            <a:noFill/>
            <a:ln>
              <a:noFill/>
            </a:ln>
          </p:spPr>
          <p:txBody>
            <a:bodyPr wrap="none" lIns="0" tIns="0" rIns="0" bIns="0" anchor="t" anchorCtr="0">
              <a:spAutoFit/>
            </a:bodyPr>
            <a:lstStyle/>
            <a:p>
              <a:pPr algn="r"/>
              <a:r>
                <a:rPr lang="es-419" sz="1200" dirty="0">
                  <a:solidFill>
                    <a:schemeClr val="accent5"/>
                  </a:solidFill>
                  <a:latin typeface="+mn-lt"/>
                  <a:ea typeface="+mn-ea"/>
                  <a:cs typeface="+mn-cs"/>
                </a:rPr>
                <a:t>04 / 10</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4360" y="584200"/>
            <a:ext cx="10988040" cy="1387475"/>
            <a:chOff x="594360" y="584200"/>
            <a:chExt cx="10988040" cy="1387475"/>
          </a:xfrm>
        </p:grpSpPr>
        <p:sp>
          <p:nvSpPr>
            <p:cNvPr id="2" name="TextBox 2"/>
            <p:cNvSpPr txBox="1"/>
            <p:nvPr/>
          </p:nvSpPr>
          <p:spPr>
            <a:xfrm>
              <a:off x="603885" y="584200"/>
              <a:ext cx="3083063" cy="220028"/>
            </a:xfrm>
            <a:prstGeom prst="rect">
              <a:avLst/>
            </a:prstGeom>
            <a:noFill/>
            <a:ln>
              <a:noFill/>
            </a:ln>
          </p:spPr>
          <p:txBody>
            <a:bodyPr wrap="none" lIns="0" tIns="0" rIns="0" bIns="0" anchor="t" anchorCtr="0">
              <a:spAutoFit/>
            </a:bodyPr>
            <a:lstStyle/>
            <a:p>
              <a:pPr algn="l"/>
              <a:r>
                <a:rPr lang="es-419" sz="1120" b="1" dirty="0">
                  <a:solidFill>
                    <a:schemeClr val="accent5"/>
                  </a:solidFill>
                  <a:latin typeface="+mn-lt"/>
                  <a:ea typeface="+mn-ea"/>
                  <a:cs typeface="+mn-cs"/>
                </a:rPr>
                <a:t>04 · ARQUITECTURA · UNIDADES 4 Y 10</a:t>
              </a:r>
            </a:p>
          </p:txBody>
        </p:sp>
        <p:sp>
          <p:nvSpPr>
            <p:cNvPr id="3" name="TextBox 3"/>
            <p:cNvSpPr txBox="1"/>
            <p:nvPr/>
          </p:nvSpPr>
          <p:spPr>
            <a:xfrm>
              <a:off x="594360" y="850900"/>
              <a:ext cx="9050655" cy="1062990"/>
            </a:xfrm>
            <a:prstGeom prst="rect">
              <a:avLst/>
            </a:prstGeom>
            <a:noFill/>
            <a:ln>
              <a:noFill/>
            </a:ln>
          </p:spPr>
          <p:txBody>
            <a:bodyPr wrap="none" lIns="0" tIns="0" rIns="0" bIns="0" anchor="t" anchorCtr="0">
              <a:spAutoFit/>
            </a:bodyPr>
            <a:lstStyle/>
            <a:p>
              <a:pPr algn="l">
                <a:lnSpc>
                  <a:spcPts val="3750"/>
                </a:lnSpc>
              </a:pPr>
              <a:r>
                <a:rPr lang="es-419" sz="3000" b="1" dirty="0">
                  <a:solidFill>
                    <a:schemeClr val="accent1"/>
                  </a:solidFill>
                  <a:latin typeface="+mn-lt"/>
                  <a:ea typeface="+mn-ea"/>
                  <a:cs typeface="+mn-cs"/>
                </a:rPr>
                <a:t>Siete etapas encadenadas convierten el notebook</a:t>
              </a:r>
              <a:br>
                <a:rPr lang="es-419" sz="3000" b="1" dirty="0">
                  <a:solidFill>
                    <a:schemeClr val="accent1"/>
                  </a:solidFill>
                  <a:latin typeface="+mn-lt"/>
                  <a:ea typeface="+mn-ea"/>
                  <a:cs typeface="+mn-cs"/>
                </a:rPr>
              </a:br>
              <a:r>
                <a:rPr lang="es-419" sz="3000" b="1" dirty="0">
                  <a:solidFill>
                    <a:schemeClr val="accent1"/>
                  </a:solidFill>
                  <a:latin typeface="+mn-lt"/>
                  <a:ea typeface="+mn-ea"/>
                  <a:cs typeface="+mn-cs"/>
                </a:rPr>
                <a:t>en un sistema que corre con un comando</a:t>
              </a:r>
            </a:p>
          </p:txBody>
        </p:sp>
        <p:sp>
          <p:nvSpPr>
            <p:cNvPr id="4" name="Line 4"/>
            <p:cNvSpPr/>
            <p:nvPr/>
          </p:nvSpPr>
          <p:spPr>
            <a:xfrm>
              <a:off x="609600" y="19621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38" name="pipeline-etapas"/>
          <p:cNvGrpSpPr/>
          <p:nvPr/>
        </p:nvGrpSpPr>
        <p:grpSpPr>
          <a:xfrm>
            <a:off x="603504" y="2247900"/>
            <a:ext cx="10860786" cy="2082546"/>
            <a:chOff x="603504" y="2247900"/>
            <a:chExt cx="10860786" cy="2082546"/>
          </a:xfrm>
        </p:grpSpPr>
        <p:sp>
          <p:nvSpPr>
            <p:cNvPr id="6" name="Freeform 6"/>
            <p:cNvSpPr/>
            <p:nvPr/>
          </p:nvSpPr>
          <p:spPr>
            <a:xfrm>
              <a:off x="609600" y="2247900"/>
              <a:ext cx="1790700" cy="800100"/>
            </a:xfrm>
            <a:prstGeom prst="homePlate">
              <a:avLst>
                <a:gd name="adj" fmla="val 35000"/>
              </a:avLst>
            </a:prstGeom>
            <a:solidFill>
              <a:schemeClr val="accent1"/>
            </a:solidFill>
            <a:ln w="28575">
              <a:solidFill>
                <a:srgbClr val="FFFFFF"/>
              </a:solidFill>
            </a:ln>
          </p:spPr>
        </p:sp>
        <p:sp>
          <p:nvSpPr>
            <p:cNvPr id="7" name="Freeform 7"/>
            <p:cNvSpPr/>
            <p:nvPr/>
          </p:nvSpPr>
          <p:spPr>
            <a:xfrm>
              <a:off x="2120265" y="2247900"/>
              <a:ext cx="1790700" cy="800100"/>
            </a:xfrm>
            <a:prstGeom prst="chevron">
              <a:avLst>
                <a:gd name="adj" fmla="val 35000"/>
              </a:avLst>
            </a:prstGeom>
            <a:solidFill>
              <a:schemeClr val="accent1"/>
            </a:solidFill>
            <a:ln w="28575">
              <a:solidFill>
                <a:srgbClr val="FFFFFF"/>
              </a:solidFill>
            </a:ln>
          </p:spPr>
        </p:sp>
        <p:sp>
          <p:nvSpPr>
            <p:cNvPr id="8" name="Freeform 8"/>
            <p:cNvSpPr/>
            <p:nvPr/>
          </p:nvSpPr>
          <p:spPr>
            <a:xfrm>
              <a:off x="3630930" y="2247900"/>
              <a:ext cx="1790700" cy="800100"/>
            </a:xfrm>
            <a:prstGeom prst="chevron">
              <a:avLst>
                <a:gd name="adj" fmla="val 35000"/>
              </a:avLst>
            </a:prstGeom>
            <a:solidFill>
              <a:schemeClr val="accent1"/>
            </a:solidFill>
            <a:ln w="28575">
              <a:solidFill>
                <a:srgbClr val="FFFFFF"/>
              </a:solidFill>
            </a:ln>
          </p:spPr>
        </p:sp>
        <p:sp>
          <p:nvSpPr>
            <p:cNvPr id="9" name="Freeform 9"/>
            <p:cNvSpPr/>
            <p:nvPr/>
          </p:nvSpPr>
          <p:spPr>
            <a:xfrm>
              <a:off x="5141595" y="2247900"/>
              <a:ext cx="1790700" cy="800100"/>
            </a:xfrm>
            <a:prstGeom prst="chevron">
              <a:avLst>
                <a:gd name="adj" fmla="val 35000"/>
              </a:avLst>
            </a:prstGeom>
            <a:solidFill>
              <a:schemeClr val="accent1"/>
            </a:solidFill>
            <a:ln w="28575">
              <a:solidFill>
                <a:srgbClr val="FFFFFF"/>
              </a:solidFill>
            </a:ln>
          </p:spPr>
        </p:sp>
        <p:sp>
          <p:nvSpPr>
            <p:cNvPr id="10" name="Freeform 10"/>
            <p:cNvSpPr/>
            <p:nvPr/>
          </p:nvSpPr>
          <p:spPr>
            <a:xfrm>
              <a:off x="6652260" y="2247900"/>
              <a:ext cx="1790700" cy="800100"/>
            </a:xfrm>
            <a:prstGeom prst="chevron">
              <a:avLst>
                <a:gd name="adj" fmla="val 35000"/>
              </a:avLst>
            </a:prstGeom>
            <a:solidFill>
              <a:schemeClr val="accent1"/>
            </a:solidFill>
            <a:ln w="28575">
              <a:solidFill>
                <a:srgbClr val="FFFFFF"/>
              </a:solidFill>
            </a:ln>
          </p:spPr>
        </p:sp>
        <p:sp>
          <p:nvSpPr>
            <p:cNvPr id="11" name="Freeform 11"/>
            <p:cNvSpPr/>
            <p:nvPr/>
          </p:nvSpPr>
          <p:spPr>
            <a:xfrm>
              <a:off x="8162925" y="2247900"/>
              <a:ext cx="1790700" cy="800100"/>
            </a:xfrm>
            <a:prstGeom prst="chevron">
              <a:avLst>
                <a:gd name="adj" fmla="val 35000"/>
              </a:avLst>
            </a:prstGeom>
            <a:solidFill>
              <a:schemeClr val="accent2"/>
            </a:solidFill>
            <a:ln w="28575">
              <a:solidFill>
                <a:srgbClr val="FFFFFF"/>
              </a:solidFill>
            </a:ln>
          </p:spPr>
        </p:sp>
        <p:sp>
          <p:nvSpPr>
            <p:cNvPr id="12" name="Freeform 12"/>
            <p:cNvSpPr/>
            <p:nvPr/>
          </p:nvSpPr>
          <p:spPr>
            <a:xfrm>
              <a:off x="9673590" y="2247900"/>
              <a:ext cx="1790700" cy="800100"/>
            </a:xfrm>
            <a:prstGeom prst="chevron">
              <a:avLst>
                <a:gd name="adj" fmla="val 35000"/>
              </a:avLst>
            </a:prstGeom>
            <a:solidFill>
              <a:schemeClr val="accent1"/>
            </a:solidFill>
            <a:ln w="28575">
              <a:solidFill>
                <a:srgbClr val="FFFFFF"/>
              </a:solidFill>
            </a:ln>
          </p:spPr>
        </p:sp>
        <p:grpSp>
          <p:nvGrpSpPr>
            <p:cNvPr id="20" name="Group 20"/>
            <p:cNvGrpSpPr/>
            <p:nvPr/>
          </p:nvGrpSpPr>
          <p:grpSpPr>
            <a:xfrm>
              <a:off x="1272788" y="2489200"/>
              <a:ext cx="9385440" cy="410718"/>
              <a:chOff x="1272788" y="2489200"/>
              <a:chExt cx="9385440" cy="410718"/>
            </a:xfrm>
          </p:grpSpPr>
          <p:sp>
            <p:nvSpPr>
              <p:cNvPr id="13" name="TextBox 13"/>
              <p:cNvSpPr txBox="1"/>
              <p:nvPr/>
            </p:nvSpPr>
            <p:spPr>
              <a:xfrm>
                <a:off x="1272788" y="2489200"/>
                <a:ext cx="178575" cy="410718"/>
              </a:xfrm>
              <a:prstGeom prst="rect">
                <a:avLst/>
              </a:prstGeom>
              <a:noFill/>
              <a:ln>
                <a:noFill/>
              </a:ln>
            </p:spPr>
            <p:txBody>
              <a:bodyPr wrap="none" lIns="0" tIns="0" rIns="0" bIns="0" anchor="t" anchorCtr="0">
                <a:spAutoFit/>
              </a:bodyPr>
              <a:lstStyle/>
              <a:p>
                <a:pPr algn="ctr"/>
                <a:r>
                  <a:rPr lang="es-419" sz="2100" b="1" dirty="0">
                    <a:solidFill>
                      <a:srgbClr val="FFFFFF"/>
                    </a:solidFill>
                    <a:latin typeface="+mn-lt"/>
                    <a:ea typeface="+mn-ea"/>
                    <a:cs typeface="+mn-cs"/>
                  </a:rPr>
                  <a:t>1</a:t>
                </a:r>
              </a:p>
            </p:txBody>
          </p:sp>
          <p:sp>
            <p:nvSpPr>
              <p:cNvPr id="14" name="TextBox 14"/>
              <p:cNvSpPr txBox="1"/>
              <p:nvPr/>
            </p:nvSpPr>
            <p:spPr>
              <a:xfrm>
                <a:off x="2926328" y="2489200"/>
                <a:ext cx="178575" cy="410718"/>
              </a:xfrm>
              <a:prstGeom prst="rect">
                <a:avLst/>
              </a:prstGeom>
              <a:noFill/>
              <a:ln>
                <a:noFill/>
              </a:ln>
            </p:spPr>
            <p:txBody>
              <a:bodyPr wrap="none" lIns="0" tIns="0" rIns="0" bIns="0" anchor="t" anchorCtr="0">
                <a:spAutoFit/>
              </a:bodyPr>
              <a:lstStyle/>
              <a:p>
                <a:pPr algn="ctr"/>
                <a:r>
                  <a:rPr lang="es-419" sz="2100" b="1" dirty="0">
                    <a:solidFill>
                      <a:srgbClr val="FFFFFF"/>
                    </a:solidFill>
                    <a:latin typeface="+mn-lt"/>
                    <a:ea typeface="+mn-ea"/>
                    <a:cs typeface="+mn-cs"/>
                  </a:rPr>
                  <a:t>2</a:t>
                </a:r>
              </a:p>
            </p:txBody>
          </p:sp>
          <p:sp>
            <p:nvSpPr>
              <p:cNvPr id="15" name="TextBox 15"/>
              <p:cNvSpPr txBox="1"/>
              <p:nvPr/>
            </p:nvSpPr>
            <p:spPr>
              <a:xfrm>
                <a:off x="4436993" y="2489200"/>
                <a:ext cx="178575" cy="410718"/>
              </a:xfrm>
              <a:prstGeom prst="rect">
                <a:avLst/>
              </a:prstGeom>
              <a:noFill/>
              <a:ln>
                <a:noFill/>
              </a:ln>
            </p:spPr>
            <p:txBody>
              <a:bodyPr wrap="none" lIns="0" tIns="0" rIns="0" bIns="0" anchor="t" anchorCtr="0">
                <a:spAutoFit/>
              </a:bodyPr>
              <a:lstStyle/>
              <a:p>
                <a:pPr algn="ctr"/>
                <a:r>
                  <a:rPr lang="es-419" sz="2100" b="1" dirty="0">
                    <a:solidFill>
                      <a:srgbClr val="FFFFFF"/>
                    </a:solidFill>
                    <a:latin typeface="+mn-lt"/>
                    <a:ea typeface="+mn-ea"/>
                    <a:cs typeface="+mn-cs"/>
                  </a:rPr>
                  <a:t>3</a:t>
                </a:r>
              </a:p>
            </p:txBody>
          </p:sp>
          <p:sp>
            <p:nvSpPr>
              <p:cNvPr id="16" name="TextBox 16"/>
              <p:cNvSpPr txBox="1"/>
              <p:nvPr/>
            </p:nvSpPr>
            <p:spPr>
              <a:xfrm>
                <a:off x="5947658" y="2489200"/>
                <a:ext cx="178575" cy="410718"/>
              </a:xfrm>
              <a:prstGeom prst="rect">
                <a:avLst/>
              </a:prstGeom>
              <a:noFill/>
              <a:ln>
                <a:noFill/>
              </a:ln>
            </p:spPr>
            <p:txBody>
              <a:bodyPr wrap="none" lIns="0" tIns="0" rIns="0" bIns="0" anchor="t" anchorCtr="0">
                <a:spAutoFit/>
              </a:bodyPr>
              <a:lstStyle/>
              <a:p>
                <a:pPr algn="ctr"/>
                <a:r>
                  <a:rPr lang="es-419" sz="2100" b="1" dirty="0">
                    <a:solidFill>
                      <a:srgbClr val="FFFFFF"/>
                    </a:solidFill>
                    <a:latin typeface="+mn-lt"/>
                    <a:ea typeface="+mn-ea"/>
                    <a:cs typeface="+mn-cs"/>
                  </a:rPr>
                  <a:t>4</a:t>
                </a:r>
              </a:p>
            </p:txBody>
          </p:sp>
          <p:sp>
            <p:nvSpPr>
              <p:cNvPr id="17" name="TextBox 17"/>
              <p:cNvSpPr txBox="1"/>
              <p:nvPr/>
            </p:nvSpPr>
            <p:spPr>
              <a:xfrm>
                <a:off x="7458323" y="2489200"/>
                <a:ext cx="178575" cy="410718"/>
              </a:xfrm>
              <a:prstGeom prst="rect">
                <a:avLst/>
              </a:prstGeom>
              <a:noFill/>
              <a:ln>
                <a:noFill/>
              </a:ln>
            </p:spPr>
            <p:txBody>
              <a:bodyPr wrap="none" lIns="0" tIns="0" rIns="0" bIns="0" anchor="t" anchorCtr="0">
                <a:spAutoFit/>
              </a:bodyPr>
              <a:lstStyle/>
              <a:p>
                <a:pPr algn="ctr"/>
                <a:r>
                  <a:rPr lang="es-419" sz="2100" b="1" dirty="0">
                    <a:solidFill>
                      <a:srgbClr val="FFFFFF"/>
                    </a:solidFill>
                    <a:latin typeface="+mn-lt"/>
                    <a:ea typeface="+mn-ea"/>
                    <a:cs typeface="+mn-cs"/>
                  </a:rPr>
                  <a:t>5</a:t>
                </a:r>
              </a:p>
            </p:txBody>
          </p:sp>
          <p:sp>
            <p:nvSpPr>
              <p:cNvPr id="18" name="TextBox 18"/>
              <p:cNvSpPr txBox="1"/>
              <p:nvPr/>
            </p:nvSpPr>
            <p:spPr>
              <a:xfrm>
                <a:off x="8968988" y="2489200"/>
                <a:ext cx="178575" cy="410718"/>
              </a:xfrm>
              <a:prstGeom prst="rect">
                <a:avLst/>
              </a:prstGeom>
              <a:noFill/>
              <a:ln>
                <a:noFill/>
              </a:ln>
            </p:spPr>
            <p:txBody>
              <a:bodyPr wrap="none" lIns="0" tIns="0" rIns="0" bIns="0" anchor="t" anchorCtr="0">
                <a:spAutoFit/>
              </a:bodyPr>
              <a:lstStyle/>
              <a:p>
                <a:pPr algn="ctr"/>
                <a:r>
                  <a:rPr lang="es-419" sz="2100" b="1" dirty="0">
                    <a:solidFill>
                      <a:srgbClr val="FFFFFF"/>
                    </a:solidFill>
                    <a:latin typeface="+mn-lt"/>
                    <a:ea typeface="+mn-ea"/>
                    <a:cs typeface="+mn-cs"/>
                  </a:rPr>
                  <a:t>6</a:t>
                </a:r>
              </a:p>
            </p:txBody>
          </p:sp>
          <p:sp>
            <p:nvSpPr>
              <p:cNvPr id="19" name="TextBox 19"/>
              <p:cNvSpPr txBox="1"/>
              <p:nvPr/>
            </p:nvSpPr>
            <p:spPr>
              <a:xfrm>
                <a:off x="10479653" y="2489200"/>
                <a:ext cx="178575" cy="410718"/>
              </a:xfrm>
              <a:prstGeom prst="rect">
                <a:avLst/>
              </a:prstGeom>
              <a:noFill/>
              <a:ln>
                <a:noFill/>
              </a:ln>
            </p:spPr>
            <p:txBody>
              <a:bodyPr wrap="none" lIns="0" tIns="0" rIns="0" bIns="0" anchor="t" anchorCtr="0">
                <a:spAutoFit/>
              </a:bodyPr>
              <a:lstStyle/>
              <a:p>
                <a:pPr algn="ctr"/>
                <a:r>
                  <a:rPr lang="es-419" sz="2100" b="1" dirty="0">
                    <a:solidFill>
                      <a:srgbClr val="FFFFFF"/>
                    </a:solidFill>
                    <a:latin typeface="+mn-lt"/>
                    <a:ea typeface="+mn-ea"/>
                    <a:cs typeface="+mn-cs"/>
                  </a:rPr>
                  <a:t>7</a:t>
                </a:r>
              </a:p>
            </p:txBody>
          </p:sp>
        </p:grpSp>
        <p:grpSp>
          <p:nvGrpSpPr>
            <p:cNvPr id="28" name="Group 28"/>
            <p:cNvGrpSpPr/>
            <p:nvPr/>
          </p:nvGrpSpPr>
          <p:grpSpPr>
            <a:xfrm>
              <a:off x="955396" y="3206750"/>
              <a:ext cx="9870291" cy="264033"/>
              <a:chOff x="955396" y="3206750"/>
              <a:chExt cx="9870291" cy="264033"/>
            </a:xfrm>
          </p:grpSpPr>
          <p:sp>
            <p:nvSpPr>
              <p:cNvPr id="21" name="TextBox 21"/>
              <p:cNvSpPr txBox="1"/>
              <p:nvPr/>
            </p:nvSpPr>
            <p:spPr>
              <a:xfrm>
                <a:off x="955396" y="3206750"/>
                <a:ext cx="813359" cy="264033"/>
              </a:xfrm>
              <a:prstGeom prst="rect">
                <a:avLst/>
              </a:prstGeom>
              <a:noFill/>
              <a:ln>
                <a:noFill/>
              </a:ln>
            </p:spPr>
            <p:txBody>
              <a:bodyPr wrap="none" lIns="0" tIns="0" rIns="0" bIns="0" anchor="t" anchorCtr="0">
                <a:spAutoFit/>
              </a:bodyPr>
              <a:lstStyle/>
              <a:p>
                <a:pPr algn="ctr"/>
                <a:r>
                  <a:rPr lang="es-419" sz="1350" b="1" dirty="0">
                    <a:solidFill>
                      <a:schemeClr val="accent1"/>
                    </a:solidFill>
                    <a:latin typeface="Consolas"/>
                    <a:ea typeface="Consolas"/>
                    <a:cs typeface="Consolas"/>
                  </a:rPr>
                  <a:t>download</a:t>
                </a:r>
              </a:p>
            </p:txBody>
          </p:sp>
          <p:sp>
            <p:nvSpPr>
              <p:cNvPr id="22" name="TextBox 22"/>
              <p:cNvSpPr txBox="1"/>
              <p:nvPr/>
            </p:nvSpPr>
            <p:spPr>
              <a:xfrm>
                <a:off x="2508980" y="3206750"/>
                <a:ext cx="1013270" cy="264033"/>
              </a:xfrm>
              <a:prstGeom prst="rect">
                <a:avLst/>
              </a:prstGeom>
              <a:noFill/>
              <a:ln>
                <a:noFill/>
              </a:ln>
            </p:spPr>
            <p:txBody>
              <a:bodyPr wrap="none" lIns="0" tIns="0" rIns="0" bIns="0" anchor="t" anchorCtr="0">
                <a:spAutoFit/>
              </a:bodyPr>
              <a:lstStyle/>
              <a:p>
                <a:pPr algn="ctr"/>
                <a:r>
                  <a:rPr lang="es-419" sz="1350" b="1" dirty="0">
                    <a:solidFill>
                      <a:schemeClr val="accent1"/>
                    </a:solidFill>
                    <a:latin typeface="Consolas"/>
                    <a:ea typeface="Consolas"/>
                    <a:cs typeface="Consolas"/>
                  </a:rPr>
                  <a:t>preprocess</a:t>
                </a:r>
              </a:p>
            </p:txBody>
          </p:sp>
          <p:sp>
            <p:nvSpPr>
              <p:cNvPr id="23" name="TextBox 23"/>
              <p:cNvSpPr txBox="1"/>
              <p:nvPr/>
            </p:nvSpPr>
            <p:spPr>
              <a:xfrm>
                <a:off x="4069623" y="3206750"/>
                <a:ext cx="913314" cy="264033"/>
              </a:xfrm>
              <a:prstGeom prst="rect">
                <a:avLst/>
              </a:prstGeom>
              <a:noFill/>
              <a:ln>
                <a:noFill/>
              </a:ln>
            </p:spPr>
            <p:txBody>
              <a:bodyPr wrap="none" lIns="0" tIns="0" rIns="0" bIns="0" anchor="t" anchorCtr="0">
                <a:spAutoFit/>
              </a:bodyPr>
              <a:lstStyle/>
              <a:p>
                <a:pPr algn="ctr"/>
                <a:r>
                  <a:rPr lang="es-419" sz="1350" b="1" dirty="0">
                    <a:solidFill>
                      <a:schemeClr val="accent1"/>
                    </a:solidFill>
                    <a:latin typeface="Consolas"/>
                    <a:ea typeface="Consolas"/>
                    <a:cs typeface="Consolas"/>
                  </a:rPr>
                  <a:t>segregate</a:t>
                </a:r>
              </a:p>
            </p:txBody>
          </p:sp>
          <p:sp>
            <p:nvSpPr>
              <p:cNvPr id="24" name="TextBox 24"/>
              <p:cNvSpPr txBox="1"/>
              <p:nvPr/>
            </p:nvSpPr>
            <p:spPr>
              <a:xfrm>
                <a:off x="5530310" y="3206750"/>
                <a:ext cx="1013270" cy="264033"/>
              </a:xfrm>
              <a:prstGeom prst="rect">
                <a:avLst/>
              </a:prstGeom>
              <a:noFill/>
              <a:ln>
                <a:noFill/>
              </a:ln>
            </p:spPr>
            <p:txBody>
              <a:bodyPr wrap="none" lIns="0" tIns="0" rIns="0" bIns="0" anchor="t" anchorCtr="0">
                <a:spAutoFit/>
              </a:bodyPr>
              <a:lstStyle/>
              <a:p>
                <a:pPr algn="ctr"/>
                <a:r>
                  <a:rPr lang="es-419" sz="1350" b="1" dirty="0">
                    <a:solidFill>
                      <a:schemeClr val="accent1"/>
                    </a:solidFill>
                    <a:latin typeface="Consolas"/>
                    <a:ea typeface="Consolas"/>
                    <a:cs typeface="Consolas"/>
                  </a:rPr>
                  <a:t>check_data</a:t>
                </a:r>
              </a:p>
            </p:txBody>
          </p:sp>
          <p:sp>
            <p:nvSpPr>
              <p:cNvPr id="25" name="TextBox 25"/>
              <p:cNvSpPr txBox="1"/>
              <p:nvPr/>
            </p:nvSpPr>
            <p:spPr>
              <a:xfrm>
                <a:off x="6891042" y="3206750"/>
                <a:ext cx="1313136" cy="264033"/>
              </a:xfrm>
              <a:prstGeom prst="rect">
                <a:avLst/>
              </a:prstGeom>
              <a:noFill/>
              <a:ln>
                <a:noFill/>
              </a:ln>
            </p:spPr>
            <p:txBody>
              <a:bodyPr wrap="none" lIns="0" tIns="0" rIns="0" bIns="0" anchor="t" anchorCtr="0">
                <a:spAutoFit/>
              </a:bodyPr>
              <a:lstStyle/>
              <a:p>
                <a:pPr algn="ctr"/>
                <a:r>
                  <a:rPr lang="es-419" sz="1350" b="1" dirty="0">
                    <a:solidFill>
                      <a:schemeClr val="accent1"/>
                    </a:solidFill>
                    <a:latin typeface="Consolas"/>
                    <a:ea typeface="Consolas"/>
                    <a:cs typeface="Consolas"/>
                  </a:rPr>
                  <a:t>random_forest</a:t>
                </a:r>
              </a:p>
            </p:txBody>
          </p:sp>
          <p:sp>
            <p:nvSpPr>
              <p:cNvPr id="26" name="TextBox 26"/>
              <p:cNvSpPr txBox="1"/>
              <p:nvPr/>
            </p:nvSpPr>
            <p:spPr>
              <a:xfrm>
                <a:off x="8651596" y="3206750"/>
                <a:ext cx="813359" cy="264033"/>
              </a:xfrm>
              <a:prstGeom prst="rect">
                <a:avLst/>
              </a:prstGeom>
              <a:noFill/>
              <a:ln>
                <a:noFill/>
              </a:ln>
            </p:spPr>
            <p:txBody>
              <a:bodyPr wrap="none" lIns="0" tIns="0" rIns="0" bIns="0" anchor="t" anchorCtr="0">
                <a:spAutoFit/>
              </a:bodyPr>
              <a:lstStyle/>
              <a:p>
                <a:pPr algn="ctr"/>
                <a:r>
                  <a:rPr lang="es-419" sz="1350" b="1" dirty="0">
                    <a:solidFill>
                      <a:schemeClr val="accent2"/>
                    </a:solidFill>
                    <a:latin typeface="Consolas"/>
                    <a:ea typeface="Consolas"/>
                    <a:cs typeface="Consolas"/>
                  </a:rPr>
                  <a:t>evaluate</a:t>
                </a:r>
              </a:p>
            </p:txBody>
          </p:sp>
          <p:sp>
            <p:nvSpPr>
              <p:cNvPr id="27" name="TextBox 27"/>
              <p:cNvSpPr txBox="1"/>
              <p:nvPr/>
            </p:nvSpPr>
            <p:spPr>
              <a:xfrm>
                <a:off x="10312194" y="3206750"/>
                <a:ext cx="513493" cy="264033"/>
              </a:xfrm>
              <a:prstGeom prst="rect">
                <a:avLst/>
              </a:prstGeom>
              <a:noFill/>
              <a:ln>
                <a:noFill/>
              </a:ln>
            </p:spPr>
            <p:txBody>
              <a:bodyPr wrap="none" lIns="0" tIns="0" rIns="0" bIns="0" anchor="t" anchorCtr="0">
                <a:spAutoFit/>
              </a:bodyPr>
              <a:lstStyle/>
              <a:p>
                <a:pPr algn="ctr"/>
                <a:r>
                  <a:rPr lang="es-419" sz="1350" b="1" dirty="0">
                    <a:solidFill>
                      <a:schemeClr val="accent1"/>
                    </a:solidFill>
                    <a:latin typeface="Consolas"/>
                    <a:ea typeface="Consolas"/>
                    <a:cs typeface="Consolas"/>
                  </a:rPr>
                  <a:t>drift</a:t>
                </a:r>
              </a:p>
            </p:txBody>
          </p:sp>
        </p:grpSp>
        <p:grpSp>
          <p:nvGrpSpPr>
            <p:cNvPr id="36" name="Group 36"/>
            <p:cNvGrpSpPr/>
            <p:nvPr/>
          </p:nvGrpSpPr>
          <p:grpSpPr>
            <a:xfrm>
              <a:off x="809564" y="3454400"/>
              <a:ext cx="10074677" cy="444246"/>
              <a:chOff x="809564" y="3454400"/>
              <a:chExt cx="10074677" cy="444246"/>
            </a:xfrm>
          </p:grpSpPr>
          <p:sp>
            <p:nvSpPr>
              <p:cNvPr id="29" name="TextBox 29"/>
              <p:cNvSpPr txBox="1"/>
              <p:nvPr/>
            </p:nvSpPr>
            <p:spPr>
              <a:xfrm>
                <a:off x="809564" y="3454400"/>
                <a:ext cx="1105022" cy="444246"/>
              </a:xfrm>
              <a:prstGeom prst="rect">
                <a:avLst/>
              </a:prstGeom>
              <a:noFill/>
              <a:ln>
                <a:noFill/>
              </a:ln>
            </p:spPr>
            <p:txBody>
              <a:bodyPr wrap="none" lIns="0" tIns="0" rIns="0" bIns="0" anchor="t" anchorCtr="0">
                <a:spAutoFit/>
              </a:bodyPr>
              <a:lstStyle/>
              <a:p>
                <a:pPr algn="ctr">
                  <a:lnSpc>
                    <a:spcPts val="1650"/>
                  </a:lnSpc>
                </a:pPr>
                <a:r>
                  <a:rPr lang="es-419" sz="1200" dirty="0">
                    <a:solidFill>
                      <a:schemeClr val="accent5"/>
                    </a:solidFill>
                    <a:latin typeface="+mn-lt"/>
                    <a:ea typeface="+mn-ea"/>
                    <a:cs typeface="+mn-cs"/>
                  </a:rPr>
                  <a:t>valida columnas</a:t>
                </a:r>
                <a:br>
                  <a:rPr lang="es-419" sz="1200" dirty="0">
                    <a:solidFill>
                      <a:schemeClr val="accent5"/>
                    </a:solidFill>
                    <a:latin typeface="+mn-lt"/>
                    <a:ea typeface="+mn-ea"/>
                    <a:cs typeface="+mn-cs"/>
                  </a:rPr>
                </a:br>
                <a:r>
                  <a:rPr lang="es-419" sz="1200" dirty="0">
                    <a:solidFill>
                      <a:schemeClr val="accent5"/>
                    </a:solidFill>
                    <a:latin typeface="+mn-lt"/>
                    <a:ea typeface="+mn-ea"/>
                    <a:cs typeface="+mn-cs"/>
                  </a:rPr>
                  <a:t>cargar_datos()</a:t>
                </a:r>
              </a:p>
            </p:txBody>
          </p:sp>
          <p:sp>
            <p:nvSpPr>
              <p:cNvPr id="30" name="TextBox 30"/>
              <p:cNvSpPr txBox="1"/>
              <p:nvPr/>
            </p:nvSpPr>
            <p:spPr>
              <a:xfrm>
                <a:off x="2467234" y="3454400"/>
                <a:ext cx="1096762" cy="444246"/>
              </a:xfrm>
              <a:prstGeom prst="rect">
                <a:avLst/>
              </a:prstGeom>
              <a:noFill/>
              <a:ln>
                <a:noFill/>
              </a:ln>
            </p:spPr>
            <p:txBody>
              <a:bodyPr wrap="none" lIns="0" tIns="0" rIns="0" bIns="0" anchor="t" anchorCtr="0">
                <a:spAutoFit/>
              </a:bodyPr>
              <a:lstStyle/>
              <a:p>
                <a:pPr algn="ctr">
                  <a:lnSpc>
                    <a:spcPts val="1650"/>
                  </a:lnSpc>
                </a:pPr>
                <a:r>
                  <a:rPr lang="es-419" sz="1200" dirty="0">
                    <a:solidFill>
                      <a:schemeClr val="accent5"/>
                    </a:solidFill>
                    <a:latin typeface="+mn-lt"/>
                    <a:ea typeface="+mn-ea"/>
                    <a:cs typeface="+mn-cs"/>
                  </a:rPr>
                  <a:t>imputa IMC</a:t>
                </a:r>
                <a:br>
                  <a:rPr lang="es-419" sz="1200" dirty="0">
                    <a:solidFill>
                      <a:schemeClr val="accent5"/>
                    </a:solidFill>
                    <a:latin typeface="+mn-lt"/>
                    <a:ea typeface="+mn-ea"/>
                    <a:cs typeface="+mn-cs"/>
                  </a:rPr>
                </a:br>
                <a:r>
                  <a:rPr lang="es-419" sz="1200" dirty="0">
                    <a:solidFill>
                      <a:schemeClr val="accent5"/>
                    </a:solidFill>
                    <a:latin typeface="+mn-lt"/>
                    <a:ea typeface="+mn-ea"/>
                    <a:cs typeface="+mn-cs"/>
                  </a:rPr>
                  <a:t>crea *_Encoded</a:t>
                </a:r>
              </a:p>
            </p:txBody>
          </p:sp>
          <p:sp>
            <p:nvSpPr>
              <p:cNvPr id="31" name="TextBox 31"/>
              <p:cNvSpPr txBox="1"/>
              <p:nvPr/>
            </p:nvSpPr>
            <p:spPr>
              <a:xfrm>
                <a:off x="4109329" y="3454400"/>
                <a:ext cx="833902" cy="444246"/>
              </a:xfrm>
              <a:prstGeom prst="rect">
                <a:avLst/>
              </a:prstGeom>
              <a:noFill/>
              <a:ln>
                <a:noFill/>
              </a:ln>
            </p:spPr>
            <p:txBody>
              <a:bodyPr wrap="none" lIns="0" tIns="0" rIns="0" bIns="0" anchor="t" anchorCtr="0">
                <a:spAutoFit/>
              </a:bodyPr>
              <a:lstStyle/>
              <a:p>
                <a:pPr algn="ctr">
                  <a:lnSpc>
                    <a:spcPts val="1650"/>
                  </a:lnSpc>
                </a:pPr>
                <a:r>
                  <a:rPr lang="es-419" sz="1200" dirty="0">
                    <a:solidFill>
                      <a:schemeClr val="accent5"/>
                    </a:solidFill>
                    <a:latin typeface="+mn-lt"/>
                    <a:ea typeface="+mn-ea"/>
                    <a:cs typeface="+mn-cs"/>
                  </a:rPr>
                  <a:t>split 80/20</a:t>
                </a:r>
                <a:br>
                  <a:rPr lang="es-419" sz="1200" dirty="0">
                    <a:solidFill>
                      <a:schemeClr val="accent5"/>
                    </a:solidFill>
                    <a:latin typeface="+mn-lt"/>
                    <a:ea typeface="+mn-ea"/>
                    <a:cs typeface="+mn-cs"/>
                  </a:rPr>
                </a:br>
                <a:r>
                  <a:rPr lang="es-419" sz="1200" dirty="0">
                    <a:solidFill>
                      <a:schemeClr val="accent5"/>
                    </a:solidFill>
                    <a:latin typeface="+mn-lt"/>
                    <a:ea typeface="+mn-ea"/>
                    <a:cs typeface="+mn-cs"/>
                  </a:rPr>
                  <a:t>estratificado</a:t>
                </a:r>
              </a:p>
            </p:txBody>
          </p:sp>
          <p:sp>
            <p:nvSpPr>
              <p:cNvPr id="32" name="TextBox 32"/>
              <p:cNvSpPr txBox="1"/>
              <p:nvPr/>
            </p:nvSpPr>
            <p:spPr>
              <a:xfrm>
                <a:off x="5738500" y="3454400"/>
                <a:ext cx="596890" cy="444246"/>
              </a:xfrm>
              <a:prstGeom prst="rect">
                <a:avLst/>
              </a:prstGeom>
              <a:noFill/>
              <a:ln>
                <a:noFill/>
              </a:ln>
            </p:spPr>
            <p:txBody>
              <a:bodyPr wrap="none" lIns="0" tIns="0" rIns="0" bIns="0" anchor="t" anchorCtr="0">
                <a:spAutoFit/>
              </a:bodyPr>
              <a:lstStyle/>
              <a:p>
                <a:pPr algn="ctr">
                  <a:lnSpc>
                    <a:spcPts val="1650"/>
                  </a:lnSpc>
                </a:pPr>
                <a:r>
                  <a:rPr lang="es-419" sz="1200" dirty="0">
                    <a:solidFill>
                      <a:schemeClr val="accent5"/>
                    </a:solidFill>
                    <a:latin typeface="+mn-lt"/>
                    <a:ea typeface="+mn-ea"/>
                    <a:cs typeface="+mn-cs"/>
                  </a:rPr>
                  <a:t>11 tests</a:t>
                </a:r>
                <a:br>
                  <a:rPr lang="es-419" sz="1200" dirty="0">
                    <a:solidFill>
                      <a:schemeClr val="accent5"/>
                    </a:solidFill>
                    <a:latin typeface="+mn-lt"/>
                    <a:ea typeface="+mn-ea"/>
                    <a:cs typeface="+mn-cs"/>
                  </a:rPr>
                </a:br>
                <a:r>
                  <a:rPr lang="es-419" sz="1200" dirty="0">
                    <a:solidFill>
                      <a:schemeClr val="accent5"/>
                    </a:solidFill>
                    <a:latin typeface="+mn-lt"/>
                    <a:ea typeface="+mn-ea"/>
                    <a:cs typeface="+mn-cs"/>
                  </a:rPr>
                  <a:t>de datos</a:t>
                </a:r>
              </a:p>
            </p:txBody>
          </p:sp>
          <p:sp>
            <p:nvSpPr>
              <p:cNvPr id="33" name="TextBox 33"/>
              <p:cNvSpPr txBox="1"/>
              <p:nvPr/>
            </p:nvSpPr>
            <p:spPr>
              <a:xfrm>
                <a:off x="6971858" y="3454400"/>
                <a:ext cx="1151504" cy="444246"/>
              </a:xfrm>
              <a:prstGeom prst="rect">
                <a:avLst/>
              </a:prstGeom>
              <a:noFill/>
              <a:ln>
                <a:noFill/>
              </a:ln>
            </p:spPr>
            <p:txBody>
              <a:bodyPr wrap="none" lIns="0" tIns="0" rIns="0" bIns="0" anchor="t" anchorCtr="0">
                <a:spAutoFit/>
              </a:bodyPr>
              <a:lstStyle/>
              <a:p>
                <a:pPr algn="ctr">
                  <a:lnSpc>
                    <a:spcPts val="1650"/>
                  </a:lnSpc>
                </a:pPr>
                <a:r>
                  <a:rPr lang="es-419" sz="1200" dirty="0">
                    <a:solidFill>
                      <a:schemeClr val="accent5"/>
                    </a:solidFill>
                    <a:latin typeface="+mn-lt"/>
                    <a:ea typeface="+mn-ea"/>
                    <a:cs typeface="+mn-cs"/>
                  </a:rPr>
                  <a:t>Grid y Random</a:t>
                </a:r>
                <a:br>
                  <a:rPr lang="es-419" sz="1200" dirty="0">
                    <a:solidFill>
                      <a:schemeClr val="accent5"/>
                    </a:solidFill>
                    <a:latin typeface="+mn-lt"/>
                    <a:ea typeface="+mn-ea"/>
                    <a:cs typeface="+mn-cs"/>
                  </a:rPr>
                </a:br>
                <a:r>
                  <a:rPr lang="es-419" sz="1200" dirty="0">
                    <a:solidFill>
                      <a:schemeClr val="accent5"/>
                    </a:solidFill>
                    <a:latin typeface="+mn-lt"/>
                    <a:ea typeface="+mn-ea"/>
                    <a:cs typeface="+mn-cs"/>
                  </a:rPr>
                  <a:t>Search + MLflow</a:t>
                </a:r>
              </a:p>
            </p:txBody>
          </p:sp>
          <p:sp>
            <p:nvSpPr>
              <p:cNvPr id="34" name="TextBox 34"/>
              <p:cNvSpPr txBox="1"/>
              <p:nvPr/>
            </p:nvSpPr>
            <p:spPr>
              <a:xfrm>
                <a:off x="8484840" y="3454400"/>
                <a:ext cx="1146871" cy="444246"/>
              </a:xfrm>
              <a:prstGeom prst="rect">
                <a:avLst/>
              </a:prstGeom>
              <a:noFill/>
              <a:ln>
                <a:noFill/>
              </a:ln>
            </p:spPr>
            <p:txBody>
              <a:bodyPr wrap="none" lIns="0" tIns="0" rIns="0" bIns="0" anchor="t" anchorCtr="0">
                <a:spAutoFit/>
              </a:bodyPr>
              <a:lstStyle/>
              <a:p>
                <a:pPr algn="ctr">
                  <a:lnSpc>
                    <a:spcPts val="1650"/>
                  </a:lnSpc>
                </a:pPr>
                <a:r>
                  <a:rPr lang="es-419" sz="1200" b="1" dirty="0">
                    <a:solidFill>
                      <a:schemeClr val="dk1"/>
                    </a:solidFill>
                    <a:latin typeface="+mn-lt"/>
                    <a:ea typeface="+mn-ea"/>
                    <a:cs typeface="+mn-cs"/>
                  </a:rPr>
                  <a:t>quality gate</a:t>
                </a:r>
                <a:br>
                  <a:rPr lang="es-419" sz="1200" b="1" dirty="0">
                    <a:solidFill>
                      <a:schemeClr val="dk1"/>
                    </a:solidFill>
                    <a:latin typeface="+mn-lt"/>
                    <a:ea typeface="+mn-ea"/>
                    <a:cs typeface="+mn-cs"/>
                  </a:rPr>
                </a:br>
                <a:r>
                  <a:rPr lang="es-419" sz="1200" dirty="0">
                    <a:solidFill>
                      <a:schemeClr val="accent5"/>
                    </a:solidFill>
                    <a:latin typeface="+mn-lt"/>
                    <a:ea typeface="+mn-ea"/>
                    <a:cs typeface="+mn-cs"/>
                  </a:rPr>
                  <a:t>AUC · recall · F1</a:t>
                </a:r>
              </a:p>
            </p:txBody>
          </p:sp>
          <p:sp>
            <p:nvSpPr>
              <p:cNvPr id="35" name="TextBox 35"/>
              <p:cNvSpPr txBox="1"/>
              <p:nvPr/>
            </p:nvSpPr>
            <p:spPr>
              <a:xfrm>
                <a:off x="10253640" y="3454400"/>
                <a:ext cx="630601" cy="444246"/>
              </a:xfrm>
              <a:prstGeom prst="rect">
                <a:avLst/>
              </a:prstGeom>
              <a:noFill/>
              <a:ln>
                <a:noFill/>
              </a:ln>
            </p:spPr>
            <p:txBody>
              <a:bodyPr wrap="none" lIns="0" tIns="0" rIns="0" bIns="0" anchor="t" anchorCtr="0">
                <a:spAutoFit/>
              </a:bodyPr>
              <a:lstStyle/>
              <a:p>
                <a:pPr algn="ctr">
                  <a:lnSpc>
                    <a:spcPts val="1650"/>
                  </a:lnSpc>
                </a:pPr>
                <a:r>
                  <a:rPr lang="es-419" sz="1200" dirty="0">
                    <a:solidFill>
                      <a:schemeClr val="accent5"/>
                    </a:solidFill>
                    <a:latin typeface="+mn-lt"/>
                    <a:ea typeface="+mn-ea"/>
                    <a:cs typeface="+mn-cs"/>
                  </a:rPr>
                  <a:t>Evidently</a:t>
                </a:r>
                <a:br>
                  <a:rPr lang="es-419" sz="1200" dirty="0">
                    <a:solidFill>
                      <a:schemeClr val="accent5"/>
                    </a:solidFill>
                    <a:latin typeface="+mn-lt"/>
                    <a:ea typeface="+mn-ea"/>
                    <a:cs typeface="+mn-cs"/>
                  </a:rPr>
                </a:br>
                <a:r>
                  <a:rPr lang="es-419" sz="1200" dirty="0">
                    <a:solidFill>
                      <a:schemeClr val="accent5"/>
                    </a:solidFill>
                    <a:latin typeface="+mn-lt"/>
                    <a:ea typeface="+mn-ea"/>
                    <a:cs typeface="+mn-cs"/>
                  </a:rPr>
                  <a:t>+ PSI</a:t>
                </a:r>
              </a:p>
            </p:txBody>
          </p:sp>
        </p:grpSp>
        <p:sp>
          <p:nvSpPr>
            <p:cNvPr id="37" name="TextBox 37"/>
            <p:cNvSpPr txBox="1"/>
            <p:nvPr/>
          </p:nvSpPr>
          <p:spPr>
            <a:xfrm>
              <a:off x="603504" y="4095750"/>
              <a:ext cx="7938387" cy="234696"/>
            </a:xfrm>
            <a:prstGeom prst="rect">
              <a:avLst/>
            </a:prstGeom>
            <a:noFill/>
            <a:ln>
              <a:noFill/>
            </a:ln>
          </p:spPr>
          <p:txBody>
            <a:bodyPr wrap="none" lIns="0" tIns="0" rIns="0" bIns="0" anchor="t" anchorCtr="0">
              <a:spAutoFit/>
            </a:bodyPr>
            <a:lstStyle/>
            <a:p>
              <a:pPr algn="l"/>
              <a:r>
                <a:rPr lang="es-419" sz="1200" dirty="0">
                  <a:solidFill>
                    <a:schemeClr val="accent5"/>
                  </a:solidFill>
                  <a:latin typeface="+mn-lt"/>
                  <a:ea typeface="+mn-ea"/>
                  <a:cs typeface="+mn-cs"/>
                </a:rPr>
                <a:t>La etapa 6 es el quality gate: si el modelo no cumple los umbrales, main.py se detiene y no se despliega nada.</a:t>
              </a:r>
            </a:p>
          </p:txBody>
        </p:sp>
      </p:grpSp>
      <p:grpSp>
        <p:nvGrpSpPr>
          <p:cNvPr id="51" name="despliegue"/>
          <p:cNvGrpSpPr/>
          <p:nvPr/>
        </p:nvGrpSpPr>
        <p:grpSpPr>
          <a:xfrm>
            <a:off x="603885" y="4489450"/>
            <a:ext cx="10978515" cy="882650"/>
            <a:chOff x="603885" y="4489450"/>
            <a:chExt cx="10978515" cy="882650"/>
          </a:xfrm>
        </p:grpSpPr>
        <p:sp>
          <p:nvSpPr>
            <p:cNvPr id="39" name="TextBox 39"/>
            <p:cNvSpPr txBox="1"/>
            <p:nvPr/>
          </p:nvSpPr>
          <p:spPr>
            <a:xfrm>
              <a:off x="603885" y="4489450"/>
              <a:ext cx="3472828" cy="220028"/>
            </a:xfrm>
            <a:prstGeom prst="rect">
              <a:avLst/>
            </a:prstGeom>
            <a:noFill/>
            <a:ln>
              <a:noFill/>
            </a:ln>
          </p:spPr>
          <p:txBody>
            <a:bodyPr wrap="none" lIns="0" tIns="0" rIns="0" bIns="0" anchor="t" anchorCtr="0">
              <a:spAutoFit/>
            </a:bodyPr>
            <a:lstStyle/>
            <a:p>
              <a:pPr algn="l"/>
              <a:r>
                <a:rPr lang="es-419" sz="1120" b="1" dirty="0">
                  <a:solidFill>
                    <a:schemeClr val="accent5"/>
                  </a:solidFill>
                  <a:latin typeface="+mn-lt"/>
                  <a:ea typeface="+mn-ea"/>
                  <a:cs typeface="+mn-cs"/>
                </a:rPr>
                <a:t>DESPUÉS DEL PIPELINE · UNIDADES 5, 7 Y 8</a:t>
              </a:r>
            </a:p>
          </p:txBody>
        </p:sp>
        <p:sp>
          <p:nvSpPr>
            <p:cNvPr id="40" name="Rectangle 40"/>
            <p:cNvSpPr/>
            <p:nvPr/>
          </p:nvSpPr>
          <p:spPr>
            <a:xfrm>
              <a:off x="609600" y="4762500"/>
              <a:ext cx="3238500" cy="609600"/>
            </a:xfrm>
            <a:prstGeom prst="rect">
              <a:avLst/>
            </a:prstGeom>
            <a:solidFill>
              <a:schemeClr val="lt2"/>
            </a:solidFill>
            <a:ln>
              <a:noFill/>
            </a:ln>
          </p:spPr>
        </p:sp>
        <p:sp>
          <p:nvSpPr>
            <p:cNvPr id="41" name="TextBox 41"/>
            <p:cNvSpPr txBox="1"/>
            <p:nvPr/>
          </p:nvSpPr>
          <p:spPr>
            <a:xfrm>
              <a:off x="793242" y="4845050"/>
              <a:ext cx="413537" cy="264033"/>
            </a:xfrm>
            <a:prstGeom prst="rect">
              <a:avLst/>
            </a:prstGeom>
            <a:noFill/>
            <a:ln>
              <a:noFill/>
            </a:ln>
          </p:spPr>
          <p:txBody>
            <a:bodyPr wrap="none" lIns="0" tIns="0" rIns="0" bIns="0" anchor="t" anchorCtr="0">
              <a:spAutoFit/>
            </a:bodyPr>
            <a:lstStyle/>
            <a:p>
              <a:pPr algn="l"/>
              <a:r>
                <a:rPr lang="es-419" sz="1350" b="1" dirty="0">
                  <a:solidFill>
                    <a:schemeClr val="accent1"/>
                  </a:solidFill>
                  <a:latin typeface="Consolas"/>
                  <a:ea typeface="Consolas"/>
                  <a:cs typeface="Consolas"/>
                </a:rPr>
                <a:t>api/</a:t>
              </a:r>
            </a:p>
          </p:txBody>
        </p:sp>
        <p:sp>
          <p:nvSpPr>
            <p:cNvPr id="42" name="TextBox 42"/>
            <p:cNvSpPr txBox="1"/>
            <p:nvPr/>
          </p:nvSpPr>
          <p:spPr>
            <a:xfrm>
              <a:off x="794004" y="5086350"/>
              <a:ext cx="1887166" cy="234696"/>
            </a:xfrm>
            <a:prstGeom prst="rect">
              <a:avLst/>
            </a:prstGeom>
            <a:noFill/>
            <a:ln>
              <a:noFill/>
            </a:ln>
          </p:spPr>
          <p:txBody>
            <a:bodyPr wrap="none" lIns="0" tIns="0" rIns="0" bIns="0" anchor="t" anchorCtr="0">
              <a:spAutoFit/>
            </a:bodyPr>
            <a:lstStyle/>
            <a:p>
              <a:pPr algn="l"/>
              <a:r>
                <a:rPr lang="es-419" sz="1200" dirty="0">
                  <a:solidFill>
                    <a:schemeClr val="accent5"/>
                  </a:solidFill>
                  <a:latin typeface="+mn-lt"/>
                  <a:ea typeface="+mn-ea"/>
                  <a:cs typeface="+mn-cs"/>
                </a:rPr>
                <a:t>FastAPI · POST /predecir</a:t>
              </a:r>
            </a:p>
          </p:txBody>
        </p:sp>
        <p:sp>
          <p:nvSpPr>
            <p:cNvPr id="43" name="Line 43"/>
            <p:cNvSpPr/>
            <p:nvPr/>
          </p:nvSpPr>
          <p:spPr>
            <a:xfrm>
              <a:off x="3848100" y="5067300"/>
              <a:ext cx="552450" cy="1"/>
            </a:xfrm>
            <a:prstGeom prst="line">
              <a:avLst/>
            </a:prstGeom>
            <a:noFill/>
            <a:ln w="19050">
              <a:solidFill>
                <a:srgbClr val="5B6470"/>
              </a:solidFill>
              <a:tailEnd type="triangle" w="lg" len="lg"/>
            </a:ln>
          </p:spPr>
        </p:sp>
        <p:sp>
          <p:nvSpPr>
            <p:cNvPr id="44" name="Rectangle 44"/>
            <p:cNvSpPr/>
            <p:nvPr/>
          </p:nvSpPr>
          <p:spPr>
            <a:xfrm>
              <a:off x="4419600" y="4762500"/>
              <a:ext cx="3238500" cy="609600"/>
            </a:xfrm>
            <a:prstGeom prst="rect">
              <a:avLst/>
            </a:prstGeom>
            <a:solidFill>
              <a:schemeClr val="lt2"/>
            </a:solidFill>
            <a:ln>
              <a:noFill/>
            </a:ln>
          </p:spPr>
        </p:sp>
        <p:sp>
          <p:nvSpPr>
            <p:cNvPr id="45" name="TextBox 45"/>
            <p:cNvSpPr txBox="1"/>
            <p:nvPr/>
          </p:nvSpPr>
          <p:spPr>
            <a:xfrm>
              <a:off x="4603242" y="4845050"/>
              <a:ext cx="1018927" cy="264033"/>
            </a:xfrm>
            <a:prstGeom prst="rect">
              <a:avLst/>
            </a:prstGeom>
            <a:noFill/>
            <a:ln>
              <a:noFill/>
            </a:ln>
          </p:spPr>
          <p:txBody>
            <a:bodyPr wrap="none" lIns="0" tIns="0" rIns="0" bIns="0" anchor="t" anchorCtr="0">
              <a:spAutoFit/>
            </a:bodyPr>
            <a:lstStyle/>
            <a:p>
              <a:pPr algn="l"/>
              <a:r>
                <a:rPr lang="es-419" sz="1350" b="1" dirty="0">
                  <a:solidFill>
                    <a:schemeClr val="accent1"/>
                  </a:solidFill>
                  <a:latin typeface="Consolas"/>
                  <a:ea typeface="Consolas"/>
                  <a:cs typeface="Consolas"/>
                </a:rPr>
                <a:t>Dockerfile</a:t>
              </a:r>
            </a:p>
          </p:txBody>
        </p:sp>
        <p:sp>
          <p:nvSpPr>
            <p:cNvPr id="46" name="TextBox 46"/>
            <p:cNvSpPr txBox="1"/>
            <p:nvPr/>
          </p:nvSpPr>
          <p:spPr>
            <a:xfrm>
              <a:off x="4604004" y="5086350"/>
              <a:ext cx="2490835" cy="234696"/>
            </a:xfrm>
            <a:prstGeom prst="rect">
              <a:avLst/>
            </a:prstGeom>
            <a:noFill/>
            <a:ln>
              <a:noFill/>
            </a:ln>
          </p:spPr>
          <p:txBody>
            <a:bodyPr wrap="none" lIns="0" tIns="0" rIns="0" bIns="0" anchor="t" anchorCtr="0">
              <a:spAutoFit/>
            </a:bodyPr>
            <a:lstStyle/>
            <a:p>
              <a:pPr algn="l"/>
              <a:r>
                <a:rPr lang="es-419" sz="1200" dirty="0">
                  <a:solidFill>
                    <a:schemeClr val="accent5"/>
                  </a:solidFill>
                  <a:latin typeface="+mn-lt"/>
                  <a:ea typeface="+mn-ea"/>
                  <a:cs typeface="+mn-cs"/>
                </a:rPr>
                <a:t>imagen python:3.11-slim de la API</a:t>
              </a:r>
            </a:p>
          </p:txBody>
        </p:sp>
        <p:sp>
          <p:nvSpPr>
            <p:cNvPr id="47" name="Line 47"/>
            <p:cNvSpPr/>
            <p:nvPr/>
          </p:nvSpPr>
          <p:spPr>
            <a:xfrm>
              <a:off x="7658100" y="5067300"/>
              <a:ext cx="552450" cy="1"/>
            </a:xfrm>
            <a:prstGeom prst="line">
              <a:avLst/>
            </a:prstGeom>
            <a:noFill/>
            <a:ln w="19050">
              <a:solidFill>
                <a:srgbClr val="5B6470"/>
              </a:solidFill>
              <a:tailEnd type="triangle" w="lg" len="lg"/>
            </a:ln>
          </p:spPr>
        </p:sp>
        <p:sp>
          <p:nvSpPr>
            <p:cNvPr id="48" name="Rectangle 48"/>
            <p:cNvSpPr/>
            <p:nvPr/>
          </p:nvSpPr>
          <p:spPr>
            <a:xfrm>
              <a:off x="8229600" y="4762500"/>
              <a:ext cx="3352800" cy="609600"/>
            </a:xfrm>
            <a:prstGeom prst="rect">
              <a:avLst/>
            </a:prstGeom>
            <a:solidFill>
              <a:schemeClr val="lt2"/>
            </a:solidFill>
            <a:ln>
              <a:noFill/>
            </a:ln>
          </p:spPr>
        </p:sp>
        <p:sp>
          <p:nvSpPr>
            <p:cNvPr id="49" name="TextBox 49"/>
            <p:cNvSpPr txBox="1"/>
            <p:nvPr/>
          </p:nvSpPr>
          <p:spPr>
            <a:xfrm>
              <a:off x="8413242" y="4845050"/>
              <a:ext cx="1812912" cy="264033"/>
            </a:xfrm>
            <a:prstGeom prst="rect">
              <a:avLst/>
            </a:prstGeom>
            <a:noFill/>
            <a:ln>
              <a:noFill/>
            </a:ln>
          </p:spPr>
          <p:txBody>
            <a:bodyPr wrap="none" lIns="0" tIns="0" rIns="0" bIns="0" anchor="t" anchorCtr="0">
              <a:spAutoFit/>
            </a:bodyPr>
            <a:lstStyle/>
            <a:p>
              <a:pPr algn="l"/>
              <a:r>
                <a:rPr lang="es-419" sz="1350" b="1" dirty="0">
                  <a:solidFill>
                    <a:schemeClr val="accent1"/>
                  </a:solidFill>
                  <a:latin typeface="Consolas"/>
                  <a:ea typeface="Consolas"/>
                  <a:cs typeface="Consolas"/>
                </a:rPr>
                <a:t>.github/workflows/</a:t>
              </a:r>
            </a:p>
          </p:txBody>
        </p:sp>
        <p:sp>
          <p:nvSpPr>
            <p:cNvPr id="50" name="TextBox 50"/>
            <p:cNvSpPr txBox="1"/>
            <p:nvPr/>
          </p:nvSpPr>
          <p:spPr>
            <a:xfrm>
              <a:off x="8414004" y="5086350"/>
              <a:ext cx="2316114" cy="234696"/>
            </a:xfrm>
            <a:prstGeom prst="rect">
              <a:avLst/>
            </a:prstGeom>
            <a:noFill/>
            <a:ln>
              <a:noFill/>
            </a:ln>
          </p:spPr>
          <p:txBody>
            <a:bodyPr wrap="none" lIns="0" tIns="0" rIns="0" bIns="0" anchor="t" anchorCtr="0">
              <a:spAutoFit/>
            </a:bodyPr>
            <a:lstStyle/>
            <a:p>
              <a:pPr algn="l"/>
              <a:r>
                <a:rPr lang="es-419" sz="1200" dirty="0">
                  <a:solidFill>
                    <a:schemeClr val="accent5"/>
                  </a:solidFill>
                  <a:latin typeface="+mn-lt"/>
                  <a:ea typeface="+mn-ea"/>
                  <a:cs typeface="+mn-cs"/>
                </a:rPr>
                <a:t>CI/CD: lint → pipeline → docker</a:t>
              </a:r>
            </a:p>
          </p:txBody>
        </p:sp>
      </p:grpSp>
      <p:grpSp>
        <p:nvGrpSpPr>
          <p:cNvPr id="54" name="comando"/>
          <p:cNvGrpSpPr/>
          <p:nvPr/>
        </p:nvGrpSpPr>
        <p:grpSpPr>
          <a:xfrm>
            <a:off x="609600" y="5524500"/>
            <a:ext cx="10972800" cy="704850"/>
            <a:chOff x="609600" y="5524500"/>
            <a:chExt cx="10972800" cy="704850"/>
          </a:xfrm>
        </p:grpSpPr>
        <p:sp>
          <p:nvSpPr>
            <p:cNvPr id="52" name="Rectangle 52"/>
            <p:cNvSpPr/>
            <p:nvPr/>
          </p:nvSpPr>
          <p:spPr>
            <a:xfrm>
              <a:off x="609600" y="5524500"/>
              <a:ext cx="10972800" cy="704850"/>
            </a:xfrm>
            <a:prstGeom prst="rect">
              <a:avLst/>
            </a:prstGeom>
            <a:solidFill>
              <a:schemeClr val="accent1"/>
            </a:solidFill>
            <a:ln>
              <a:noFill/>
            </a:ln>
          </p:spPr>
        </p:sp>
        <p:sp>
          <p:nvSpPr>
            <p:cNvPr id="53" name="TextBox 53"/>
            <p:cNvSpPr txBox="1"/>
            <p:nvPr/>
          </p:nvSpPr>
          <p:spPr>
            <a:xfrm>
              <a:off x="831342" y="5600700"/>
              <a:ext cx="8217598" cy="511683"/>
            </a:xfrm>
            <a:prstGeom prst="rect">
              <a:avLst/>
            </a:prstGeom>
            <a:noFill/>
            <a:ln>
              <a:noFill/>
            </a:ln>
          </p:spPr>
          <p:txBody>
            <a:bodyPr wrap="none" lIns="0" tIns="0" rIns="0" bIns="0" anchor="t" anchorCtr="0">
              <a:spAutoFit/>
            </a:bodyPr>
            <a:lstStyle/>
            <a:p>
              <a:pPr algn="l">
                <a:lnSpc>
                  <a:spcPts val="1950"/>
                </a:lnSpc>
              </a:pPr>
              <a:r>
                <a:rPr lang="es-419" sz="1350" dirty="0">
                  <a:solidFill>
                    <a:srgbClr val="FFFFFF"/>
                  </a:solidFill>
                  <a:latin typeface="Consolas"/>
                  <a:ea typeface="Consolas"/>
                  <a:cs typeface="Consolas"/>
                </a:rPr>
                <a:t xml:space="preserve">$ python main.py          </a:t>
              </a:r>
              <a:r>
                <a:rPr lang="es-419" sz="1350" dirty="0">
                  <a:solidFill>
                    <a:srgbClr val="9FB2C8"/>
                  </a:solidFill>
                  <a:latin typeface="Consolas"/>
                  <a:ea typeface="Consolas"/>
                  <a:cs typeface="Consolas"/>
                </a:rPr>
                <a:t># las 7 etapas en ~1-2 minutos, con log y resumen de métricas</a:t>
              </a:r>
              <a:br>
                <a:rPr lang="es-419" sz="1350" dirty="0">
                  <a:solidFill>
                    <a:srgbClr val="9FB2C8"/>
                  </a:solidFill>
                  <a:latin typeface="Consolas"/>
                  <a:ea typeface="Consolas"/>
                  <a:cs typeface="Consolas"/>
                </a:rPr>
              </a:br>
              <a:r>
                <a:rPr lang="es-419" sz="1350" dirty="0">
                  <a:solidFill>
                    <a:srgbClr val="FFFFFF"/>
                  </a:solidFill>
                  <a:latin typeface="Consolas"/>
                  <a:ea typeface="Consolas"/>
                  <a:cs typeface="Consolas"/>
                </a:rPr>
                <a:t>$ python main.py --demo</a:t>
              </a:r>
              <a:r>
                <a:rPr lang="es-419" sz="1350" dirty="0">
                  <a:solidFill>
                    <a:srgbClr val="9FB2C8"/>
                  </a:solidFill>
                  <a:latin typeface="Consolas"/>
                  <a:ea typeface="Consolas"/>
                  <a:cs typeface="Consolas"/>
                </a:rPr>
                <a:t xml:space="preserve">   # + drift simulado, Docker, MLflow UI y API arriba</a:t>
              </a:r>
            </a:p>
          </p:txBody>
        </p:sp>
      </p:grpSp>
      <p:grpSp>
        <p:nvGrpSpPr>
          <p:cNvPr id="57" name="footer"/>
          <p:cNvGrpSpPr/>
          <p:nvPr/>
        </p:nvGrpSpPr>
        <p:grpSpPr>
          <a:xfrm>
            <a:off x="603504" y="6381750"/>
            <a:ext cx="10984992" cy="234696"/>
            <a:chOff x="603504" y="6381750"/>
            <a:chExt cx="10984992" cy="234696"/>
          </a:xfrm>
        </p:grpSpPr>
        <p:sp>
          <p:nvSpPr>
            <p:cNvPr id="55" name="TextBox 55"/>
            <p:cNvSpPr txBox="1"/>
            <p:nvPr/>
          </p:nvSpPr>
          <p:spPr>
            <a:xfrm>
              <a:off x="603504" y="6381750"/>
              <a:ext cx="3405319" cy="234696"/>
            </a:xfrm>
            <a:prstGeom prst="rect">
              <a:avLst/>
            </a:prstGeom>
            <a:noFill/>
            <a:ln>
              <a:noFill/>
            </a:ln>
          </p:spPr>
          <p:txBody>
            <a:bodyPr wrap="none" lIns="0" tIns="0" rIns="0" bIns="0" anchor="t" anchorCtr="0">
              <a:spAutoFit/>
            </a:bodyPr>
            <a:lstStyle/>
            <a:p>
              <a:pPr algn="l"/>
              <a:r>
                <a:rPr lang="es-419" sz="1200" dirty="0">
                  <a:solidFill>
                    <a:schemeClr val="accent5"/>
                  </a:solidFill>
                  <a:latin typeface="+mn-lt"/>
                  <a:ea typeface="+mn-ea"/>
                  <a:cs typeface="+mn-cs"/>
                </a:rPr>
                <a:t>Proyecto Final MLOps · Prevención de Infartos</a:t>
              </a:r>
            </a:p>
          </p:txBody>
        </p:sp>
        <p:sp>
          <p:nvSpPr>
            <p:cNvPr id="56" name="TextBox 56"/>
            <p:cNvSpPr txBox="1"/>
            <p:nvPr/>
          </p:nvSpPr>
          <p:spPr>
            <a:xfrm>
              <a:off x="11082270" y="6381750"/>
              <a:ext cx="506226" cy="234696"/>
            </a:xfrm>
            <a:prstGeom prst="rect">
              <a:avLst/>
            </a:prstGeom>
            <a:noFill/>
            <a:ln>
              <a:noFill/>
            </a:ln>
          </p:spPr>
          <p:txBody>
            <a:bodyPr wrap="none" lIns="0" tIns="0" rIns="0" bIns="0" anchor="t" anchorCtr="0">
              <a:spAutoFit/>
            </a:bodyPr>
            <a:lstStyle/>
            <a:p>
              <a:pPr algn="r"/>
              <a:r>
                <a:rPr lang="es-419" sz="1200" dirty="0">
                  <a:solidFill>
                    <a:schemeClr val="accent5"/>
                  </a:solidFill>
                  <a:latin typeface="+mn-lt"/>
                  <a:ea typeface="+mn-ea"/>
                  <a:cs typeface="+mn-cs"/>
                </a:rPr>
                <a:t>05 / 10</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4360" y="584200"/>
            <a:ext cx="10988040" cy="1387475"/>
            <a:chOff x="594360" y="584200"/>
            <a:chExt cx="10988040" cy="1387475"/>
          </a:xfrm>
        </p:grpSpPr>
        <p:sp>
          <p:nvSpPr>
            <p:cNvPr id="2" name="TextBox 2"/>
            <p:cNvSpPr txBox="1"/>
            <p:nvPr/>
          </p:nvSpPr>
          <p:spPr>
            <a:xfrm>
              <a:off x="603885" y="584200"/>
              <a:ext cx="2994583" cy="220028"/>
            </a:xfrm>
            <a:prstGeom prst="rect">
              <a:avLst/>
            </a:prstGeom>
            <a:noFill/>
            <a:ln>
              <a:noFill/>
            </a:ln>
          </p:spPr>
          <p:txBody>
            <a:bodyPr wrap="none" lIns="0" tIns="0" rIns="0" bIns="0" anchor="t" anchorCtr="0">
              <a:spAutoFit/>
            </a:bodyPr>
            <a:lstStyle/>
            <a:p>
              <a:pPr algn="l"/>
              <a:r>
                <a:rPr lang="es-419" sz="1120" b="1" dirty="0">
                  <a:solidFill>
                    <a:schemeClr val="accent5"/>
                  </a:solidFill>
                  <a:latin typeface="+mn-lt"/>
                  <a:ea typeface="+mn-ea"/>
                  <a:cs typeface="+mn-cs"/>
                </a:rPr>
                <a:t>05 · QUALITY GATE · UNIDADES 4 Y 10</a:t>
              </a:r>
            </a:p>
          </p:txBody>
        </p:sp>
        <p:sp>
          <p:nvSpPr>
            <p:cNvPr id="3" name="TextBox 3"/>
            <p:cNvSpPr txBox="1"/>
            <p:nvPr/>
          </p:nvSpPr>
          <p:spPr>
            <a:xfrm>
              <a:off x="594360" y="850900"/>
              <a:ext cx="9580245" cy="1062990"/>
            </a:xfrm>
            <a:prstGeom prst="rect">
              <a:avLst/>
            </a:prstGeom>
            <a:noFill/>
            <a:ln>
              <a:noFill/>
            </a:ln>
          </p:spPr>
          <p:txBody>
            <a:bodyPr wrap="none" lIns="0" tIns="0" rIns="0" bIns="0" anchor="t" anchorCtr="0">
              <a:spAutoFit/>
            </a:bodyPr>
            <a:lstStyle/>
            <a:p>
              <a:pPr algn="l">
                <a:lnSpc>
                  <a:spcPts val="3750"/>
                </a:lnSpc>
              </a:pPr>
              <a:r>
                <a:rPr lang="es-419" sz="3000" b="1" dirty="0">
                  <a:solidFill>
                    <a:schemeClr val="accent1"/>
                  </a:solidFill>
                  <a:latin typeface="+mn-lt"/>
                  <a:ea typeface="+mn-ea"/>
                  <a:cs typeface="+mn-cs"/>
                </a:rPr>
                <a:t>El quality gate exige recall y AUC, no F1 ni accuracy,</a:t>
              </a:r>
              <a:br>
                <a:rPr lang="es-419" sz="3000" b="1" dirty="0">
                  <a:solidFill>
                    <a:schemeClr val="accent1"/>
                  </a:solidFill>
                  <a:latin typeface="+mn-lt"/>
                  <a:ea typeface="+mn-ea"/>
                  <a:cs typeface="+mn-cs"/>
                </a:rPr>
              </a:br>
              <a:r>
                <a:rPr lang="es-419" sz="3000" b="1" dirty="0">
                  <a:solidFill>
                    <a:schemeClr val="accent1"/>
                  </a:solidFill>
                  <a:latin typeface="+mn-lt"/>
                  <a:ea typeface="+mn-ea"/>
                  <a:cs typeface="+mn-cs"/>
                </a:rPr>
                <a:t>porque solo el 1,8% de los asegurados tiene infarto</a:t>
              </a:r>
            </a:p>
          </p:txBody>
        </p:sp>
        <p:sp>
          <p:nvSpPr>
            <p:cNvPr id="4" name="Line 4"/>
            <p:cNvSpPr/>
            <p:nvPr/>
          </p:nvSpPr>
          <p:spPr>
            <a:xfrm>
              <a:off x="609600" y="19621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7" name="reporte-evaluacion"/>
          <p:cNvGrpSpPr/>
          <p:nvPr/>
        </p:nvGrpSpPr>
        <p:grpSpPr>
          <a:xfrm>
            <a:off x="609600" y="2133600"/>
            <a:ext cx="7239000" cy="3181350"/>
            <a:chOff x="609600" y="2133600"/>
            <a:chExt cx="7239000" cy="3181350"/>
          </a:xfrm>
        </p:grpSpPr>
        <p:pic>
          <p:nvPicPr>
            <p:cNvPr id="6" name="Image 6"/>
            <p:cNvPicPr>
              <a:picLocks noChangeAspect="1"/>
            </p:cNvPicPr>
            <p:nvPr/>
          </p:nvPicPr>
          <p:blipFill>
            <a:blip r:embed="rId2"/>
            <a:stretch>
              <a:fillRect/>
            </a:stretch>
          </p:blipFill>
          <p:spPr>
            <a:xfrm>
              <a:off x="609600" y="2133600"/>
              <a:ext cx="7239000" cy="3181350"/>
            </a:xfrm>
            <a:prstGeom prst="rect">
              <a:avLst/>
            </a:prstGeom>
          </p:spPr>
        </p:pic>
      </p:grpSp>
      <p:grpSp>
        <p:nvGrpSpPr>
          <p:cNvPr id="22" name="veredicto-gate"/>
          <p:cNvGrpSpPr/>
          <p:nvPr/>
        </p:nvGrpSpPr>
        <p:grpSpPr>
          <a:xfrm>
            <a:off x="8142732" y="2184400"/>
            <a:ext cx="3439668" cy="2940050"/>
            <a:chOff x="8142732" y="2184400"/>
            <a:chExt cx="3439668" cy="2940050"/>
          </a:xfrm>
        </p:grpSpPr>
        <p:sp>
          <p:nvSpPr>
            <p:cNvPr id="8" name="TextBox 8"/>
            <p:cNvSpPr txBox="1"/>
            <p:nvPr/>
          </p:nvSpPr>
          <p:spPr>
            <a:xfrm>
              <a:off x="8147685" y="2184400"/>
              <a:ext cx="1657791" cy="220028"/>
            </a:xfrm>
            <a:prstGeom prst="rect">
              <a:avLst/>
            </a:prstGeom>
            <a:noFill/>
            <a:ln>
              <a:noFill/>
            </a:ln>
          </p:spPr>
          <p:txBody>
            <a:bodyPr wrap="none" lIns="0" tIns="0" rIns="0" bIns="0" anchor="t" anchorCtr="0">
              <a:spAutoFit/>
            </a:bodyPr>
            <a:lstStyle/>
            <a:p>
              <a:pPr algn="l"/>
              <a:r>
                <a:rPr lang="es-419" sz="1120" b="1" dirty="0">
                  <a:solidFill>
                    <a:schemeClr val="accent5"/>
                  </a:solidFill>
                  <a:latin typeface="+mn-lt"/>
                  <a:ea typeface="+mn-ea"/>
                  <a:cs typeface="+mn-cs"/>
                </a:rPr>
                <a:t>VEREDICTO EN TEST</a:t>
              </a:r>
            </a:p>
          </p:txBody>
        </p:sp>
        <p:sp>
          <p:nvSpPr>
            <p:cNvPr id="9" name="TextBox 9"/>
            <p:cNvSpPr txBox="1"/>
            <p:nvPr/>
          </p:nvSpPr>
          <p:spPr>
            <a:xfrm>
              <a:off x="8147304" y="2533650"/>
              <a:ext cx="372583" cy="234696"/>
            </a:xfrm>
            <a:prstGeom prst="rect">
              <a:avLst/>
            </a:prstGeom>
            <a:noFill/>
            <a:ln>
              <a:noFill/>
            </a:ln>
          </p:spPr>
          <p:txBody>
            <a:bodyPr wrap="none" lIns="0" tIns="0" rIns="0" bIns="0" anchor="t" anchorCtr="0">
              <a:spAutoFit/>
            </a:bodyPr>
            <a:lstStyle/>
            <a:p>
              <a:pPr algn="l"/>
              <a:r>
                <a:rPr lang="es-419" sz="1200" dirty="0">
                  <a:solidFill>
                    <a:schemeClr val="accent5"/>
                  </a:solidFill>
                  <a:latin typeface="+mn-lt"/>
                  <a:ea typeface="+mn-ea"/>
                  <a:cs typeface="+mn-cs"/>
                </a:rPr>
                <a:t>AUC</a:t>
              </a:r>
            </a:p>
          </p:txBody>
        </p:sp>
        <p:sp>
          <p:nvSpPr>
            <p:cNvPr id="10" name="TextBox 10"/>
            <p:cNvSpPr txBox="1"/>
            <p:nvPr/>
          </p:nvSpPr>
          <p:spPr>
            <a:xfrm>
              <a:off x="8142732" y="2736850"/>
              <a:ext cx="1591293" cy="410718"/>
            </a:xfrm>
            <a:prstGeom prst="rect">
              <a:avLst/>
            </a:prstGeom>
            <a:noFill/>
            <a:ln>
              <a:noFill/>
            </a:ln>
          </p:spPr>
          <p:txBody>
            <a:bodyPr wrap="none" lIns="0" tIns="0" rIns="0" bIns="0" anchor="t" anchorCtr="0">
              <a:spAutoFit/>
            </a:bodyPr>
            <a:lstStyle/>
            <a:p>
              <a:pPr algn="l"/>
              <a:r>
                <a:rPr lang="es-419" sz="2100" b="1" dirty="0">
                  <a:solidFill>
                    <a:schemeClr val="accent1"/>
                  </a:solidFill>
                  <a:latin typeface="+mn-lt"/>
                  <a:ea typeface="+mn-ea"/>
                  <a:cs typeface="+mn-cs"/>
                </a:rPr>
                <a:t>0,828 ≥ 0,80</a:t>
              </a:r>
            </a:p>
          </p:txBody>
        </p:sp>
        <p:sp>
          <p:nvSpPr>
            <p:cNvPr id="11" name="Freeform 11"/>
            <p:cNvSpPr/>
            <p:nvPr/>
          </p:nvSpPr>
          <p:spPr>
            <a:xfrm>
              <a:off x="11289208" y="2837213"/>
              <a:ext cx="218228" cy="154873"/>
            </a:xfrm>
            <a:custGeom>
              <a:avLst/>
              <a:gdLst/>
              <a:ahLst/>
              <a:cxnLst/>
              <a:rect l="l" t="t" r="r" b="b"/>
              <a:pathLst>
                <a:path w="218228" h="154873">
                  <a:moveTo>
                    <a:pt x="213270" y="4958"/>
                  </a:moveTo>
                  <a:cubicBezTo>
                    <a:pt x="218228" y="9917"/>
                    <a:pt x="218228" y="17956"/>
                    <a:pt x="213270" y="22916"/>
                  </a:cubicBezTo>
                  <a:lnTo>
                    <a:pt x="86271" y="149915"/>
                  </a:lnTo>
                  <a:cubicBezTo>
                    <a:pt x="81311" y="154873"/>
                    <a:pt x="73272" y="154873"/>
                    <a:pt x="68313" y="149915"/>
                  </a:cubicBezTo>
                  <a:lnTo>
                    <a:pt x="4813" y="86415"/>
                  </a:lnTo>
                  <a:cubicBezTo>
                    <a:pt x="0" y="81432"/>
                    <a:pt x="69" y="73511"/>
                    <a:pt x="4968" y="68612"/>
                  </a:cubicBezTo>
                  <a:cubicBezTo>
                    <a:pt x="9866" y="63714"/>
                    <a:pt x="17787" y="63645"/>
                    <a:pt x="22771" y="68458"/>
                  </a:cubicBezTo>
                  <a:lnTo>
                    <a:pt x="77292" y="122979"/>
                  </a:lnTo>
                  <a:lnTo>
                    <a:pt x="195312" y="4958"/>
                  </a:lnTo>
                  <a:cubicBezTo>
                    <a:pt x="200272" y="0"/>
                    <a:pt x="208311" y="0"/>
                    <a:pt x="213270" y="4958"/>
                  </a:cubicBezTo>
                </a:path>
              </a:pathLst>
            </a:custGeom>
            <a:solidFill>
              <a:schemeClr val="accent3"/>
            </a:solidFill>
            <a:ln>
              <a:noFill/>
            </a:ln>
          </p:spPr>
        </p:sp>
        <p:sp>
          <p:nvSpPr>
            <p:cNvPr id="12" name="Line 12"/>
            <p:cNvSpPr/>
            <p:nvPr/>
          </p:nvSpPr>
          <p:spPr>
            <a:xfrm>
              <a:off x="8153400" y="3162300"/>
              <a:ext cx="3429000" cy="9525"/>
            </a:xfrm>
            <a:custGeom>
              <a:avLst/>
              <a:gdLst/>
              <a:ahLst/>
              <a:cxnLst/>
              <a:rect l="l" t="t" r="r" b="b"/>
              <a:pathLst>
                <a:path w="3429000" h="9525">
                  <a:moveTo>
                    <a:pt x="0" y="0"/>
                  </a:moveTo>
                  <a:lnTo>
                    <a:pt x="3429000" y="0"/>
                  </a:lnTo>
                </a:path>
              </a:pathLst>
            </a:custGeom>
            <a:noFill/>
            <a:ln w="9525">
              <a:solidFill>
                <a:schemeClr val="accent6"/>
              </a:solidFill>
            </a:ln>
          </p:spPr>
        </p:sp>
        <p:sp>
          <p:nvSpPr>
            <p:cNvPr id="13" name="TextBox 13"/>
            <p:cNvSpPr txBox="1"/>
            <p:nvPr/>
          </p:nvSpPr>
          <p:spPr>
            <a:xfrm>
              <a:off x="8147304" y="3238500"/>
              <a:ext cx="1983273" cy="234696"/>
            </a:xfrm>
            <a:prstGeom prst="rect">
              <a:avLst/>
            </a:prstGeom>
            <a:noFill/>
            <a:ln>
              <a:noFill/>
            </a:ln>
          </p:spPr>
          <p:txBody>
            <a:bodyPr wrap="none" lIns="0" tIns="0" rIns="0" bIns="0" anchor="t" anchorCtr="0">
              <a:spAutoFit/>
            </a:bodyPr>
            <a:lstStyle/>
            <a:p>
              <a:pPr algn="l"/>
              <a:r>
                <a:rPr lang="es-419" sz="1200" dirty="0">
                  <a:solidFill>
                    <a:schemeClr val="accent5"/>
                  </a:solidFill>
                  <a:latin typeface="+mn-lt"/>
                  <a:ea typeface="+mn-ea"/>
                  <a:cs typeface="+mn-cs"/>
                </a:rPr>
                <a:t>Recall (infartos detectados)</a:t>
              </a:r>
            </a:p>
          </p:txBody>
        </p:sp>
        <p:sp>
          <p:nvSpPr>
            <p:cNvPr id="14" name="TextBox 14"/>
            <p:cNvSpPr txBox="1"/>
            <p:nvPr/>
          </p:nvSpPr>
          <p:spPr>
            <a:xfrm>
              <a:off x="8142732" y="3441700"/>
              <a:ext cx="1591293" cy="410718"/>
            </a:xfrm>
            <a:prstGeom prst="rect">
              <a:avLst/>
            </a:prstGeom>
            <a:noFill/>
            <a:ln>
              <a:noFill/>
            </a:ln>
          </p:spPr>
          <p:txBody>
            <a:bodyPr wrap="none" lIns="0" tIns="0" rIns="0" bIns="0" anchor="t" anchorCtr="0">
              <a:spAutoFit/>
            </a:bodyPr>
            <a:lstStyle/>
            <a:p>
              <a:pPr algn="l"/>
              <a:r>
                <a:rPr lang="es-419" sz="2100" b="1" dirty="0">
                  <a:solidFill>
                    <a:schemeClr val="accent1"/>
                  </a:solidFill>
                  <a:latin typeface="+mn-lt"/>
                  <a:ea typeface="+mn-ea"/>
                  <a:cs typeface="+mn-cs"/>
                </a:rPr>
                <a:t>0,815 ≥ 0,70</a:t>
              </a:r>
            </a:p>
          </p:txBody>
        </p:sp>
        <p:sp>
          <p:nvSpPr>
            <p:cNvPr id="15" name="Freeform 15"/>
            <p:cNvSpPr/>
            <p:nvPr/>
          </p:nvSpPr>
          <p:spPr>
            <a:xfrm>
              <a:off x="11289208" y="3542063"/>
              <a:ext cx="218228" cy="154873"/>
            </a:xfrm>
            <a:custGeom>
              <a:avLst/>
              <a:gdLst/>
              <a:ahLst/>
              <a:cxnLst/>
              <a:rect l="l" t="t" r="r" b="b"/>
              <a:pathLst>
                <a:path w="218228" h="154873">
                  <a:moveTo>
                    <a:pt x="213270" y="4958"/>
                  </a:moveTo>
                  <a:cubicBezTo>
                    <a:pt x="218228" y="9917"/>
                    <a:pt x="218228" y="17956"/>
                    <a:pt x="213270" y="22916"/>
                  </a:cubicBezTo>
                  <a:lnTo>
                    <a:pt x="86271" y="149915"/>
                  </a:lnTo>
                  <a:cubicBezTo>
                    <a:pt x="81311" y="154873"/>
                    <a:pt x="73272" y="154873"/>
                    <a:pt x="68313" y="149915"/>
                  </a:cubicBezTo>
                  <a:lnTo>
                    <a:pt x="4813" y="86415"/>
                  </a:lnTo>
                  <a:cubicBezTo>
                    <a:pt x="0" y="81432"/>
                    <a:pt x="69" y="73511"/>
                    <a:pt x="4968" y="68612"/>
                  </a:cubicBezTo>
                  <a:cubicBezTo>
                    <a:pt x="9866" y="63714"/>
                    <a:pt x="17787" y="63645"/>
                    <a:pt x="22771" y="68458"/>
                  </a:cubicBezTo>
                  <a:lnTo>
                    <a:pt x="77292" y="122979"/>
                  </a:lnTo>
                  <a:lnTo>
                    <a:pt x="195312" y="4958"/>
                  </a:lnTo>
                  <a:cubicBezTo>
                    <a:pt x="200272" y="0"/>
                    <a:pt x="208311" y="0"/>
                    <a:pt x="213270" y="4958"/>
                  </a:cubicBezTo>
                </a:path>
              </a:pathLst>
            </a:custGeom>
            <a:solidFill>
              <a:schemeClr val="accent3"/>
            </a:solidFill>
            <a:ln>
              <a:noFill/>
            </a:ln>
          </p:spPr>
        </p:sp>
        <p:sp>
          <p:nvSpPr>
            <p:cNvPr id="16" name="Line 16"/>
            <p:cNvSpPr/>
            <p:nvPr/>
          </p:nvSpPr>
          <p:spPr>
            <a:xfrm>
              <a:off x="8153400" y="3867150"/>
              <a:ext cx="3429000" cy="9525"/>
            </a:xfrm>
            <a:custGeom>
              <a:avLst/>
              <a:gdLst/>
              <a:ahLst/>
              <a:cxnLst/>
              <a:rect l="l" t="t" r="r" b="b"/>
              <a:pathLst>
                <a:path w="3429000" h="9525">
                  <a:moveTo>
                    <a:pt x="0" y="0"/>
                  </a:moveTo>
                  <a:lnTo>
                    <a:pt x="3429000" y="0"/>
                  </a:lnTo>
                </a:path>
              </a:pathLst>
            </a:custGeom>
            <a:noFill/>
            <a:ln w="9525">
              <a:solidFill>
                <a:schemeClr val="accent6"/>
              </a:solidFill>
            </a:ln>
          </p:spPr>
        </p:sp>
        <p:sp>
          <p:nvSpPr>
            <p:cNvPr id="17" name="TextBox 17"/>
            <p:cNvSpPr txBox="1"/>
            <p:nvPr/>
          </p:nvSpPr>
          <p:spPr>
            <a:xfrm>
              <a:off x="8147304" y="3943350"/>
              <a:ext cx="1436886" cy="234696"/>
            </a:xfrm>
            <a:prstGeom prst="rect">
              <a:avLst/>
            </a:prstGeom>
            <a:noFill/>
            <a:ln>
              <a:noFill/>
            </a:ln>
          </p:spPr>
          <p:txBody>
            <a:bodyPr wrap="none" lIns="0" tIns="0" rIns="0" bIns="0" anchor="t" anchorCtr="0">
              <a:spAutoFit/>
            </a:bodyPr>
            <a:lstStyle/>
            <a:p>
              <a:pPr algn="l"/>
              <a:r>
                <a:rPr lang="es-419" sz="1200" dirty="0">
                  <a:solidFill>
                    <a:schemeClr val="accent5"/>
                  </a:solidFill>
                  <a:latin typeface="+mn-lt"/>
                  <a:ea typeface="+mn-ea"/>
                  <a:cs typeface="+mn-cs"/>
                </a:rPr>
                <a:t>F1 (solo como piso)</a:t>
              </a:r>
            </a:p>
          </p:txBody>
        </p:sp>
        <p:sp>
          <p:nvSpPr>
            <p:cNvPr id="18" name="TextBox 18"/>
            <p:cNvSpPr txBox="1"/>
            <p:nvPr/>
          </p:nvSpPr>
          <p:spPr>
            <a:xfrm>
              <a:off x="8142732" y="4146550"/>
              <a:ext cx="1591293" cy="410718"/>
            </a:xfrm>
            <a:prstGeom prst="rect">
              <a:avLst/>
            </a:prstGeom>
            <a:noFill/>
            <a:ln>
              <a:noFill/>
            </a:ln>
          </p:spPr>
          <p:txBody>
            <a:bodyPr wrap="none" lIns="0" tIns="0" rIns="0" bIns="0" anchor="t" anchorCtr="0">
              <a:spAutoFit/>
            </a:bodyPr>
            <a:lstStyle/>
            <a:p>
              <a:pPr algn="l"/>
              <a:r>
                <a:rPr lang="es-419" sz="2100" b="1" dirty="0">
                  <a:solidFill>
                    <a:schemeClr val="accent1"/>
                  </a:solidFill>
                  <a:latin typeface="+mn-lt"/>
                  <a:ea typeface="+mn-ea"/>
                  <a:cs typeface="+mn-cs"/>
                </a:rPr>
                <a:t>0,099 ≥ 0,05</a:t>
              </a:r>
            </a:p>
          </p:txBody>
        </p:sp>
        <p:sp>
          <p:nvSpPr>
            <p:cNvPr id="19" name="Freeform 19"/>
            <p:cNvSpPr/>
            <p:nvPr/>
          </p:nvSpPr>
          <p:spPr>
            <a:xfrm>
              <a:off x="11289208" y="4246913"/>
              <a:ext cx="218228" cy="154873"/>
            </a:xfrm>
            <a:custGeom>
              <a:avLst/>
              <a:gdLst/>
              <a:ahLst/>
              <a:cxnLst/>
              <a:rect l="l" t="t" r="r" b="b"/>
              <a:pathLst>
                <a:path w="218228" h="154873">
                  <a:moveTo>
                    <a:pt x="213270" y="4958"/>
                  </a:moveTo>
                  <a:cubicBezTo>
                    <a:pt x="218228" y="9917"/>
                    <a:pt x="218228" y="17956"/>
                    <a:pt x="213270" y="22916"/>
                  </a:cubicBezTo>
                  <a:lnTo>
                    <a:pt x="86271" y="149915"/>
                  </a:lnTo>
                  <a:cubicBezTo>
                    <a:pt x="81311" y="154873"/>
                    <a:pt x="73272" y="154873"/>
                    <a:pt x="68313" y="149915"/>
                  </a:cubicBezTo>
                  <a:lnTo>
                    <a:pt x="4813" y="86415"/>
                  </a:lnTo>
                  <a:cubicBezTo>
                    <a:pt x="0" y="81432"/>
                    <a:pt x="69" y="73511"/>
                    <a:pt x="4968" y="68612"/>
                  </a:cubicBezTo>
                  <a:cubicBezTo>
                    <a:pt x="9866" y="63714"/>
                    <a:pt x="17787" y="63645"/>
                    <a:pt x="22771" y="68458"/>
                  </a:cubicBezTo>
                  <a:lnTo>
                    <a:pt x="77292" y="122979"/>
                  </a:lnTo>
                  <a:lnTo>
                    <a:pt x="195312" y="4958"/>
                  </a:lnTo>
                  <a:cubicBezTo>
                    <a:pt x="200272" y="0"/>
                    <a:pt x="208311" y="0"/>
                    <a:pt x="213270" y="4958"/>
                  </a:cubicBezTo>
                </a:path>
              </a:pathLst>
            </a:custGeom>
            <a:solidFill>
              <a:schemeClr val="accent3"/>
            </a:solidFill>
            <a:ln>
              <a:noFill/>
            </a:ln>
          </p:spPr>
        </p:sp>
        <p:sp>
          <p:nvSpPr>
            <p:cNvPr id="20" name="Rectangle 20"/>
            <p:cNvSpPr/>
            <p:nvPr/>
          </p:nvSpPr>
          <p:spPr>
            <a:xfrm>
              <a:off x="8153400" y="4610100"/>
              <a:ext cx="3429000" cy="514350"/>
            </a:xfrm>
            <a:prstGeom prst="rect">
              <a:avLst/>
            </a:prstGeom>
            <a:solidFill>
              <a:schemeClr val="accent1"/>
            </a:solidFill>
            <a:ln>
              <a:noFill/>
            </a:ln>
          </p:spPr>
        </p:sp>
        <p:sp>
          <p:nvSpPr>
            <p:cNvPr id="21" name="TextBox 21"/>
            <p:cNvSpPr txBox="1"/>
            <p:nvPr/>
          </p:nvSpPr>
          <p:spPr>
            <a:xfrm>
              <a:off x="8412955" y="4730750"/>
              <a:ext cx="2909890" cy="322707"/>
            </a:xfrm>
            <a:prstGeom prst="rect">
              <a:avLst/>
            </a:prstGeom>
            <a:noFill/>
            <a:ln>
              <a:noFill/>
            </a:ln>
          </p:spPr>
          <p:txBody>
            <a:bodyPr wrap="none" lIns="0" tIns="0" rIns="0" bIns="0" anchor="t" anchorCtr="0">
              <a:spAutoFit/>
            </a:bodyPr>
            <a:lstStyle/>
            <a:p>
              <a:pPr algn="ctr"/>
              <a:r>
                <a:rPr lang="es-419" sz="1650" b="1" dirty="0">
                  <a:solidFill>
                    <a:srgbClr val="FFFFFF"/>
                  </a:solidFill>
                  <a:latin typeface="+mn-lt"/>
                  <a:ea typeface="+mn-ea"/>
                  <a:cs typeface="+mn-cs"/>
                </a:rPr>
                <a:t>APROBADO → Production</a:t>
              </a:r>
            </a:p>
          </p:txBody>
        </p:sp>
      </p:grpSp>
      <p:grpSp>
        <p:nvGrpSpPr>
          <p:cNvPr id="25" name="lecturas"/>
          <p:cNvGrpSpPr/>
          <p:nvPr/>
        </p:nvGrpSpPr>
        <p:grpSpPr>
          <a:xfrm>
            <a:off x="601218" y="5499100"/>
            <a:ext cx="9638831" cy="608457"/>
            <a:chOff x="601218" y="5499100"/>
            <a:chExt cx="9638831" cy="608457"/>
          </a:xfrm>
        </p:grpSpPr>
        <p:sp>
          <p:nvSpPr>
            <p:cNvPr id="23" name="TextBox 23"/>
            <p:cNvSpPr txBox="1"/>
            <p:nvPr/>
          </p:nvSpPr>
          <p:spPr>
            <a:xfrm>
              <a:off x="601218" y="5499100"/>
              <a:ext cx="3517422" cy="608457"/>
            </a:xfrm>
            <a:prstGeom prst="rect">
              <a:avLst/>
            </a:prstGeom>
            <a:noFill/>
            <a:ln>
              <a:noFill/>
            </a:ln>
          </p:spPr>
          <p:txBody>
            <a:bodyPr wrap="none" lIns="0" tIns="0" rIns="0" bIns="0" anchor="t" anchorCtr="0">
              <a:spAutoFit/>
            </a:bodyPr>
            <a:lstStyle/>
            <a:p>
              <a:pPr algn="l">
                <a:lnSpc>
                  <a:spcPts val="2250"/>
                </a:lnSpc>
              </a:pPr>
              <a:r>
                <a:rPr lang="es-419" sz="1650" b="1" dirty="0">
                  <a:solidFill>
                    <a:schemeClr val="accent1"/>
                  </a:solidFill>
                  <a:latin typeface="+mn-lt"/>
                  <a:ea typeface="+mn-ea"/>
                  <a:cs typeface="+mn-cs"/>
                </a:rPr>
                <a:t>Precisión 0,053:</a:t>
              </a:r>
              <a:r>
                <a:rPr lang="es-419" sz="1650" dirty="0">
                  <a:solidFill>
                    <a:schemeClr val="dk1"/>
                  </a:solidFill>
                  <a:latin typeface="+mn-lt"/>
                  <a:ea typeface="+mn-ea"/>
                  <a:cs typeface="+mn-cs"/>
                </a:rPr>
                <a:t xml:space="preserve"> ~18 sanos entran al</a:t>
              </a:r>
              <a:br>
                <a:rPr lang="es-419" sz="1650" dirty="0">
                  <a:solidFill>
                    <a:schemeClr val="dk1"/>
                  </a:solidFill>
                  <a:latin typeface="+mn-lt"/>
                  <a:ea typeface="+mn-ea"/>
                  <a:cs typeface="+mn-cs"/>
                </a:rPr>
              </a:br>
              <a:r>
                <a:rPr lang="es-419" sz="1650" dirty="0">
                  <a:solidFill>
                    <a:schemeClr val="dk1"/>
                  </a:solidFill>
                  <a:latin typeface="+mn-lt"/>
                  <a:ea typeface="+mn-ea"/>
                  <a:cs typeface="+mn-cs"/>
                </a:rPr>
                <a:t>programa por cada infarto detectado</a:t>
              </a:r>
            </a:p>
          </p:txBody>
        </p:sp>
        <p:sp>
          <p:nvSpPr>
            <p:cNvPr id="24" name="TextBox 24"/>
            <p:cNvSpPr txBox="1"/>
            <p:nvPr/>
          </p:nvSpPr>
          <p:spPr>
            <a:xfrm>
              <a:off x="6392418" y="5499100"/>
              <a:ext cx="3847631" cy="608457"/>
            </a:xfrm>
            <a:prstGeom prst="rect">
              <a:avLst/>
            </a:prstGeom>
            <a:noFill/>
            <a:ln>
              <a:noFill/>
            </a:ln>
          </p:spPr>
          <p:txBody>
            <a:bodyPr wrap="none" lIns="0" tIns="0" rIns="0" bIns="0" anchor="t" anchorCtr="0">
              <a:spAutoFit/>
            </a:bodyPr>
            <a:lstStyle/>
            <a:p>
              <a:pPr algn="l">
                <a:lnSpc>
                  <a:spcPts val="2250"/>
                </a:lnSpc>
              </a:pPr>
              <a:r>
                <a:rPr lang="es-419" sz="1650" b="1" dirty="0">
                  <a:solidFill>
                    <a:schemeClr val="accent1"/>
                  </a:solidFill>
                  <a:latin typeface="+mn-lt"/>
                  <a:ea typeface="+mn-ea"/>
                  <a:cs typeface="+mn-cs"/>
                </a:rPr>
                <a:t>F1 ≥ 0,70</a:t>
              </a:r>
              <a:r>
                <a:rPr lang="es-419" sz="1650" dirty="0">
                  <a:solidFill>
                    <a:schemeClr val="dk1"/>
                  </a:solidFill>
                  <a:latin typeface="+mn-lt"/>
                  <a:ea typeface="+mn-ea"/>
                  <a:cs typeface="+mn-cs"/>
                </a:rPr>
                <a:t xml:space="preserve"> (template U10) es inalcanzable</a:t>
              </a:r>
              <a:br>
                <a:rPr lang="es-419" sz="1650" dirty="0">
                  <a:solidFill>
                    <a:schemeClr val="dk1"/>
                  </a:solidFill>
                  <a:latin typeface="+mn-lt"/>
                  <a:ea typeface="+mn-ea"/>
                  <a:cs typeface="+mn-cs"/>
                </a:rPr>
              </a:br>
              <a:r>
                <a:rPr lang="es-419" sz="1650" dirty="0">
                  <a:solidFill>
                    <a:schemeClr val="dk1"/>
                  </a:solidFill>
                  <a:latin typeface="+mn-lt"/>
                  <a:ea typeface="+mn-ea"/>
                  <a:cs typeface="+mn-cs"/>
                </a:rPr>
                <a:t>con 1,8% de positivos: queda como piso</a:t>
              </a:r>
            </a:p>
          </p:txBody>
        </p:sp>
      </p:grpSp>
      <p:grpSp>
        <p:nvGrpSpPr>
          <p:cNvPr id="28" name="footer"/>
          <p:cNvGrpSpPr/>
          <p:nvPr/>
        </p:nvGrpSpPr>
        <p:grpSpPr>
          <a:xfrm>
            <a:off x="603504" y="6381750"/>
            <a:ext cx="10984992" cy="234696"/>
            <a:chOff x="603504" y="6381750"/>
            <a:chExt cx="10984992" cy="234696"/>
          </a:xfrm>
        </p:grpSpPr>
        <p:sp>
          <p:nvSpPr>
            <p:cNvPr id="26" name="TextBox 26"/>
            <p:cNvSpPr txBox="1"/>
            <p:nvPr/>
          </p:nvSpPr>
          <p:spPr>
            <a:xfrm>
              <a:off x="603504" y="6381750"/>
              <a:ext cx="3405319" cy="234696"/>
            </a:xfrm>
            <a:prstGeom prst="rect">
              <a:avLst/>
            </a:prstGeom>
            <a:noFill/>
            <a:ln>
              <a:noFill/>
            </a:ln>
          </p:spPr>
          <p:txBody>
            <a:bodyPr wrap="none" lIns="0" tIns="0" rIns="0" bIns="0" anchor="t" anchorCtr="0">
              <a:spAutoFit/>
            </a:bodyPr>
            <a:lstStyle/>
            <a:p>
              <a:pPr algn="l"/>
              <a:r>
                <a:rPr lang="es-419" sz="1200" dirty="0">
                  <a:solidFill>
                    <a:schemeClr val="accent5"/>
                  </a:solidFill>
                  <a:latin typeface="+mn-lt"/>
                  <a:ea typeface="+mn-ea"/>
                  <a:cs typeface="+mn-cs"/>
                </a:rPr>
                <a:t>Proyecto Final MLOps · Prevención de Infartos</a:t>
              </a:r>
            </a:p>
          </p:txBody>
        </p:sp>
        <p:sp>
          <p:nvSpPr>
            <p:cNvPr id="27" name="TextBox 27"/>
            <p:cNvSpPr txBox="1"/>
            <p:nvPr/>
          </p:nvSpPr>
          <p:spPr>
            <a:xfrm>
              <a:off x="11082270" y="6381750"/>
              <a:ext cx="506226" cy="234696"/>
            </a:xfrm>
            <a:prstGeom prst="rect">
              <a:avLst/>
            </a:prstGeom>
            <a:noFill/>
            <a:ln>
              <a:noFill/>
            </a:ln>
          </p:spPr>
          <p:txBody>
            <a:bodyPr wrap="none" lIns="0" tIns="0" rIns="0" bIns="0" anchor="t" anchorCtr="0">
              <a:spAutoFit/>
            </a:bodyPr>
            <a:lstStyle/>
            <a:p>
              <a:pPr algn="r"/>
              <a:r>
                <a:rPr lang="es-419" sz="1200" dirty="0">
                  <a:solidFill>
                    <a:schemeClr val="accent5"/>
                  </a:solidFill>
                  <a:latin typeface="+mn-lt"/>
                  <a:ea typeface="+mn-ea"/>
                  <a:cs typeface="+mn-cs"/>
                </a:rPr>
                <a:t>06 / 10</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4360" y="584200"/>
            <a:ext cx="10988040" cy="1387475"/>
            <a:chOff x="594360" y="584200"/>
            <a:chExt cx="10988040" cy="1387475"/>
          </a:xfrm>
        </p:grpSpPr>
        <p:sp>
          <p:nvSpPr>
            <p:cNvPr id="2" name="TextBox 2"/>
            <p:cNvSpPr txBox="1"/>
            <p:nvPr/>
          </p:nvSpPr>
          <p:spPr>
            <a:xfrm>
              <a:off x="603885" y="584200"/>
              <a:ext cx="3995010" cy="220028"/>
            </a:xfrm>
            <a:prstGeom prst="rect">
              <a:avLst/>
            </a:prstGeom>
            <a:noFill/>
            <a:ln>
              <a:noFill/>
            </a:ln>
          </p:spPr>
          <p:txBody>
            <a:bodyPr wrap="none" lIns="0" tIns="0" rIns="0" bIns="0" anchor="t" anchorCtr="0">
              <a:spAutoFit/>
            </a:bodyPr>
            <a:lstStyle/>
            <a:p>
              <a:pPr algn="l"/>
              <a:r>
                <a:rPr lang="es-419" sz="1120" b="1" dirty="0">
                  <a:solidFill>
                    <a:schemeClr val="accent5"/>
                  </a:solidFill>
                  <a:latin typeface="+mn-lt"/>
                  <a:ea typeface="+mn-ea"/>
                  <a:cs typeface="+mn-cs"/>
                </a:rPr>
                <a:t>06 · VERSIONADO Y REGISTRO · UNIDADES 3, 6 Y 8</a:t>
              </a:r>
            </a:p>
          </p:txBody>
        </p:sp>
        <p:sp>
          <p:nvSpPr>
            <p:cNvPr id="3" name="TextBox 3"/>
            <p:cNvSpPr txBox="1"/>
            <p:nvPr/>
          </p:nvSpPr>
          <p:spPr>
            <a:xfrm>
              <a:off x="594360" y="850900"/>
              <a:ext cx="7970063" cy="1062990"/>
            </a:xfrm>
            <a:prstGeom prst="rect">
              <a:avLst/>
            </a:prstGeom>
            <a:noFill/>
            <a:ln>
              <a:noFill/>
            </a:ln>
          </p:spPr>
          <p:txBody>
            <a:bodyPr wrap="none" lIns="0" tIns="0" rIns="0" bIns="0" anchor="t" anchorCtr="0">
              <a:spAutoFit/>
            </a:bodyPr>
            <a:lstStyle/>
            <a:p>
              <a:pPr algn="l">
                <a:lnSpc>
                  <a:spcPts val="3750"/>
                </a:lnSpc>
              </a:pPr>
              <a:r>
                <a:rPr lang="es-419" sz="3000" b="1" dirty="0">
                  <a:solidFill>
                    <a:schemeClr val="accent1"/>
                  </a:solidFill>
                  <a:latin typeface="+mn-lt"/>
                  <a:ea typeface="+mn-ea"/>
                  <a:cs typeface="+mn-cs"/>
                </a:rPr>
                <a:t>Cada modelo queda versionado y solo pasa</a:t>
              </a:r>
              <a:br>
                <a:rPr lang="es-419" sz="3000" b="1" dirty="0">
                  <a:solidFill>
                    <a:schemeClr val="accent1"/>
                  </a:solidFill>
                  <a:latin typeface="+mn-lt"/>
                  <a:ea typeface="+mn-ea"/>
                  <a:cs typeface="+mn-cs"/>
                </a:rPr>
              </a:br>
              <a:r>
                <a:rPr lang="es-419" sz="3000" b="1" dirty="0">
                  <a:solidFill>
                    <a:schemeClr val="accent1"/>
                  </a:solidFill>
                  <a:latin typeface="+mn-lt"/>
                  <a:ea typeface="+mn-ea"/>
                  <a:cs typeface="+mn-cs"/>
                </a:rPr>
                <a:t>a Production si aprueba el quality gate</a:t>
              </a:r>
            </a:p>
          </p:txBody>
        </p:sp>
        <p:sp>
          <p:nvSpPr>
            <p:cNvPr id="4" name="Line 4"/>
            <p:cNvSpPr/>
            <p:nvPr/>
          </p:nvSpPr>
          <p:spPr>
            <a:xfrm>
              <a:off x="609600" y="19621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21" name="runs-tuning"/>
          <p:cNvGrpSpPr/>
          <p:nvPr/>
        </p:nvGrpSpPr>
        <p:grpSpPr>
          <a:xfrm>
            <a:off x="603885" y="2184400"/>
            <a:ext cx="4958715" cy="3035300"/>
            <a:chOff x="603885" y="2184400"/>
            <a:chExt cx="4958715" cy="3035300"/>
          </a:xfrm>
        </p:grpSpPr>
        <p:sp>
          <p:nvSpPr>
            <p:cNvPr id="6" name="TextBox 6"/>
            <p:cNvSpPr txBox="1"/>
            <p:nvPr/>
          </p:nvSpPr>
          <p:spPr>
            <a:xfrm>
              <a:off x="603885" y="2184400"/>
              <a:ext cx="3525400" cy="220028"/>
            </a:xfrm>
            <a:prstGeom prst="rect">
              <a:avLst/>
            </a:prstGeom>
            <a:noFill/>
            <a:ln>
              <a:noFill/>
            </a:ln>
          </p:spPr>
          <p:txBody>
            <a:bodyPr wrap="none" lIns="0" tIns="0" rIns="0" bIns="0" anchor="t" anchorCtr="0">
              <a:spAutoFit/>
            </a:bodyPr>
            <a:lstStyle/>
            <a:p>
              <a:pPr algn="l"/>
              <a:r>
                <a:rPr lang="es-419" sz="1120" b="1" dirty="0">
                  <a:solidFill>
                    <a:schemeClr val="accent5"/>
                  </a:solidFill>
                  <a:latin typeface="+mn-lt"/>
                  <a:ea typeface="+mn-ea"/>
                  <a:cs typeface="+mn-cs"/>
                </a:rPr>
                <a:t>LÍNEA BASE Y DOS RUNS DE TUNING · CV F1</a:t>
              </a:r>
            </a:p>
          </p:txBody>
        </p:sp>
        <p:sp>
          <p:nvSpPr>
            <p:cNvPr id="7" name="Rectangle 7"/>
            <p:cNvSpPr/>
            <p:nvPr/>
          </p:nvSpPr>
          <p:spPr>
            <a:xfrm>
              <a:off x="609600" y="2476500"/>
              <a:ext cx="4953000" cy="838200"/>
            </a:xfrm>
            <a:prstGeom prst="rect">
              <a:avLst/>
            </a:prstGeom>
            <a:solidFill>
              <a:schemeClr val="lt2"/>
            </a:solidFill>
            <a:ln>
              <a:noFill/>
            </a:ln>
          </p:spPr>
        </p:sp>
        <p:sp>
          <p:nvSpPr>
            <p:cNvPr id="8" name="TextBox 8"/>
            <p:cNvSpPr txBox="1"/>
            <p:nvPr/>
          </p:nvSpPr>
          <p:spPr>
            <a:xfrm>
              <a:off x="831342" y="2654300"/>
              <a:ext cx="1824228" cy="264033"/>
            </a:xfrm>
            <a:prstGeom prst="rect">
              <a:avLst/>
            </a:prstGeom>
            <a:noFill/>
            <a:ln>
              <a:noFill/>
            </a:ln>
          </p:spPr>
          <p:txBody>
            <a:bodyPr wrap="none" lIns="0" tIns="0" rIns="0" bIns="0" anchor="t" anchorCtr="0">
              <a:spAutoFit/>
            </a:bodyPr>
            <a:lstStyle/>
            <a:p>
              <a:pPr algn="l"/>
              <a:r>
                <a:rPr lang="es-419" sz="1350" b="1" dirty="0">
                  <a:solidFill>
                    <a:schemeClr val="accent1"/>
                  </a:solidFill>
                  <a:latin typeface="Consolas"/>
                  <a:ea typeface="Consolas"/>
                  <a:cs typeface="Consolas"/>
                </a:rPr>
                <a:t>LogisticRegression</a:t>
              </a:r>
            </a:p>
          </p:txBody>
        </p:sp>
        <p:sp>
          <p:nvSpPr>
            <p:cNvPr id="9" name="TextBox 9"/>
            <p:cNvSpPr txBox="1"/>
            <p:nvPr/>
          </p:nvSpPr>
          <p:spPr>
            <a:xfrm>
              <a:off x="832104" y="2933700"/>
              <a:ext cx="2744565" cy="234696"/>
            </a:xfrm>
            <a:prstGeom prst="rect">
              <a:avLst/>
            </a:prstGeom>
            <a:noFill/>
            <a:ln>
              <a:noFill/>
            </a:ln>
          </p:spPr>
          <p:txBody>
            <a:bodyPr wrap="none" lIns="0" tIns="0" rIns="0" bIns="0" anchor="t" anchorCtr="0">
              <a:spAutoFit/>
            </a:bodyPr>
            <a:lstStyle/>
            <a:p>
              <a:pPr algn="l"/>
              <a:r>
                <a:rPr lang="es-419" sz="1200" dirty="0">
                  <a:solidFill>
                    <a:schemeClr val="accent5"/>
                  </a:solidFill>
                  <a:latin typeface="+mn-lt"/>
                  <a:ea typeface="+mn-ea"/>
                  <a:cs typeface="+mn-cs"/>
                </a:rPr>
                <a:t>Línea base de la Unidad 2 · sin tuning</a:t>
              </a:r>
            </a:p>
          </p:txBody>
        </p:sp>
        <p:sp>
          <p:nvSpPr>
            <p:cNvPr id="10" name="TextBox 10"/>
            <p:cNvSpPr txBox="1"/>
            <p:nvPr/>
          </p:nvSpPr>
          <p:spPr>
            <a:xfrm>
              <a:off x="4615842" y="2755900"/>
              <a:ext cx="728826" cy="410718"/>
            </a:xfrm>
            <a:prstGeom prst="rect">
              <a:avLst/>
            </a:prstGeom>
            <a:noFill/>
            <a:ln>
              <a:noFill/>
            </a:ln>
          </p:spPr>
          <p:txBody>
            <a:bodyPr wrap="none" lIns="0" tIns="0" rIns="0" bIns="0" anchor="t" anchorCtr="0">
              <a:spAutoFit/>
            </a:bodyPr>
            <a:lstStyle/>
            <a:p>
              <a:pPr algn="r"/>
              <a:r>
                <a:rPr lang="es-419" sz="2100" b="1" dirty="0">
                  <a:solidFill>
                    <a:schemeClr val="accent1"/>
                  </a:solidFill>
                  <a:latin typeface="+mn-lt"/>
                  <a:ea typeface="+mn-ea"/>
                  <a:cs typeface="+mn-cs"/>
                </a:rPr>
                <a:t>0,096</a:t>
              </a:r>
            </a:p>
          </p:txBody>
        </p:sp>
        <p:sp>
          <p:nvSpPr>
            <p:cNvPr id="11" name="Rectangle 11"/>
            <p:cNvSpPr/>
            <p:nvPr/>
          </p:nvSpPr>
          <p:spPr>
            <a:xfrm>
              <a:off x="609600" y="3429000"/>
              <a:ext cx="4953000" cy="838200"/>
            </a:xfrm>
            <a:prstGeom prst="rect">
              <a:avLst/>
            </a:prstGeom>
            <a:solidFill>
              <a:schemeClr val="lt2"/>
            </a:solidFill>
            <a:ln>
              <a:noFill/>
            </a:ln>
          </p:spPr>
        </p:sp>
        <p:sp>
          <p:nvSpPr>
            <p:cNvPr id="12" name="TextBox 12"/>
            <p:cNvSpPr txBox="1"/>
            <p:nvPr/>
          </p:nvSpPr>
          <p:spPr>
            <a:xfrm>
              <a:off x="831342" y="3606800"/>
              <a:ext cx="1235812" cy="264033"/>
            </a:xfrm>
            <a:prstGeom prst="rect">
              <a:avLst/>
            </a:prstGeom>
            <a:noFill/>
            <a:ln>
              <a:noFill/>
            </a:ln>
          </p:spPr>
          <p:txBody>
            <a:bodyPr wrap="none" lIns="0" tIns="0" rIns="0" bIns="0" anchor="t" anchorCtr="0">
              <a:spAutoFit/>
            </a:bodyPr>
            <a:lstStyle/>
            <a:p>
              <a:pPr algn="l"/>
              <a:r>
                <a:rPr lang="es-419" sz="1350" b="1" dirty="0">
                  <a:solidFill>
                    <a:schemeClr val="accent1"/>
                  </a:solidFill>
                  <a:latin typeface="Consolas"/>
                  <a:ea typeface="Consolas"/>
                  <a:cs typeface="Consolas"/>
                </a:rPr>
                <a:t>GridSearchCV</a:t>
              </a:r>
            </a:p>
          </p:txBody>
        </p:sp>
        <p:sp>
          <p:nvSpPr>
            <p:cNvPr id="13" name="TextBox 13"/>
            <p:cNvSpPr txBox="1"/>
            <p:nvPr/>
          </p:nvSpPr>
          <p:spPr>
            <a:xfrm>
              <a:off x="832104" y="3886200"/>
              <a:ext cx="3243492" cy="234696"/>
            </a:xfrm>
            <a:prstGeom prst="rect">
              <a:avLst/>
            </a:prstGeom>
            <a:noFill/>
            <a:ln>
              <a:noFill/>
            </a:ln>
          </p:spPr>
          <p:txBody>
            <a:bodyPr wrap="none" lIns="0" tIns="0" rIns="0" bIns="0" anchor="t" anchorCtr="0">
              <a:spAutoFit/>
            </a:bodyPr>
            <a:lstStyle/>
            <a:p>
              <a:pPr algn="l"/>
              <a:r>
                <a:rPr lang="es-419" sz="1200" dirty="0">
                  <a:solidFill>
                    <a:schemeClr val="accent5"/>
                  </a:solidFill>
                  <a:latin typeface="+mn-lt"/>
                  <a:ea typeface="+mn-ea"/>
                  <a:cs typeface="+mn-cs"/>
                </a:rPr>
                <a:t>Random Forest · 18 combinaciones × 5 folds</a:t>
              </a:r>
            </a:p>
          </p:txBody>
        </p:sp>
        <p:sp>
          <p:nvSpPr>
            <p:cNvPr id="14" name="TextBox 14"/>
            <p:cNvSpPr txBox="1"/>
            <p:nvPr/>
          </p:nvSpPr>
          <p:spPr>
            <a:xfrm>
              <a:off x="4615842" y="3708400"/>
              <a:ext cx="728826" cy="410718"/>
            </a:xfrm>
            <a:prstGeom prst="rect">
              <a:avLst/>
            </a:prstGeom>
            <a:noFill/>
            <a:ln>
              <a:noFill/>
            </a:ln>
          </p:spPr>
          <p:txBody>
            <a:bodyPr wrap="none" lIns="0" tIns="0" rIns="0" bIns="0" anchor="t" anchorCtr="0">
              <a:spAutoFit/>
            </a:bodyPr>
            <a:lstStyle/>
            <a:p>
              <a:pPr algn="r"/>
              <a:r>
                <a:rPr lang="es-419" sz="2100" b="1" dirty="0">
                  <a:solidFill>
                    <a:schemeClr val="accent1"/>
                  </a:solidFill>
                  <a:latin typeface="+mn-lt"/>
                  <a:ea typeface="+mn-ea"/>
                  <a:cs typeface="+mn-cs"/>
                </a:rPr>
                <a:t>0,092</a:t>
              </a:r>
            </a:p>
          </p:txBody>
        </p:sp>
        <p:sp>
          <p:nvSpPr>
            <p:cNvPr id="15" name="Rectangle 15"/>
            <p:cNvSpPr/>
            <p:nvPr/>
          </p:nvSpPr>
          <p:spPr>
            <a:xfrm>
              <a:off x="609600" y="4381500"/>
              <a:ext cx="4953000" cy="838200"/>
            </a:xfrm>
            <a:prstGeom prst="rect">
              <a:avLst/>
            </a:prstGeom>
            <a:solidFill>
              <a:schemeClr val="lt2"/>
            </a:solidFill>
            <a:ln>
              <a:noFill/>
            </a:ln>
          </p:spPr>
        </p:sp>
        <p:sp>
          <p:nvSpPr>
            <p:cNvPr id="16" name="Rectangle 16"/>
            <p:cNvSpPr/>
            <p:nvPr/>
          </p:nvSpPr>
          <p:spPr>
            <a:xfrm>
              <a:off x="609600" y="4381500"/>
              <a:ext cx="57150" cy="838200"/>
            </a:xfrm>
            <a:prstGeom prst="rect">
              <a:avLst/>
            </a:prstGeom>
            <a:solidFill>
              <a:schemeClr val="accent3"/>
            </a:solidFill>
            <a:ln>
              <a:noFill/>
            </a:ln>
          </p:spPr>
        </p:sp>
        <p:sp>
          <p:nvSpPr>
            <p:cNvPr id="17" name="TextBox 17"/>
            <p:cNvSpPr txBox="1"/>
            <p:nvPr/>
          </p:nvSpPr>
          <p:spPr>
            <a:xfrm>
              <a:off x="831342" y="4559300"/>
              <a:ext cx="1835544" cy="264033"/>
            </a:xfrm>
            <a:prstGeom prst="rect">
              <a:avLst/>
            </a:prstGeom>
            <a:noFill/>
            <a:ln>
              <a:noFill/>
            </a:ln>
          </p:spPr>
          <p:txBody>
            <a:bodyPr wrap="none" lIns="0" tIns="0" rIns="0" bIns="0" anchor="t" anchorCtr="0">
              <a:spAutoFit/>
            </a:bodyPr>
            <a:lstStyle/>
            <a:p>
              <a:pPr algn="l"/>
              <a:r>
                <a:rPr lang="es-419" sz="1350" b="1" dirty="0">
                  <a:solidFill>
                    <a:schemeClr val="accent1"/>
                  </a:solidFill>
                  <a:latin typeface="Consolas"/>
                  <a:ea typeface="Consolas"/>
                  <a:cs typeface="Consolas"/>
                </a:rPr>
                <a:t>RandomizedSearchCV</a:t>
              </a:r>
            </a:p>
          </p:txBody>
        </p:sp>
        <p:sp>
          <p:nvSpPr>
            <p:cNvPr id="18" name="TextBox 18"/>
            <p:cNvSpPr txBox="1"/>
            <p:nvPr/>
          </p:nvSpPr>
          <p:spPr>
            <a:xfrm>
              <a:off x="832104" y="4838700"/>
              <a:ext cx="3092601" cy="234696"/>
            </a:xfrm>
            <a:prstGeom prst="rect">
              <a:avLst/>
            </a:prstGeom>
            <a:noFill/>
            <a:ln>
              <a:noFill/>
            </a:ln>
          </p:spPr>
          <p:txBody>
            <a:bodyPr wrap="none" lIns="0" tIns="0" rIns="0" bIns="0" anchor="t" anchorCtr="0">
              <a:spAutoFit/>
            </a:bodyPr>
            <a:lstStyle/>
            <a:p>
              <a:pPr algn="l"/>
              <a:r>
                <a:rPr lang="es-419" sz="1200" dirty="0">
                  <a:solidFill>
                    <a:schemeClr val="accent5"/>
                  </a:solidFill>
                  <a:latin typeface="+mn-lt"/>
                  <a:ea typeface="+mn-ea"/>
                  <a:cs typeface="+mn-cs"/>
                </a:rPr>
                <a:t>Random Forest · 20 comb. · en Production</a:t>
              </a:r>
            </a:p>
          </p:txBody>
        </p:sp>
        <p:sp>
          <p:nvSpPr>
            <p:cNvPr id="19" name="Freeform 19"/>
            <p:cNvSpPr/>
            <p:nvPr/>
          </p:nvSpPr>
          <p:spPr>
            <a:xfrm>
              <a:off x="4158295" y="4732843"/>
              <a:ext cx="190951" cy="135515"/>
            </a:xfrm>
            <a:custGeom>
              <a:avLst/>
              <a:gdLst/>
              <a:ahLst/>
              <a:cxnLst/>
              <a:rect l="l" t="t" r="r" b="b"/>
              <a:pathLst>
                <a:path w="190951" h="135515">
                  <a:moveTo>
                    <a:pt x="186612" y="4338"/>
                  </a:moveTo>
                  <a:cubicBezTo>
                    <a:pt x="190951" y="8678"/>
                    <a:pt x="190951" y="15712"/>
                    <a:pt x="186612" y="20051"/>
                  </a:cubicBezTo>
                  <a:lnTo>
                    <a:pt x="75487" y="131177"/>
                  </a:lnTo>
                  <a:cubicBezTo>
                    <a:pt x="71148" y="135515"/>
                    <a:pt x="64113" y="135515"/>
                    <a:pt x="59774" y="131177"/>
                  </a:cubicBezTo>
                  <a:lnTo>
                    <a:pt x="4211" y="75614"/>
                  </a:lnTo>
                  <a:cubicBezTo>
                    <a:pt x="0" y="71254"/>
                    <a:pt x="60" y="64323"/>
                    <a:pt x="4347" y="60036"/>
                  </a:cubicBezTo>
                  <a:cubicBezTo>
                    <a:pt x="8633" y="55750"/>
                    <a:pt x="15564" y="55689"/>
                    <a:pt x="19924" y="59901"/>
                  </a:cubicBezTo>
                  <a:lnTo>
                    <a:pt x="67631" y="107607"/>
                  </a:lnTo>
                  <a:lnTo>
                    <a:pt x="170899" y="4338"/>
                  </a:lnTo>
                  <a:cubicBezTo>
                    <a:pt x="175239" y="0"/>
                    <a:pt x="182273" y="0"/>
                    <a:pt x="186612" y="4338"/>
                  </a:cubicBezTo>
                </a:path>
              </a:pathLst>
            </a:custGeom>
            <a:solidFill>
              <a:schemeClr val="accent3"/>
            </a:solidFill>
            <a:ln>
              <a:noFill/>
            </a:ln>
          </p:spPr>
        </p:sp>
        <p:sp>
          <p:nvSpPr>
            <p:cNvPr id="20" name="TextBox 20"/>
            <p:cNvSpPr txBox="1"/>
            <p:nvPr/>
          </p:nvSpPr>
          <p:spPr>
            <a:xfrm>
              <a:off x="4615842" y="4660900"/>
              <a:ext cx="728826" cy="410718"/>
            </a:xfrm>
            <a:prstGeom prst="rect">
              <a:avLst/>
            </a:prstGeom>
            <a:noFill/>
            <a:ln>
              <a:noFill/>
            </a:ln>
          </p:spPr>
          <p:txBody>
            <a:bodyPr wrap="none" lIns="0" tIns="0" rIns="0" bIns="0" anchor="t" anchorCtr="0">
              <a:spAutoFit/>
            </a:bodyPr>
            <a:lstStyle/>
            <a:p>
              <a:pPr algn="r"/>
              <a:r>
                <a:rPr lang="es-419" sz="2100" b="1" dirty="0">
                  <a:solidFill>
                    <a:schemeClr val="accent1"/>
                  </a:solidFill>
                  <a:latin typeface="+mn-lt"/>
                  <a:ea typeface="+mn-ea"/>
                  <a:cs typeface="+mn-cs"/>
                </a:rPr>
                <a:t>0,096</a:t>
              </a:r>
            </a:p>
          </p:txBody>
        </p:sp>
      </p:grpSp>
      <p:grpSp>
        <p:nvGrpSpPr>
          <p:cNvPr id="39" name="ciclo-registry"/>
          <p:cNvGrpSpPr/>
          <p:nvPr/>
        </p:nvGrpSpPr>
        <p:grpSpPr>
          <a:xfrm>
            <a:off x="6318504" y="2184400"/>
            <a:ext cx="5263896" cy="2488946"/>
            <a:chOff x="6318504" y="2184400"/>
            <a:chExt cx="5263896" cy="2488946"/>
          </a:xfrm>
        </p:grpSpPr>
        <p:sp>
          <p:nvSpPr>
            <p:cNvPr id="22" name="TextBox 22"/>
            <p:cNvSpPr txBox="1"/>
            <p:nvPr/>
          </p:nvSpPr>
          <p:spPr>
            <a:xfrm>
              <a:off x="6318885" y="2184400"/>
              <a:ext cx="2893816" cy="220028"/>
            </a:xfrm>
            <a:prstGeom prst="rect">
              <a:avLst/>
            </a:prstGeom>
            <a:noFill/>
            <a:ln>
              <a:noFill/>
            </a:ln>
          </p:spPr>
          <p:txBody>
            <a:bodyPr wrap="none" lIns="0" tIns="0" rIns="0" bIns="0" anchor="t" anchorCtr="0">
              <a:spAutoFit/>
            </a:bodyPr>
            <a:lstStyle/>
            <a:p>
              <a:pPr algn="l"/>
              <a:r>
                <a:rPr lang="es-419" sz="1120" b="1" dirty="0">
                  <a:solidFill>
                    <a:schemeClr val="accent5"/>
                  </a:solidFill>
                  <a:latin typeface="+mn-lt"/>
                  <a:ea typeface="+mn-ea"/>
                  <a:cs typeface="+mn-cs"/>
                </a:rPr>
                <a:t>MODEL REGISTRY · InfartosRiskModel</a:t>
              </a:r>
            </a:p>
          </p:txBody>
        </p:sp>
        <p:sp>
          <p:nvSpPr>
            <p:cNvPr id="23" name="Rectangle 23"/>
            <p:cNvSpPr/>
            <p:nvPr/>
          </p:nvSpPr>
          <p:spPr>
            <a:xfrm>
              <a:off x="6324600" y="2857500"/>
              <a:ext cx="1143000" cy="571500"/>
            </a:xfrm>
            <a:prstGeom prst="rect">
              <a:avLst/>
            </a:prstGeom>
            <a:solidFill>
              <a:schemeClr val="lt2"/>
            </a:solidFill>
            <a:ln>
              <a:noFill/>
            </a:ln>
          </p:spPr>
        </p:sp>
        <p:sp>
          <p:nvSpPr>
            <p:cNvPr id="24" name="TextBox 24"/>
            <p:cNvSpPr txBox="1"/>
            <p:nvPr/>
          </p:nvSpPr>
          <p:spPr>
            <a:xfrm>
              <a:off x="6465728" y="3048000"/>
              <a:ext cx="860745" cy="234696"/>
            </a:xfrm>
            <a:prstGeom prst="rect">
              <a:avLst/>
            </a:prstGeom>
            <a:noFill/>
            <a:ln>
              <a:noFill/>
            </a:ln>
          </p:spPr>
          <p:txBody>
            <a:bodyPr wrap="none" lIns="0" tIns="0" rIns="0" bIns="0" anchor="t" anchorCtr="0">
              <a:spAutoFit/>
            </a:bodyPr>
            <a:lstStyle/>
            <a:p>
              <a:pPr algn="ctr"/>
              <a:r>
                <a:rPr lang="es-419" sz="1200" b="1" dirty="0">
                  <a:solidFill>
                    <a:schemeClr val="accent1"/>
                  </a:solidFill>
                  <a:latin typeface="+mn-lt"/>
                  <a:ea typeface="+mn-ea"/>
                  <a:cs typeface="+mn-cs"/>
                </a:rPr>
                <a:t>Registrado</a:t>
              </a:r>
            </a:p>
          </p:txBody>
        </p:sp>
        <p:sp>
          <p:nvSpPr>
            <p:cNvPr id="25" name="Line 25"/>
            <p:cNvSpPr/>
            <p:nvPr/>
          </p:nvSpPr>
          <p:spPr>
            <a:xfrm>
              <a:off x="7467600" y="3143250"/>
              <a:ext cx="209550" cy="1"/>
            </a:xfrm>
            <a:prstGeom prst="line">
              <a:avLst/>
            </a:prstGeom>
            <a:noFill/>
            <a:ln w="19050">
              <a:solidFill>
                <a:srgbClr val="5B6470"/>
              </a:solidFill>
              <a:tailEnd type="triangle" w="lg" len="lg"/>
            </a:ln>
          </p:spPr>
        </p:sp>
        <p:sp>
          <p:nvSpPr>
            <p:cNvPr id="26" name="Rectangle 26"/>
            <p:cNvSpPr/>
            <p:nvPr/>
          </p:nvSpPr>
          <p:spPr>
            <a:xfrm>
              <a:off x="7696200" y="2857500"/>
              <a:ext cx="1143000" cy="571500"/>
            </a:xfrm>
            <a:prstGeom prst="rect">
              <a:avLst/>
            </a:prstGeom>
            <a:solidFill>
              <a:schemeClr val="lt2"/>
            </a:solidFill>
            <a:ln>
              <a:noFill/>
            </a:ln>
          </p:spPr>
        </p:sp>
        <p:sp>
          <p:nvSpPr>
            <p:cNvPr id="27" name="TextBox 27"/>
            <p:cNvSpPr txBox="1"/>
            <p:nvPr/>
          </p:nvSpPr>
          <p:spPr>
            <a:xfrm>
              <a:off x="7963067" y="3048000"/>
              <a:ext cx="609266" cy="234696"/>
            </a:xfrm>
            <a:prstGeom prst="rect">
              <a:avLst/>
            </a:prstGeom>
            <a:noFill/>
            <a:ln>
              <a:noFill/>
            </a:ln>
          </p:spPr>
          <p:txBody>
            <a:bodyPr wrap="none" lIns="0" tIns="0" rIns="0" bIns="0" anchor="t" anchorCtr="0">
              <a:spAutoFit/>
            </a:bodyPr>
            <a:lstStyle/>
            <a:p>
              <a:pPr algn="ctr"/>
              <a:r>
                <a:rPr lang="es-419" sz="1200" b="1" dirty="0">
                  <a:solidFill>
                    <a:schemeClr val="accent1"/>
                  </a:solidFill>
                  <a:latin typeface="+mn-lt"/>
                  <a:ea typeface="+mn-ea"/>
                  <a:cs typeface="+mn-cs"/>
                </a:rPr>
                <a:t>Staging</a:t>
              </a:r>
            </a:p>
          </p:txBody>
        </p:sp>
        <p:sp>
          <p:nvSpPr>
            <p:cNvPr id="28" name="Line 28"/>
            <p:cNvSpPr/>
            <p:nvPr/>
          </p:nvSpPr>
          <p:spPr>
            <a:xfrm>
              <a:off x="8839200" y="3143250"/>
              <a:ext cx="209550" cy="1"/>
            </a:xfrm>
            <a:prstGeom prst="line">
              <a:avLst/>
            </a:prstGeom>
            <a:noFill/>
            <a:ln w="19050">
              <a:solidFill>
                <a:srgbClr val="5B6470"/>
              </a:solidFill>
              <a:tailEnd type="triangle" w="lg" len="lg"/>
            </a:ln>
          </p:spPr>
        </p:sp>
        <p:sp>
          <p:nvSpPr>
            <p:cNvPr id="29" name="Freeform 29"/>
            <p:cNvSpPr/>
            <p:nvPr/>
          </p:nvSpPr>
          <p:spPr>
            <a:xfrm>
              <a:off x="9067800" y="2800350"/>
              <a:ext cx="952500" cy="685800"/>
            </a:xfrm>
            <a:prstGeom prst="flowChartDecision">
              <a:avLst/>
            </a:prstGeom>
            <a:solidFill>
              <a:schemeClr val="accent2"/>
            </a:solidFill>
            <a:ln>
              <a:noFill/>
            </a:ln>
          </p:spPr>
        </p:sp>
        <p:sp>
          <p:nvSpPr>
            <p:cNvPr id="30" name="TextBox 30"/>
            <p:cNvSpPr txBox="1"/>
            <p:nvPr/>
          </p:nvSpPr>
          <p:spPr>
            <a:xfrm>
              <a:off x="9371871" y="3048000"/>
              <a:ext cx="344359" cy="234696"/>
            </a:xfrm>
            <a:prstGeom prst="rect">
              <a:avLst/>
            </a:prstGeom>
            <a:noFill/>
            <a:ln>
              <a:noFill/>
            </a:ln>
          </p:spPr>
          <p:txBody>
            <a:bodyPr wrap="none" lIns="0" tIns="0" rIns="0" bIns="0" anchor="t" anchorCtr="0">
              <a:spAutoFit/>
            </a:bodyPr>
            <a:lstStyle/>
            <a:p>
              <a:pPr algn="ctr"/>
              <a:r>
                <a:rPr lang="es-419" sz="1200" b="1" dirty="0">
                  <a:solidFill>
                    <a:srgbClr val="FFFFFF"/>
                  </a:solidFill>
                  <a:latin typeface="+mn-lt"/>
                  <a:ea typeface="+mn-ea"/>
                  <a:cs typeface="+mn-cs"/>
                </a:rPr>
                <a:t>gate</a:t>
              </a:r>
            </a:p>
          </p:txBody>
        </p:sp>
        <p:sp>
          <p:nvSpPr>
            <p:cNvPr id="31" name="Line 31"/>
            <p:cNvSpPr/>
            <p:nvPr/>
          </p:nvSpPr>
          <p:spPr>
            <a:xfrm>
              <a:off x="10020300" y="3143250"/>
              <a:ext cx="209550" cy="1"/>
            </a:xfrm>
            <a:prstGeom prst="line">
              <a:avLst/>
            </a:prstGeom>
            <a:noFill/>
            <a:ln w="19050">
              <a:solidFill>
                <a:srgbClr val="5B6470"/>
              </a:solidFill>
              <a:tailEnd type="triangle" w="lg" len="lg"/>
            </a:ln>
          </p:spPr>
        </p:sp>
        <p:sp>
          <p:nvSpPr>
            <p:cNvPr id="32" name="Rectangle 32"/>
            <p:cNvSpPr/>
            <p:nvPr/>
          </p:nvSpPr>
          <p:spPr>
            <a:xfrm>
              <a:off x="10248900" y="2857500"/>
              <a:ext cx="1333500" cy="571500"/>
            </a:xfrm>
            <a:prstGeom prst="rect">
              <a:avLst/>
            </a:prstGeom>
            <a:solidFill>
              <a:schemeClr val="accent1"/>
            </a:solidFill>
            <a:ln>
              <a:noFill/>
            </a:ln>
          </p:spPr>
        </p:sp>
        <p:sp>
          <p:nvSpPr>
            <p:cNvPr id="33" name="TextBox 33"/>
            <p:cNvSpPr txBox="1"/>
            <p:nvPr/>
          </p:nvSpPr>
          <p:spPr>
            <a:xfrm>
              <a:off x="10480891" y="3048000"/>
              <a:ext cx="869517" cy="234696"/>
            </a:xfrm>
            <a:prstGeom prst="rect">
              <a:avLst/>
            </a:prstGeom>
            <a:noFill/>
            <a:ln>
              <a:noFill/>
            </a:ln>
          </p:spPr>
          <p:txBody>
            <a:bodyPr wrap="none" lIns="0" tIns="0" rIns="0" bIns="0" anchor="t" anchorCtr="0">
              <a:spAutoFit/>
            </a:bodyPr>
            <a:lstStyle/>
            <a:p>
              <a:pPr algn="ctr"/>
              <a:r>
                <a:rPr lang="es-419" sz="1200" b="1" dirty="0">
                  <a:solidFill>
                    <a:srgbClr val="FFFFFF"/>
                  </a:solidFill>
                  <a:latin typeface="+mn-lt"/>
                  <a:ea typeface="+mn-ea"/>
                  <a:cs typeface="+mn-cs"/>
                </a:rPr>
                <a:t>Production</a:t>
              </a:r>
            </a:p>
          </p:txBody>
        </p:sp>
        <p:grpSp>
          <p:nvGrpSpPr>
            <p:cNvPr id="38" name="Group 38"/>
            <p:cNvGrpSpPr/>
            <p:nvPr/>
          </p:nvGrpSpPr>
          <p:grpSpPr>
            <a:xfrm>
              <a:off x="6318504" y="3695700"/>
              <a:ext cx="4013303" cy="977646"/>
              <a:chOff x="6318504" y="3695700"/>
              <a:chExt cx="4013303" cy="977646"/>
            </a:xfrm>
          </p:grpSpPr>
          <p:sp>
            <p:nvSpPr>
              <p:cNvPr id="34" name="TextBox 34"/>
              <p:cNvSpPr txBox="1"/>
              <p:nvPr/>
            </p:nvSpPr>
            <p:spPr>
              <a:xfrm>
                <a:off x="6318504" y="3695700"/>
                <a:ext cx="4013303" cy="234696"/>
              </a:xfrm>
              <a:prstGeom prst="rect">
                <a:avLst/>
              </a:prstGeom>
              <a:noFill/>
              <a:ln>
                <a:noFill/>
              </a:ln>
            </p:spPr>
            <p:txBody>
              <a:bodyPr wrap="none" lIns="0" tIns="0" rIns="0" bIns="0" anchor="t" anchorCtr="0">
                <a:spAutoFit/>
              </a:bodyPr>
              <a:lstStyle/>
              <a:p>
                <a:pPr algn="l"/>
                <a:r>
                  <a:rPr lang="es-419" sz="1200" dirty="0">
                    <a:solidFill>
                      <a:schemeClr val="accent5"/>
                    </a:solidFill>
                    <a:latin typeface="+mn-lt"/>
                    <a:ea typeface="+mn-ea"/>
                    <a:cs typeface="+mn-cs"/>
                  </a:rPr>
                  <a:t>1. random_forest/run.py registra el mejor run → Staging</a:t>
                </a:r>
              </a:p>
            </p:txBody>
          </p:sp>
          <p:sp>
            <p:nvSpPr>
              <p:cNvPr id="35" name="TextBox 35"/>
              <p:cNvSpPr txBox="1"/>
              <p:nvPr/>
            </p:nvSpPr>
            <p:spPr>
              <a:xfrm>
                <a:off x="6318504" y="3943350"/>
                <a:ext cx="3322372" cy="234696"/>
              </a:xfrm>
              <a:prstGeom prst="rect">
                <a:avLst/>
              </a:prstGeom>
              <a:noFill/>
              <a:ln>
                <a:noFill/>
              </a:ln>
            </p:spPr>
            <p:txBody>
              <a:bodyPr wrap="none" lIns="0" tIns="0" rIns="0" bIns="0" anchor="t" anchorCtr="0">
                <a:spAutoFit/>
              </a:bodyPr>
              <a:lstStyle/>
              <a:p>
                <a:pPr algn="l"/>
                <a:r>
                  <a:rPr lang="es-419" sz="1200" dirty="0">
                    <a:solidFill>
                      <a:schemeClr val="accent5"/>
                    </a:solidFill>
                    <a:latin typeface="+mn-lt"/>
                    <a:ea typeface="+mn-ea"/>
                    <a:cs typeface="+mn-cs"/>
                  </a:rPr>
                  <a:t>2. evaluate/run.py aplica el gate → Production</a:t>
                </a:r>
              </a:p>
            </p:txBody>
          </p:sp>
          <p:sp>
            <p:nvSpPr>
              <p:cNvPr id="36" name="TextBox 36"/>
              <p:cNvSpPr txBox="1"/>
              <p:nvPr/>
            </p:nvSpPr>
            <p:spPr>
              <a:xfrm>
                <a:off x="6318504" y="4191000"/>
                <a:ext cx="3303413" cy="234696"/>
              </a:xfrm>
              <a:prstGeom prst="rect">
                <a:avLst/>
              </a:prstGeom>
              <a:noFill/>
              <a:ln>
                <a:noFill/>
              </a:ln>
            </p:spPr>
            <p:txBody>
              <a:bodyPr wrap="none" lIns="0" tIns="0" rIns="0" bIns="0" anchor="t" anchorCtr="0">
                <a:spAutoFit/>
              </a:bodyPr>
              <a:lstStyle/>
              <a:p>
                <a:pPr algn="l"/>
                <a:r>
                  <a:rPr lang="es-419" sz="1200" dirty="0">
                    <a:solidFill>
                      <a:schemeClr val="accent5"/>
                    </a:solidFill>
                    <a:latin typeface="+mn-lt"/>
                    <a:ea typeface="+mn-ea"/>
                    <a:cs typeface="+mn-cs"/>
                  </a:rPr>
                  <a:t>3. Si falla, la versión anterior sigue en servicio</a:t>
                </a:r>
              </a:p>
            </p:txBody>
          </p:sp>
          <p:sp>
            <p:nvSpPr>
              <p:cNvPr id="37" name="TextBox 37"/>
              <p:cNvSpPr txBox="1"/>
              <p:nvPr/>
            </p:nvSpPr>
            <p:spPr>
              <a:xfrm>
                <a:off x="6318504" y="4438650"/>
                <a:ext cx="3768429" cy="234696"/>
              </a:xfrm>
              <a:prstGeom prst="rect">
                <a:avLst/>
              </a:prstGeom>
              <a:noFill/>
              <a:ln>
                <a:noFill/>
              </a:ln>
            </p:spPr>
            <p:txBody>
              <a:bodyPr wrap="none" lIns="0" tIns="0" rIns="0" bIns="0" anchor="t" anchorCtr="0">
                <a:spAutoFit/>
              </a:bodyPr>
              <a:lstStyle/>
              <a:p>
                <a:pPr algn="l"/>
                <a:r>
                  <a:rPr lang="es-419" sz="1200" dirty="0">
                    <a:solidFill>
                      <a:schemeClr val="accent5"/>
                    </a:solidFill>
                    <a:latin typeface="+mn-lt"/>
                    <a:ea typeface="+mn-ea"/>
                    <a:cs typeface="+mn-cs"/>
                  </a:rPr>
                  <a:t>Tags de trazabilidad: método, balanceo, AUC, recall</a:t>
                </a:r>
              </a:p>
            </p:txBody>
          </p:sp>
        </p:grpSp>
      </p:grpSp>
      <p:grpSp>
        <p:nvGrpSpPr>
          <p:cNvPr id="47" name="dvc"/>
          <p:cNvGrpSpPr/>
          <p:nvPr/>
        </p:nvGrpSpPr>
        <p:grpSpPr>
          <a:xfrm>
            <a:off x="609600" y="5334000"/>
            <a:ext cx="10972800" cy="762000"/>
            <a:chOff x="609600" y="5334000"/>
            <a:chExt cx="10972800" cy="762000"/>
          </a:xfrm>
        </p:grpSpPr>
        <p:sp>
          <p:nvSpPr>
            <p:cNvPr id="40" name="Rectangle 40"/>
            <p:cNvSpPr/>
            <p:nvPr/>
          </p:nvSpPr>
          <p:spPr>
            <a:xfrm>
              <a:off x="609600" y="5334000"/>
              <a:ext cx="10972800" cy="762000"/>
            </a:xfrm>
            <a:prstGeom prst="rect">
              <a:avLst/>
            </a:prstGeom>
            <a:solidFill>
              <a:schemeClr val="lt2"/>
            </a:solidFill>
            <a:ln>
              <a:noFill/>
            </a:ln>
          </p:spPr>
        </p:sp>
        <p:grpSp>
          <p:nvGrpSpPr>
            <p:cNvPr id="44" name="Group 44"/>
            <p:cNvGrpSpPr/>
            <p:nvPr/>
          </p:nvGrpSpPr>
          <p:grpSpPr>
            <a:xfrm>
              <a:off x="876299" y="5588000"/>
              <a:ext cx="228600" cy="253999"/>
              <a:chOff x="876299" y="5588000"/>
              <a:chExt cx="228600" cy="253999"/>
            </a:xfrm>
          </p:grpSpPr>
          <p:sp>
            <p:nvSpPr>
              <p:cNvPr id="41" name="Freeform 41"/>
              <p:cNvSpPr/>
              <p:nvPr/>
            </p:nvSpPr>
            <p:spPr>
              <a:xfrm>
                <a:off x="876300" y="5762383"/>
                <a:ext cx="228599" cy="79616"/>
              </a:xfrm>
              <a:custGeom>
                <a:avLst/>
                <a:gdLst/>
                <a:ahLst/>
                <a:cxnLst/>
                <a:rect l="l" t="t" r="r" b="b"/>
                <a:pathLst>
                  <a:path w="228599" h="79616">
                    <a:moveTo>
                      <a:pt x="0" y="0"/>
                    </a:moveTo>
                    <a:cubicBezTo>
                      <a:pt x="24994" y="19139"/>
                      <a:pt x="66472" y="28816"/>
                      <a:pt x="114300" y="28816"/>
                    </a:cubicBezTo>
                    <a:cubicBezTo>
                      <a:pt x="162052" y="28816"/>
                      <a:pt x="203517" y="19164"/>
                      <a:pt x="228599" y="216"/>
                    </a:cubicBezTo>
                    <a:lnTo>
                      <a:pt x="228599" y="28816"/>
                    </a:lnTo>
                    <a:cubicBezTo>
                      <a:pt x="228599" y="59614"/>
                      <a:pt x="179133" y="78803"/>
                      <a:pt x="118199" y="79591"/>
                    </a:cubicBezTo>
                    <a:lnTo>
                      <a:pt x="114300" y="79616"/>
                    </a:lnTo>
                    <a:cubicBezTo>
                      <a:pt x="51587" y="79616"/>
                      <a:pt x="0" y="60274"/>
                      <a:pt x="0" y="28816"/>
                    </a:cubicBezTo>
                    <a:close/>
                  </a:path>
                </a:pathLst>
              </a:custGeom>
              <a:solidFill>
                <a:schemeClr val="accent1"/>
              </a:solidFill>
              <a:ln>
                <a:noFill/>
              </a:ln>
            </p:spPr>
          </p:sp>
          <p:sp>
            <p:nvSpPr>
              <p:cNvPr id="42" name="Freeform 42"/>
              <p:cNvSpPr/>
              <p:nvPr/>
            </p:nvSpPr>
            <p:spPr>
              <a:xfrm>
                <a:off x="876300" y="5686183"/>
                <a:ext cx="228599" cy="79616"/>
              </a:xfrm>
              <a:custGeom>
                <a:avLst/>
                <a:gdLst/>
                <a:ahLst/>
                <a:cxnLst/>
                <a:rect l="l" t="t" r="r" b="b"/>
                <a:pathLst>
                  <a:path w="228599" h="79616">
                    <a:moveTo>
                      <a:pt x="0" y="0"/>
                    </a:moveTo>
                    <a:cubicBezTo>
                      <a:pt x="24994" y="19139"/>
                      <a:pt x="66472" y="28816"/>
                      <a:pt x="114300" y="28816"/>
                    </a:cubicBezTo>
                    <a:cubicBezTo>
                      <a:pt x="162052" y="28816"/>
                      <a:pt x="203517" y="19164"/>
                      <a:pt x="228599" y="216"/>
                    </a:cubicBezTo>
                    <a:lnTo>
                      <a:pt x="228599" y="28816"/>
                    </a:lnTo>
                    <a:cubicBezTo>
                      <a:pt x="228599" y="60274"/>
                      <a:pt x="177012" y="79616"/>
                      <a:pt x="114300" y="79616"/>
                    </a:cubicBezTo>
                    <a:cubicBezTo>
                      <a:pt x="53365" y="79616"/>
                      <a:pt x="2921" y="61354"/>
                      <a:pt x="267" y="31420"/>
                    </a:cubicBezTo>
                    <a:lnTo>
                      <a:pt x="63" y="30137"/>
                    </a:lnTo>
                    <a:lnTo>
                      <a:pt x="0" y="28816"/>
                    </a:lnTo>
                    <a:close/>
                  </a:path>
                </a:pathLst>
              </a:custGeom>
              <a:solidFill>
                <a:schemeClr val="accent1"/>
              </a:solidFill>
              <a:ln>
                <a:noFill/>
              </a:ln>
            </p:spPr>
          </p:sp>
          <p:sp>
            <p:nvSpPr>
              <p:cNvPr id="43" name="Freeform 43"/>
              <p:cNvSpPr/>
              <p:nvPr/>
            </p:nvSpPr>
            <p:spPr>
              <a:xfrm>
                <a:off x="876299" y="5588000"/>
                <a:ext cx="228600" cy="101600"/>
              </a:xfrm>
              <a:custGeom>
                <a:avLst/>
                <a:gdLst/>
                <a:ahLst/>
                <a:cxnLst/>
                <a:rect l="l" t="t" r="r" b="b"/>
                <a:pathLst>
                  <a:path w="228600" h="101600">
                    <a:moveTo>
                      <a:pt x="114301" y="0"/>
                    </a:moveTo>
                    <a:cubicBezTo>
                      <a:pt x="127521" y="0"/>
                      <a:pt x="140259" y="864"/>
                      <a:pt x="152109" y="2515"/>
                    </a:cubicBezTo>
                    <a:lnTo>
                      <a:pt x="158065" y="3416"/>
                    </a:lnTo>
                    <a:cubicBezTo>
                      <a:pt x="165177" y="4602"/>
                      <a:pt x="171891" y="6075"/>
                      <a:pt x="178207" y="7836"/>
                    </a:cubicBezTo>
                    <a:lnTo>
                      <a:pt x="183795" y="9500"/>
                    </a:lnTo>
                    <a:lnTo>
                      <a:pt x="184747" y="9804"/>
                    </a:lnTo>
                    <a:cubicBezTo>
                      <a:pt x="188204" y="10941"/>
                      <a:pt x="191614" y="12212"/>
                      <a:pt x="194971" y="13614"/>
                    </a:cubicBezTo>
                    <a:lnTo>
                      <a:pt x="197498" y="14707"/>
                    </a:lnTo>
                    <a:cubicBezTo>
                      <a:pt x="202028" y="16755"/>
                      <a:pt x="206121" y="18999"/>
                      <a:pt x="209779" y="21438"/>
                    </a:cubicBezTo>
                    <a:cubicBezTo>
                      <a:pt x="211176" y="22369"/>
                      <a:pt x="212501" y="23321"/>
                      <a:pt x="213754" y="24295"/>
                    </a:cubicBezTo>
                    <a:cubicBezTo>
                      <a:pt x="216928" y="26758"/>
                      <a:pt x="219783" y="29608"/>
                      <a:pt x="222250" y="32779"/>
                    </a:cubicBezTo>
                    <a:lnTo>
                      <a:pt x="223406" y="34404"/>
                    </a:lnTo>
                    <a:cubicBezTo>
                      <a:pt x="223999" y="35293"/>
                      <a:pt x="224545" y="36186"/>
                      <a:pt x="225044" y="37084"/>
                    </a:cubicBezTo>
                    <a:lnTo>
                      <a:pt x="225933" y="38849"/>
                    </a:lnTo>
                    <a:cubicBezTo>
                      <a:pt x="227313" y="41813"/>
                      <a:pt x="228160" y="44903"/>
                      <a:pt x="228473" y="48120"/>
                    </a:cubicBezTo>
                    <a:lnTo>
                      <a:pt x="228600" y="50800"/>
                    </a:lnTo>
                    <a:cubicBezTo>
                      <a:pt x="228600" y="82258"/>
                      <a:pt x="177013" y="101600"/>
                      <a:pt x="114301" y="101600"/>
                    </a:cubicBezTo>
                    <a:cubicBezTo>
                      <a:pt x="53366" y="101600"/>
                      <a:pt x="2922" y="83337"/>
                      <a:pt x="268" y="53403"/>
                    </a:cubicBezTo>
                    <a:cubicBezTo>
                      <a:pt x="89" y="52547"/>
                      <a:pt x="0" y="51675"/>
                      <a:pt x="1" y="50800"/>
                    </a:cubicBezTo>
                    <a:lnTo>
                      <a:pt x="64" y="49479"/>
                    </a:lnTo>
                    <a:lnTo>
                      <a:pt x="268" y="48209"/>
                    </a:lnTo>
                    <a:cubicBezTo>
                      <a:pt x="2871" y="18923"/>
                      <a:pt x="51195" y="800"/>
                      <a:pt x="110338" y="25"/>
                    </a:cubicBezTo>
                    <a:close/>
                  </a:path>
                </a:pathLst>
              </a:custGeom>
              <a:solidFill>
                <a:schemeClr val="accent1"/>
              </a:solidFill>
              <a:ln>
                <a:noFill/>
              </a:ln>
            </p:spPr>
          </p:sp>
        </p:grpSp>
        <p:sp>
          <p:nvSpPr>
            <p:cNvPr id="45" name="TextBox 45"/>
            <p:cNvSpPr txBox="1"/>
            <p:nvPr/>
          </p:nvSpPr>
          <p:spPr>
            <a:xfrm>
              <a:off x="1287018" y="5454650"/>
              <a:ext cx="5045472" cy="322707"/>
            </a:xfrm>
            <a:prstGeom prst="rect">
              <a:avLst/>
            </a:prstGeom>
            <a:noFill/>
            <a:ln>
              <a:noFill/>
            </a:ln>
          </p:spPr>
          <p:txBody>
            <a:bodyPr wrap="none" lIns="0" tIns="0" rIns="0" bIns="0" anchor="t" anchorCtr="0">
              <a:spAutoFit/>
            </a:bodyPr>
            <a:lstStyle/>
            <a:p>
              <a:pPr algn="l"/>
              <a:r>
                <a:rPr lang="es-419" sz="1650" b="1" dirty="0">
                  <a:solidFill>
                    <a:schemeClr val="accent1"/>
                  </a:solidFill>
                  <a:latin typeface="+mn-lt"/>
                  <a:ea typeface="+mn-ea"/>
                  <a:cs typeface="+mn-cs"/>
                </a:rPr>
                <a:t>DVC versiona datos y modelo sin subirlos a Git</a:t>
              </a:r>
            </a:p>
          </p:txBody>
        </p:sp>
        <p:sp>
          <p:nvSpPr>
            <p:cNvPr id="46" name="TextBox 46"/>
            <p:cNvSpPr txBox="1"/>
            <p:nvPr/>
          </p:nvSpPr>
          <p:spPr>
            <a:xfrm>
              <a:off x="1289304" y="5772150"/>
              <a:ext cx="7303448" cy="234696"/>
            </a:xfrm>
            <a:prstGeom prst="rect">
              <a:avLst/>
            </a:prstGeom>
            <a:noFill/>
            <a:ln>
              <a:noFill/>
            </a:ln>
          </p:spPr>
          <p:txBody>
            <a:bodyPr wrap="none" lIns="0" tIns="0" rIns="0" bIns="0" anchor="t" anchorCtr="0">
              <a:spAutoFit/>
            </a:bodyPr>
            <a:lstStyle/>
            <a:p>
              <a:pPr algn="l"/>
              <a:r>
                <a:rPr lang="es-419" sz="1200" dirty="0">
                  <a:solidFill>
                    <a:schemeClr val="accent5"/>
                  </a:solidFill>
                  <a:latin typeface="+mn-lt"/>
                  <a:ea typeface="+mn-ea"/>
                  <a:cs typeface="+mn-cs"/>
                </a:rPr>
                <a:t>dvc.yaml declara las 7 etapas · dvc.lock guarda el md5 de cada salida · dvc repro reproduce y verifica</a:t>
              </a:r>
            </a:p>
          </p:txBody>
        </p:sp>
      </p:grpSp>
      <p:grpSp>
        <p:nvGrpSpPr>
          <p:cNvPr id="50" name="footer"/>
          <p:cNvGrpSpPr/>
          <p:nvPr/>
        </p:nvGrpSpPr>
        <p:grpSpPr>
          <a:xfrm>
            <a:off x="603504" y="6381750"/>
            <a:ext cx="10984992" cy="234696"/>
            <a:chOff x="603504" y="6381750"/>
            <a:chExt cx="10984992" cy="234696"/>
          </a:xfrm>
        </p:grpSpPr>
        <p:sp>
          <p:nvSpPr>
            <p:cNvPr id="48" name="TextBox 48"/>
            <p:cNvSpPr txBox="1"/>
            <p:nvPr/>
          </p:nvSpPr>
          <p:spPr>
            <a:xfrm>
              <a:off x="603504" y="6381750"/>
              <a:ext cx="3405319" cy="234696"/>
            </a:xfrm>
            <a:prstGeom prst="rect">
              <a:avLst/>
            </a:prstGeom>
            <a:noFill/>
            <a:ln>
              <a:noFill/>
            </a:ln>
          </p:spPr>
          <p:txBody>
            <a:bodyPr wrap="none" lIns="0" tIns="0" rIns="0" bIns="0" anchor="t" anchorCtr="0">
              <a:spAutoFit/>
            </a:bodyPr>
            <a:lstStyle/>
            <a:p>
              <a:pPr algn="l"/>
              <a:r>
                <a:rPr lang="es-419" sz="1200" dirty="0">
                  <a:solidFill>
                    <a:schemeClr val="accent5"/>
                  </a:solidFill>
                  <a:latin typeface="+mn-lt"/>
                  <a:ea typeface="+mn-ea"/>
                  <a:cs typeface="+mn-cs"/>
                </a:rPr>
                <a:t>Proyecto Final MLOps · Prevención de Infartos</a:t>
              </a:r>
            </a:p>
          </p:txBody>
        </p:sp>
        <p:sp>
          <p:nvSpPr>
            <p:cNvPr id="49" name="TextBox 49"/>
            <p:cNvSpPr txBox="1"/>
            <p:nvPr/>
          </p:nvSpPr>
          <p:spPr>
            <a:xfrm>
              <a:off x="11082270" y="6381750"/>
              <a:ext cx="506226" cy="234696"/>
            </a:xfrm>
            <a:prstGeom prst="rect">
              <a:avLst/>
            </a:prstGeom>
            <a:noFill/>
            <a:ln>
              <a:noFill/>
            </a:ln>
          </p:spPr>
          <p:txBody>
            <a:bodyPr wrap="none" lIns="0" tIns="0" rIns="0" bIns="0" anchor="t" anchorCtr="0">
              <a:spAutoFit/>
            </a:bodyPr>
            <a:lstStyle/>
            <a:p>
              <a:pPr algn="r"/>
              <a:r>
                <a:rPr lang="es-419" sz="1200" dirty="0">
                  <a:solidFill>
                    <a:schemeClr val="accent5"/>
                  </a:solidFill>
                  <a:latin typeface="+mn-lt"/>
                  <a:ea typeface="+mn-ea"/>
                  <a:cs typeface="+mn-cs"/>
                </a:rPr>
                <a:t>07 / 10</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4360" y="584200"/>
            <a:ext cx="10988040" cy="1387475"/>
            <a:chOff x="594360" y="584200"/>
            <a:chExt cx="10988040" cy="1387475"/>
          </a:xfrm>
        </p:grpSpPr>
        <p:sp>
          <p:nvSpPr>
            <p:cNvPr id="2" name="TextBox 2"/>
            <p:cNvSpPr txBox="1"/>
            <p:nvPr/>
          </p:nvSpPr>
          <p:spPr>
            <a:xfrm>
              <a:off x="603885" y="584200"/>
              <a:ext cx="2985821" cy="220028"/>
            </a:xfrm>
            <a:prstGeom prst="rect">
              <a:avLst/>
            </a:prstGeom>
            <a:noFill/>
            <a:ln>
              <a:noFill/>
            </a:ln>
          </p:spPr>
          <p:txBody>
            <a:bodyPr wrap="none" lIns="0" tIns="0" rIns="0" bIns="0" anchor="t" anchorCtr="0">
              <a:spAutoFit/>
            </a:bodyPr>
            <a:lstStyle/>
            <a:p>
              <a:pPr algn="l"/>
              <a:r>
                <a:rPr lang="es-419" sz="1120" b="1" dirty="0">
                  <a:solidFill>
                    <a:schemeClr val="accent5"/>
                  </a:solidFill>
                  <a:latin typeface="+mn-lt"/>
                  <a:ea typeface="+mn-ea"/>
                  <a:cs typeface="+mn-cs"/>
                </a:rPr>
                <a:t>07 · PRODUCCIÓN · UNIDADES 5, 7 Y 8</a:t>
              </a:r>
            </a:p>
          </p:txBody>
        </p:sp>
        <p:sp>
          <p:nvSpPr>
            <p:cNvPr id="3" name="TextBox 3"/>
            <p:cNvSpPr txBox="1"/>
            <p:nvPr/>
          </p:nvSpPr>
          <p:spPr>
            <a:xfrm>
              <a:off x="594360" y="850900"/>
              <a:ext cx="8012735" cy="1062990"/>
            </a:xfrm>
            <a:prstGeom prst="rect">
              <a:avLst/>
            </a:prstGeom>
            <a:noFill/>
            <a:ln>
              <a:noFill/>
            </a:ln>
          </p:spPr>
          <p:txBody>
            <a:bodyPr wrap="none" lIns="0" tIns="0" rIns="0" bIns="0" anchor="t" anchorCtr="0">
              <a:spAutoFit/>
            </a:bodyPr>
            <a:lstStyle/>
            <a:p>
              <a:pPr algn="l">
                <a:lnSpc>
                  <a:spcPts val="3750"/>
                </a:lnSpc>
              </a:pPr>
              <a:r>
                <a:rPr lang="es-419" sz="3000" b="1" dirty="0">
                  <a:solidFill>
                    <a:schemeClr val="accent1"/>
                  </a:solidFill>
                  <a:latin typeface="+mn-lt"/>
                  <a:ea typeface="+mn-ea"/>
                  <a:cs typeface="+mn-cs"/>
                </a:rPr>
                <a:t>La API recibe datos crudos y los transforma</a:t>
              </a:r>
              <a:br>
                <a:rPr lang="es-419" sz="3000" b="1" dirty="0">
                  <a:solidFill>
                    <a:schemeClr val="accent1"/>
                  </a:solidFill>
                  <a:latin typeface="+mn-lt"/>
                  <a:ea typeface="+mn-ea"/>
                  <a:cs typeface="+mn-cs"/>
                </a:rPr>
              </a:br>
              <a:r>
                <a:rPr lang="es-419" sz="3000" b="1" dirty="0">
                  <a:solidFill>
                    <a:schemeClr val="accent1"/>
                  </a:solidFill>
                  <a:latin typeface="+mn-lt"/>
                  <a:ea typeface="+mn-ea"/>
                  <a:cs typeface="+mn-cs"/>
                </a:rPr>
                <a:t>igual que en el entrenamiento</a:t>
              </a:r>
            </a:p>
          </p:txBody>
        </p:sp>
        <p:sp>
          <p:nvSpPr>
            <p:cNvPr id="4" name="Line 4"/>
            <p:cNvSpPr/>
            <p:nvPr/>
          </p:nvSpPr>
          <p:spPr>
            <a:xfrm>
              <a:off x="609600" y="19621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9" name="ejemplo-api"/>
          <p:cNvGrpSpPr/>
          <p:nvPr/>
        </p:nvGrpSpPr>
        <p:grpSpPr>
          <a:xfrm>
            <a:off x="609600" y="2152650"/>
            <a:ext cx="5334000" cy="3276600"/>
            <a:chOff x="609600" y="2152650"/>
            <a:chExt cx="5334000" cy="3276600"/>
          </a:xfrm>
        </p:grpSpPr>
        <p:sp>
          <p:nvSpPr>
            <p:cNvPr id="6" name="Rectangle 6"/>
            <p:cNvSpPr/>
            <p:nvPr/>
          </p:nvSpPr>
          <p:spPr>
            <a:xfrm>
              <a:off x="609600" y="2152650"/>
              <a:ext cx="5334000" cy="3276600"/>
            </a:xfrm>
            <a:prstGeom prst="rect">
              <a:avLst/>
            </a:prstGeom>
            <a:solidFill>
              <a:schemeClr val="lt2"/>
            </a:solidFill>
            <a:ln>
              <a:noFill/>
            </a:ln>
          </p:spPr>
        </p:sp>
        <p:sp>
          <p:nvSpPr>
            <p:cNvPr id="7" name="TextBox 7"/>
            <p:cNvSpPr txBox="1"/>
            <p:nvPr/>
          </p:nvSpPr>
          <p:spPr>
            <a:xfrm>
              <a:off x="831342" y="2317750"/>
              <a:ext cx="3314128" cy="2321433"/>
            </a:xfrm>
            <a:prstGeom prst="rect">
              <a:avLst/>
            </a:prstGeom>
            <a:noFill/>
            <a:ln>
              <a:noFill/>
            </a:ln>
          </p:spPr>
          <p:txBody>
            <a:bodyPr wrap="none" lIns="0" tIns="0" rIns="0" bIns="0" anchor="t" anchorCtr="0">
              <a:spAutoFit/>
            </a:bodyPr>
            <a:lstStyle/>
            <a:p>
              <a:pPr algn="l">
                <a:lnSpc>
                  <a:spcPts val="1800"/>
                </a:lnSpc>
              </a:pPr>
              <a:r>
                <a:rPr lang="es-419" sz="1350" b="1" dirty="0">
                  <a:solidFill>
                    <a:schemeClr val="accent1"/>
                  </a:solidFill>
                  <a:latin typeface="Consolas"/>
                  <a:ea typeface="Consolas"/>
                  <a:cs typeface="Consolas"/>
                </a:rPr>
                <a:t>POST /predecir</a:t>
              </a:r>
              <a:br>
                <a:rPr lang="es-419" sz="1350" b="1" dirty="0">
                  <a:solidFill>
                    <a:schemeClr val="accent1"/>
                  </a:solidFill>
                  <a:latin typeface="Consolas"/>
                  <a:ea typeface="Consolas"/>
                  <a:cs typeface="Consolas"/>
                </a:rPr>
              </a:br>
              <a:r>
                <a:rPr lang="es-419" sz="1350" dirty="0">
                  <a:solidFill>
                    <a:schemeClr val="dk1"/>
                  </a:solidFill>
                  <a:latin typeface="Consolas"/>
                  <a:ea typeface="Consolas"/>
                  <a:cs typeface="Consolas"/>
                </a:rPr>
                <a:t>{</a:t>
              </a:r>
              <a:br>
                <a:rPr lang="es-419" sz="1350" dirty="0">
                  <a:solidFill>
                    <a:schemeClr val="dk1"/>
                  </a:solidFill>
                  <a:latin typeface="Consolas"/>
                  <a:ea typeface="Consolas"/>
                  <a:cs typeface="Consolas"/>
                </a:rPr>
              </a:br>
              <a:r>
                <a:rPr lang="es-419" sz="1350" dirty="0">
                  <a:solidFill>
                    <a:schemeClr val="dk1"/>
                  </a:solidFill>
                  <a:latin typeface="Consolas"/>
                  <a:ea typeface="Consolas"/>
                  <a:cs typeface="Consolas"/>
                </a:rPr>
                <a:t xml:space="preserve">  "Edad": 67,</a:t>
              </a:r>
              <a:br>
                <a:rPr lang="es-419" sz="1350" dirty="0">
                  <a:solidFill>
                    <a:schemeClr val="dk1"/>
                  </a:solidFill>
                  <a:latin typeface="Consolas"/>
                  <a:ea typeface="Consolas"/>
                  <a:cs typeface="Consolas"/>
                </a:rPr>
              </a:br>
              <a:r>
                <a:rPr lang="es-419" sz="1350" dirty="0">
                  <a:solidFill>
                    <a:schemeClr val="dk1"/>
                  </a:solidFill>
                  <a:latin typeface="Consolas"/>
                  <a:ea typeface="Consolas"/>
                  <a:cs typeface="Consolas"/>
                </a:rPr>
                <a:t xml:space="preserve">  "Flag_hipertension": 1,</a:t>
              </a:r>
              <a:br>
                <a:rPr lang="es-419" sz="1350" dirty="0">
                  <a:solidFill>
                    <a:schemeClr val="dk1"/>
                  </a:solidFill>
                  <a:latin typeface="Consolas"/>
                  <a:ea typeface="Consolas"/>
                  <a:cs typeface="Consolas"/>
                </a:rPr>
              </a:br>
              <a:r>
                <a:rPr lang="es-419" sz="1350" dirty="0">
                  <a:solidFill>
                    <a:schemeClr val="dk1"/>
                  </a:solidFill>
                  <a:latin typeface="Consolas"/>
                  <a:ea typeface="Consolas"/>
                  <a:cs typeface="Consolas"/>
                </a:rPr>
                <a:t xml:space="preserve">  "Flag_problem_cardiaco": 1,</a:t>
              </a:r>
              <a:br>
                <a:rPr lang="es-419" sz="1350" dirty="0">
                  <a:solidFill>
                    <a:schemeClr val="dk1"/>
                  </a:solidFill>
                  <a:latin typeface="Consolas"/>
                  <a:ea typeface="Consolas"/>
                  <a:cs typeface="Consolas"/>
                </a:rPr>
              </a:br>
              <a:r>
                <a:rPr lang="es-419" sz="1350" dirty="0">
                  <a:solidFill>
                    <a:schemeClr val="dk1"/>
                  </a:solidFill>
                  <a:latin typeface="Consolas"/>
                  <a:ea typeface="Consolas"/>
                  <a:cs typeface="Consolas"/>
                </a:rPr>
                <a:t xml:space="preserve">  "Promedio_nivel_glucosa": 228.7,</a:t>
              </a:r>
              <a:br>
                <a:rPr lang="es-419" sz="1350" dirty="0">
                  <a:solidFill>
                    <a:schemeClr val="dk1"/>
                  </a:solidFill>
                  <a:latin typeface="Consolas"/>
                  <a:ea typeface="Consolas"/>
                  <a:cs typeface="Consolas"/>
                </a:rPr>
              </a:br>
              <a:r>
                <a:rPr lang="es-419" sz="1350" dirty="0">
                  <a:solidFill>
                    <a:schemeClr val="dk1"/>
                  </a:solidFill>
                  <a:latin typeface="Consolas"/>
                  <a:ea typeface="Consolas"/>
                  <a:cs typeface="Consolas"/>
                </a:rPr>
                <a:t xml:space="preserve">  "IMC": 36.6,</a:t>
              </a:r>
              <a:br>
                <a:rPr lang="es-419" sz="1350" dirty="0">
                  <a:solidFill>
                    <a:schemeClr val="dk1"/>
                  </a:solidFill>
                  <a:latin typeface="Consolas"/>
                  <a:ea typeface="Consolas"/>
                  <a:cs typeface="Consolas"/>
                </a:rPr>
              </a:br>
              <a:r>
                <a:rPr lang="es-419" sz="1350" dirty="0">
                  <a:solidFill>
                    <a:schemeClr val="dk1"/>
                  </a:solidFill>
                  <a:latin typeface="Consolas"/>
                  <a:ea typeface="Consolas"/>
                  <a:cs typeface="Consolas"/>
                </a:rPr>
                <a:t xml:space="preserve">  "Estados_civil": "Si",</a:t>
              </a:r>
              <a:br>
                <a:rPr lang="es-419" sz="1350" dirty="0">
                  <a:solidFill>
                    <a:schemeClr val="dk1"/>
                  </a:solidFill>
                  <a:latin typeface="Consolas"/>
                  <a:ea typeface="Consolas"/>
                  <a:cs typeface="Consolas"/>
                </a:rPr>
              </a:br>
              <a:r>
                <a:rPr lang="es-419" sz="1350" dirty="0">
                  <a:solidFill>
                    <a:schemeClr val="dk1"/>
                  </a:solidFill>
                  <a:latin typeface="Consolas"/>
                  <a:ea typeface="Consolas"/>
                  <a:cs typeface="Consolas"/>
                </a:rPr>
                <a:t xml:space="preserve">  "Tipo_trabajo": "Empresa_privada"</a:t>
              </a:r>
              <a:br>
                <a:rPr lang="es-419" sz="1350" dirty="0">
                  <a:solidFill>
                    <a:schemeClr val="dk1"/>
                  </a:solidFill>
                  <a:latin typeface="Consolas"/>
                  <a:ea typeface="Consolas"/>
                  <a:cs typeface="Consolas"/>
                </a:rPr>
              </a:br>
              <a:r>
                <a:rPr lang="es-419" sz="1350" dirty="0">
                  <a:solidFill>
                    <a:schemeClr val="dk1"/>
                  </a:solidFill>
                  <a:latin typeface="Consolas"/>
                  <a:ea typeface="Consolas"/>
                  <a:cs typeface="Consolas"/>
                </a:rPr>
                <a:t>}</a:t>
              </a:r>
            </a:p>
          </p:txBody>
        </p:sp>
        <p:sp>
          <p:nvSpPr>
            <p:cNvPr id="8" name="TextBox 8"/>
            <p:cNvSpPr txBox="1"/>
            <p:nvPr/>
          </p:nvSpPr>
          <p:spPr>
            <a:xfrm>
              <a:off x="831342" y="4705350"/>
              <a:ext cx="2936939" cy="511683"/>
            </a:xfrm>
            <a:prstGeom prst="rect">
              <a:avLst/>
            </a:prstGeom>
            <a:noFill/>
            <a:ln>
              <a:noFill/>
            </a:ln>
          </p:spPr>
          <p:txBody>
            <a:bodyPr wrap="none" lIns="0" tIns="0" rIns="0" bIns="0" anchor="t" anchorCtr="0">
              <a:spAutoFit/>
            </a:bodyPr>
            <a:lstStyle/>
            <a:p>
              <a:pPr algn="l">
                <a:lnSpc>
                  <a:spcPts val="1950"/>
                </a:lnSpc>
              </a:pPr>
              <a:r>
                <a:rPr lang="es-419" sz="1350" b="1" dirty="0">
                  <a:solidFill>
                    <a:schemeClr val="accent1"/>
                  </a:solidFill>
                  <a:latin typeface="Consolas"/>
                  <a:ea typeface="Consolas"/>
                  <a:cs typeface="Consolas"/>
                </a:rPr>
                <a:t>→ probabilidad_infarto: 0.8087</a:t>
              </a:r>
              <a:br>
                <a:rPr lang="es-419" sz="1350" b="1" dirty="0">
                  <a:solidFill>
                    <a:schemeClr val="accent1"/>
                  </a:solidFill>
                  <a:latin typeface="Consolas"/>
                  <a:ea typeface="Consolas"/>
                  <a:cs typeface="Consolas"/>
                </a:rPr>
              </a:br>
              <a:r>
                <a:rPr lang="es-419" sz="1350" b="1" dirty="0">
                  <a:solidFill>
                    <a:schemeClr val="accent2"/>
                  </a:solidFill>
                  <a:latin typeface="Consolas"/>
                  <a:ea typeface="Consolas"/>
                  <a:cs typeface="Consolas"/>
                </a:rPr>
                <a:t xml:space="preserve">  decision: PROGRAMA PREVENCION</a:t>
              </a:r>
            </a:p>
          </p:txBody>
        </p:sp>
      </p:grpSp>
      <p:grpSp>
        <p:nvGrpSpPr>
          <p:cNvPr id="25" name="escala-umbrales"/>
          <p:cNvGrpSpPr/>
          <p:nvPr/>
        </p:nvGrpSpPr>
        <p:grpSpPr>
          <a:xfrm>
            <a:off x="6394704" y="2184400"/>
            <a:ext cx="5193792" cy="1267778"/>
            <a:chOff x="6394704" y="2184400"/>
            <a:chExt cx="5193792" cy="1267778"/>
          </a:xfrm>
        </p:grpSpPr>
        <p:sp>
          <p:nvSpPr>
            <p:cNvPr id="10" name="TextBox 10"/>
            <p:cNvSpPr txBox="1"/>
            <p:nvPr/>
          </p:nvSpPr>
          <p:spPr>
            <a:xfrm>
              <a:off x="6395085" y="2184400"/>
              <a:ext cx="3436665" cy="220028"/>
            </a:xfrm>
            <a:prstGeom prst="rect">
              <a:avLst/>
            </a:prstGeom>
            <a:noFill/>
            <a:ln>
              <a:noFill/>
            </a:ln>
          </p:spPr>
          <p:txBody>
            <a:bodyPr wrap="none" lIns="0" tIns="0" rIns="0" bIns="0" anchor="t" anchorCtr="0">
              <a:spAutoFit/>
            </a:bodyPr>
            <a:lstStyle/>
            <a:p>
              <a:pPr algn="l"/>
              <a:r>
                <a:rPr lang="es-419" sz="1120" b="1" dirty="0">
                  <a:solidFill>
                    <a:schemeClr val="accent5"/>
                  </a:solidFill>
                  <a:latin typeface="+mn-lt"/>
                  <a:ea typeface="+mn-ea"/>
                  <a:cs typeface="+mn-cs"/>
                </a:rPr>
                <a:t>DECISIÓN POR UMBRAL DE PROBABILIDAD</a:t>
              </a:r>
            </a:p>
          </p:txBody>
        </p:sp>
        <p:sp>
          <p:nvSpPr>
            <p:cNvPr id="11" name="TextBox 11"/>
            <p:cNvSpPr txBox="1"/>
            <p:nvPr/>
          </p:nvSpPr>
          <p:spPr>
            <a:xfrm>
              <a:off x="10122219" y="2419350"/>
              <a:ext cx="937258" cy="234696"/>
            </a:xfrm>
            <a:prstGeom prst="rect">
              <a:avLst/>
            </a:prstGeom>
            <a:noFill/>
            <a:ln>
              <a:noFill/>
            </a:ln>
          </p:spPr>
          <p:txBody>
            <a:bodyPr wrap="none" lIns="0" tIns="0" rIns="0" bIns="0" anchor="t" anchorCtr="0">
              <a:spAutoFit/>
            </a:bodyPr>
            <a:lstStyle/>
            <a:p>
              <a:pPr algn="ctr"/>
              <a:r>
                <a:rPr lang="es-419" sz="1200" dirty="0">
                  <a:solidFill>
                    <a:schemeClr val="accent1"/>
                  </a:solidFill>
                  <a:latin typeface="+mn-lt"/>
                  <a:ea typeface="+mn-ea"/>
                  <a:cs typeface="+mn-cs"/>
                </a:rPr>
                <a:t>ejemplo 0,81</a:t>
              </a:r>
            </a:p>
          </p:txBody>
        </p:sp>
        <p:sp>
          <p:nvSpPr>
            <p:cNvPr id="12" name="Rectangle 12"/>
            <p:cNvSpPr/>
            <p:nvPr/>
          </p:nvSpPr>
          <p:spPr>
            <a:xfrm>
              <a:off x="6400800" y="2686050"/>
              <a:ext cx="1554480" cy="304800"/>
            </a:xfrm>
            <a:prstGeom prst="rect">
              <a:avLst/>
            </a:prstGeom>
            <a:solidFill>
              <a:schemeClr val="accent6"/>
            </a:solidFill>
            <a:ln>
              <a:noFill/>
            </a:ln>
          </p:spPr>
        </p:sp>
        <p:sp>
          <p:nvSpPr>
            <p:cNvPr id="13" name="Rectangle 13"/>
            <p:cNvSpPr/>
            <p:nvPr/>
          </p:nvSpPr>
          <p:spPr>
            <a:xfrm>
              <a:off x="7955280" y="2686050"/>
              <a:ext cx="1036320" cy="304800"/>
            </a:xfrm>
            <a:prstGeom prst="rect">
              <a:avLst/>
            </a:prstGeom>
            <a:solidFill>
              <a:schemeClr val="accent3"/>
            </a:solidFill>
            <a:ln>
              <a:noFill/>
            </a:ln>
          </p:spPr>
        </p:sp>
        <p:sp>
          <p:nvSpPr>
            <p:cNvPr id="14" name="Rectangle 14"/>
            <p:cNvSpPr/>
            <p:nvPr/>
          </p:nvSpPr>
          <p:spPr>
            <a:xfrm>
              <a:off x="8991600" y="2686050"/>
              <a:ext cx="2590800" cy="304800"/>
            </a:xfrm>
            <a:prstGeom prst="rect">
              <a:avLst/>
            </a:prstGeom>
            <a:solidFill>
              <a:schemeClr val="accent2"/>
            </a:solidFill>
            <a:ln>
              <a:noFill/>
            </a:ln>
          </p:spPr>
        </p:sp>
        <p:sp>
          <p:nvSpPr>
            <p:cNvPr id="15" name="Line 15"/>
            <p:cNvSpPr/>
            <p:nvPr/>
          </p:nvSpPr>
          <p:spPr>
            <a:xfrm>
              <a:off x="10590848" y="2628900"/>
              <a:ext cx="9525" cy="419100"/>
            </a:xfrm>
            <a:custGeom>
              <a:avLst/>
              <a:gdLst/>
              <a:ahLst/>
              <a:cxnLst/>
              <a:rect l="l" t="t" r="r" b="b"/>
              <a:pathLst>
                <a:path w="9525" h="419100">
                  <a:moveTo>
                    <a:pt x="0" y="0"/>
                  </a:moveTo>
                  <a:lnTo>
                    <a:pt x="0" y="419100"/>
                  </a:lnTo>
                </a:path>
              </a:pathLst>
            </a:custGeom>
            <a:noFill/>
            <a:ln w="28575">
              <a:solidFill>
                <a:schemeClr val="accent1"/>
              </a:solidFill>
            </a:ln>
          </p:spPr>
        </p:sp>
        <p:grpSp>
          <p:nvGrpSpPr>
            <p:cNvPr id="20" name="Group 20"/>
            <p:cNvGrpSpPr/>
            <p:nvPr/>
          </p:nvGrpSpPr>
          <p:grpSpPr>
            <a:xfrm>
              <a:off x="6394704" y="3028950"/>
              <a:ext cx="5193792" cy="234696"/>
              <a:chOff x="6394704" y="3028950"/>
              <a:chExt cx="5193792" cy="234696"/>
            </a:xfrm>
          </p:grpSpPr>
          <p:sp>
            <p:nvSpPr>
              <p:cNvPr id="16" name="TextBox 16"/>
              <p:cNvSpPr txBox="1"/>
              <p:nvPr/>
            </p:nvSpPr>
            <p:spPr>
              <a:xfrm>
                <a:off x="6394704" y="3028950"/>
                <a:ext cx="102043" cy="234696"/>
              </a:xfrm>
              <a:prstGeom prst="rect">
                <a:avLst/>
              </a:prstGeom>
              <a:noFill/>
              <a:ln>
                <a:noFill/>
              </a:ln>
            </p:spPr>
            <p:txBody>
              <a:bodyPr wrap="none" lIns="0" tIns="0" rIns="0" bIns="0" anchor="t" anchorCtr="0">
                <a:spAutoFit/>
              </a:bodyPr>
              <a:lstStyle/>
              <a:p>
                <a:pPr algn="l"/>
                <a:r>
                  <a:rPr lang="es-419" sz="1200" dirty="0">
                    <a:solidFill>
                      <a:schemeClr val="accent5"/>
                    </a:solidFill>
                    <a:latin typeface="+mn-lt"/>
                    <a:ea typeface="+mn-ea"/>
                    <a:cs typeface="+mn-cs"/>
                  </a:rPr>
                  <a:t>0</a:t>
                </a:r>
              </a:p>
            </p:txBody>
          </p:sp>
          <p:sp>
            <p:nvSpPr>
              <p:cNvPr id="17" name="TextBox 17"/>
              <p:cNvSpPr txBox="1"/>
              <p:nvPr/>
            </p:nvSpPr>
            <p:spPr>
              <a:xfrm>
                <a:off x="7791969" y="3028950"/>
                <a:ext cx="326621" cy="234696"/>
              </a:xfrm>
              <a:prstGeom prst="rect">
                <a:avLst/>
              </a:prstGeom>
              <a:noFill/>
              <a:ln>
                <a:noFill/>
              </a:ln>
            </p:spPr>
            <p:txBody>
              <a:bodyPr wrap="none" lIns="0" tIns="0" rIns="0" bIns="0" anchor="t" anchorCtr="0">
                <a:spAutoFit/>
              </a:bodyPr>
              <a:lstStyle/>
              <a:p>
                <a:pPr algn="ctr"/>
                <a:r>
                  <a:rPr lang="es-419" sz="1200" dirty="0">
                    <a:solidFill>
                      <a:schemeClr val="accent5"/>
                    </a:solidFill>
                    <a:latin typeface="+mn-lt"/>
                    <a:ea typeface="+mn-ea"/>
                    <a:cs typeface="+mn-cs"/>
                  </a:rPr>
                  <a:t>0,30</a:t>
                </a:r>
              </a:p>
            </p:txBody>
          </p:sp>
          <p:sp>
            <p:nvSpPr>
              <p:cNvPr id="18" name="TextBox 18"/>
              <p:cNvSpPr txBox="1"/>
              <p:nvPr/>
            </p:nvSpPr>
            <p:spPr>
              <a:xfrm>
                <a:off x="8828289" y="3028950"/>
                <a:ext cx="326621" cy="234696"/>
              </a:xfrm>
              <a:prstGeom prst="rect">
                <a:avLst/>
              </a:prstGeom>
              <a:noFill/>
              <a:ln>
                <a:noFill/>
              </a:ln>
            </p:spPr>
            <p:txBody>
              <a:bodyPr wrap="none" lIns="0" tIns="0" rIns="0" bIns="0" anchor="t" anchorCtr="0">
                <a:spAutoFit/>
              </a:bodyPr>
              <a:lstStyle/>
              <a:p>
                <a:pPr algn="ctr"/>
                <a:r>
                  <a:rPr lang="es-419" sz="1200" dirty="0">
                    <a:solidFill>
                      <a:schemeClr val="accent5"/>
                    </a:solidFill>
                    <a:latin typeface="+mn-lt"/>
                    <a:ea typeface="+mn-ea"/>
                    <a:cs typeface="+mn-cs"/>
                  </a:rPr>
                  <a:t>0,50</a:t>
                </a:r>
              </a:p>
            </p:txBody>
          </p:sp>
          <p:sp>
            <p:nvSpPr>
              <p:cNvPr id="19" name="TextBox 19"/>
              <p:cNvSpPr txBox="1"/>
              <p:nvPr/>
            </p:nvSpPr>
            <p:spPr>
              <a:xfrm>
                <a:off x="11486453" y="3028950"/>
                <a:ext cx="102043" cy="234696"/>
              </a:xfrm>
              <a:prstGeom prst="rect">
                <a:avLst/>
              </a:prstGeom>
              <a:noFill/>
              <a:ln>
                <a:noFill/>
              </a:ln>
            </p:spPr>
            <p:txBody>
              <a:bodyPr wrap="none" lIns="0" tIns="0" rIns="0" bIns="0" anchor="t" anchorCtr="0">
                <a:spAutoFit/>
              </a:bodyPr>
              <a:lstStyle/>
              <a:p>
                <a:pPr algn="r"/>
                <a:r>
                  <a:rPr lang="es-419" sz="1200" dirty="0">
                    <a:solidFill>
                      <a:schemeClr val="accent5"/>
                    </a:solidFill>
                    <a:latin typeface="+mn-lt"/>
                    <a:ea typeface="+mn-ea"/>
                    <a:cs typeface="+mn-cs"/>
                  </a:rPr>
                  <a:t>1</a:t>
                </a:r>
              </a:p>
            </p:txBody>
          </p:sp>
        </p:grpSp>
        <p:grpSp>
          <p:nvGrpSpPr>
            <p:cNvPr id="24" name="Group 24"/>
            <p:cNvGrpSpPr/>
            <p:nvPr/>
          </p:nvGrpSpPr>
          <p:grpSpPr>
            <a:xfrm>
              <a:off x="6395085" y="3232150"/>
              <a:ext cx="5193030" cy="220028"/>
              <a:chOff x="6395085" y="3232150"/>
              <a:chExt cx="5193030" cy="220028"/>
            </a:xfrm>
          </p:grpSpPr>
          <p:sp>
            <p:nvSpPr>
              <p:cNvPr id="21" name="TextBox 21"/>
              <p:cNvSpPr txBox="1"/>
              <p:nvPr/>
            </p:nvSpPr>
            <p:spPr>
              <a:xfrm>
                <a:off x="6395085" y="3232150"/>
                <a:ext cx="613203" cy="220028"/>
              </a:xfrm>
              <a:prstGeom prst="rect">
                <a:avLst/>
              </a:prstGeom>
              <a:noFill/>
              <a:ln>
                <a:noFill/>
              </a:ln>
            </p:spPr>
            <p:txBody>
              <a:bodyPr wrap="none" lIns="0" tIns="0" rIns="0" bIns="0" anchor="t" anchorCtr="0">
                <a:spAutoFit/>
              </a:bodyPr>
              <a:lstStyle/>
              <a:p>
                <a:pPr algn="l"/>
                <a:r>
                  <a:rPr lang="es-419" sz="1120" b="1" dirty="0">
                    <a:solidFill>
                      <a:schemeClr val="accent1"/>
                    </a:solidFill>
                    <a:latin typeface="+mn-lt"/>
                    <a:ea typeface="+mn-ea"/>
                    <a:cs typeface="+mn-cs"/>
                  </a:rPr>
                  <a:t>RUTINA</a:t>
                </a:r>
              </a:p>
            </p:txBody>
          </p:sp>
          <p:sp>
            <p:nvSpPr>
              <p:cNvPr id="22" name="TextBox 22"/>
              <p:cNvSpPr txBox="1"/>
              <p:nvPr/>
            </p:nvSpPr>
            <p:spPr>
              <a:xfrm>
                <a:off x="7910112" y="3232150"/>
                <a:ext cx="1126655" cy="220028"/>
              </a:xfrm>
              <a:prstGeom prst="rect">
                <a:avLst/>
              </a:prstGeom>
              <a:noFill/>
              <a:ln>
                <a:noFill/>
              </a:ln>
            </p:spPr>
            <p:txBody>
              <a:bodyPr wrap="none" lIns="0" tIns="0" rIns="0" bIns="0" anchor="t" anchorCtr="0">
                <a:spAutoFit/>
              </a:bodyPr>
              <a:lstStyle/>
              <a:p>
                <a:pPr algn="ctr"/>
                <a:r>
                  <a:rPr lang="es-419" sz="1120" b="1" dirty="0">
                    <a:solidFill>
                      <a:schemeClr val="accent1"/>
                    </a:solidFill>
                    <a:latin typeface="+mn-lt"/>
                    <a:ea typeface="+mn-ea"/>
                    <a:cs typeface="+mn-cs"/>
                  </a:rPr>
                  <a:t>SEGUIMIENTO</a:t>
                </a:r>
              </a:p>
            </p:txBody>
          </p:sp>
          <p:sp>
            <p:nvSpPr>
              <p:cNvPr id="23" name="TextBox 23"/>
              <p:cNvSpPr txBox="1"/>
              <p:nvPr/>
            </p:nvSpPr>
            <p:spPr>
              <a:xfrm>
                <a:off x="9532020" y="3232150"/>
                <a:ext cx="2056095" cy="220028"/>
              </a:xfrm>
              <a:prstGeom prst="rect">
                <a:avLst/>
              </a:prstGeom>
              <a:noFill/>
              <a:ln>
                <a:noFill/>
              </a:ln>
            </p:spPr>
            <p:txBody>
              <a:bodyPr wrap="none" lIns="0" tIns="0" rIns="0" bIns="0" anchor="t" anchorCtr="0">
                <a:spAutoFit/>
              </a:bodyPr>
              <a:lstStyle/>
              <a:p>
                <a:pPr algn="r"/>
                <a:r>
                  <a:rPr lang="es-419" sz="1120" b="1" dirty="0">
                    <a:solidFill>
                      <a:schemeClr val="accent1"/>
                    </a:solidFill>
                    <a:latin typeface="+mn-lt"/>
                    <a:ea typeface="+mn-ea"/>
                    <a:cs typeface="+mn-cs"/>
                  </a:rPr>
                  <a:t>PROGRAMA PREVENCIÓN</a:t>
                </a:r>
              </a:p>
            </p:txBody>
          </p:sp>
        </p:grpSp>
      </p:grpSp>
      <p:grpSp>
        <p:nvGrpSpPr>
          <p:cNvPr id="27" name="entrada-segura"/>
          <p:cNvGrpSpPr/>
          <p:nvPr/>
        </p:nvGrpSpPr>
        <p:grpSpPr>
          <a:xfrm>
            <a:off x="6392418" y="3575050"/>
            <a:ext cx="4163926" cy="608457"/>
            <a:chOff x="6392418" y="3575050"/>
            <a:chExt cx="4163926" cy="608457"/>
          </a:xfrm>
        </p:grpSpPr>
        <p:sp>
          <p:nvSpPr>
            <p:cNvPr id="26" name="TextBox 26"/>
            <p:cNvSpPr txBox="1"/>
            <p:nvPr/>
          </p:nvSpPr>
          <p:spPr>
            <a:xfrm>
              <a:off x="6392418" y="3575050"/>
              <a:ext cx="4163926" cy="608457"/>
            </a:xfrm>
            <a:prstGeom prst="rect">
              <a:avLst/>
            </a:prstGeom>
            <a:noFill/>
            <a:ln>
              <a:noFill/>
            </a:ln>
          </p:spPr>
          <p:txBody>
            <a:bodyPr wrap="none" lIns="0" tIns="0" rIns="0" bIns="0" anchor="t" anchorCtr="0">
              <a:spAutoFit/>
            </a:bodyPr>
            <a:lstStyle/>
            <a:p>
              <a:pPr algn="l">
                <a:lnSpc>
                  <a:spcPts val="2250"/>
                </a:lnSpc>
              </a:pPr>
              <a:r>
                <a:rPr lang="es-419" sz="1650" dirty="0">
                  <a:solidFill>
                    <a:schemeClr val="dk1"/>
                  </a:solidFill>
                  <a:latin typeface="+mn-lt"/>
                  <a:ea typeface="+mn-ea"/>
                  <a:cs typeface="+mn-cs"/>
                </a:rPr>
                <a:t>IMC opcional: si falta, se imputa el promedio</a:t>
              </a:r>
              <a:br>
                <a:rPr lang="es-419" sz="1650" dirty="0">
                  <a:solidFill>
                    <a:schemeClr val="dk1"/>
                  </a:solidFill>
                  <a:latin typeface="+mn-lt"/>
                  <a:ea typeface="+mn-ea"/>
                  <a:cs typeface="+mn-cs"/>
                </a:rPr>
              </a:br>
              <a:r>
                <a:rPr lang="es-419" sz="1650" dirty="0">
                  <a:solidFill>
                    <a:schemeClr val="dk1"/>
                  </a:solidFill>
                  <a:latin typeface="+mn-lt"/>
                  <a:ea typeface="+mn-ea"/>
                  <a:cs typeface="+mn-cs"/>
                </a:rPr>
                <a:t>Pydantic rechaza datos fuera de rango (422)</a:t>
              </a:r>
            </a:p>
          </p:txBody>
        </p:sp>
      </p:grpSp>
      <p:grpSp>
        <p:nvGrpSpPr>
          <p:cNvPr id="39" name="cicd"/>
          <p:cNvGrpSpPr/>
          <p:nvPr/>
        </p:nvGrpSpPr>
        <p:grpSpPr>
          <a:xfrm>
            <a:off x="6394704" y="4413250"/>
            <a:ext cx="5187696" cy="1199896"/>
            <a:chOff x="6394704" y="4413250"/>
            <a:chExt cx="5187696" cy="1199896"/>
          </a:xfrm>
        </p:grpSpPr>
        <p:sp>
          <p:nvSpPr>
            <p:cNvPr id="28" name="TextBox 28"/>
            <p:cNvSpPr txBox="1"/>
            <p:nvPr/>
          </p:nvSpPr>
          <p:spPr>
            <a:xfrm>
              <a:off x="6395085" y="4413250"/>
              <a:ext cx="2109145" cy="220028"/>
            </a:xfrm>
            <a:prstGeom prst="rect">
              <a:avLst/>
            </a:prstGeom>
            <a:noFill/>
            <a:ln>
              <a:noFill/>
            </a:ln>
          </p:spPr>
          <p:txBody>
            <a:bodyPr wrap="none" lIns="0" tIns="0" rIns="0" bIns="0" anchor="t" anchorCtr="0">
              <a:spAutoFit/>
            </a:bodyPr>
            <a:lstStyle/>
            <a:p>
              <a:pPr algn="l"/>
              <a:r>
                <a:rPr lang="es-419" sz="1120" b="1" dirty="0">
                  <a:solidFill>
                    <a:schemeClr val="accent5"/>
                  </a:solidFill>
                  <a:latin typeface="+mn-lt"/>
                  <a:ea typeface="+mn-ea"/>
                  <a:cs typeface="+mn-cs"/>
                </a:rPr>
                <a:t>CI/CD Y PRE-PRODUCCIÓN</a:t>
              </a:r>
            </a:p>
          </p:txBody>
        </p:sp>
        <p:grpSp>
          <p:nvGrpSpPr>
            <p:cNvPr id="35" name="Group 35"/>
            <p:cNvGrpSpPr/>
            <p:nvPr/>
          </p:nvGrpSpPr>
          <p:grpSpPr>
            <a:xfrm>
              <a:off x="6400800" y="4686300"/>
              <a:ext cx="5181600" cy="381000"/>
              <a:chOff x="6400800" y="4686300"/>
              <a:chExt cx="5181600" cy="381000"/>
            </a:xfrm>
          </p:grpSpPr>
          <p:sp>
            <p:nvSpPr>
              <p:cNvPr id="29" name="Rectangle 29"/>
              <p:cNvSpPr/>
              <p:nvPr/>
            </p:nvSpPr>
            <p:spPr>
              <a:xfrm>
                <a:off x="6400800" y="4686300"/>
                <a:ext cx="1524000" cy="381000"/>
              </a:xfrm>
              <a:prstGeom prst="rect">
                <a:avLst/>
              </a:prstGeom>
              <a:solidFill>
                <a:schemeClr val="lt2"/>
              </a:solidFill>
              <a:ln>
                <a:noFill/>
              </a:ln>
            </p:spPr>
          </p:sp>
          <p:sp>
            <p:nvSpPr>
              <p:cNvPr id="30" name="TextBox 30"/>
              <p:cNvSpPr txBox="1"/>
              <p:nvPr/>
            </p:nvSpPr>
            <p:spPr>
              <a:xfrm>
                <a:off x="6579184" y="4794250"/>
                <a:ext cx="1167232" cy="234696"/>
              </a:xfrm>
              <a:prstGeom prst="rect">
                <a:avLst/>
              </a:prstGeom>
              <a:noFill/>
              <a:ln>
                <a:noFill/>
              </a:ln>
            </p:spPr>
            <p:txBody>
              <a:bodyPr wrap="none" lIns="0" tIns="0" rIns="0" bIns="0" anchor="t" anchorCtr="0">
                <a:spAutoFit/>
              </a:bodyPr>
              <a:lstStyle/>
              <a:p>
                <a:pPr algn="ctr"/>
                <a:r>
                  <a:rPr lang="es-419" sz="1200" b="1" dirty="0">
                    <a:solidFill>
                      <a:schemeClr val="accent1"/>
                    </a:solidFill>
                    <a:latin typeface="Consolas"/>
                    <a:ea typeface="Consolas"/>
                    <a:cs typeface="Consolas"/>
                  </a:rPr>
                  <a:t>lint-and-test</a:t>
                </a:r>
              </a:p>
            </p:txBody>
          </p:sp>
          <p:sp>
            <p:nvSpPr>
              <p:cNvPr id="31" name="Rectangle 31"/>
              <p:cNvSpPr/>
              <p:nvPr/>
            </p:nvSpPr>
            <p:spPr>
              <a:xfrm>
                <a:off x="8229600" y="4686300"/>
                <a:ext cx="1524000" cy="381000"/>
              </a:xfrm>
              <a:prstGeom prst="rect">
                <a:avLst/>
              </a:prstGeom>
              <a:solidFill>
                <a:schemeClr val="lt2"/>
              </a:solidFill>
              <a:ln>
                <a:noFill/>
              </a:ln>
            </p:spPr>
          </p:sp>
          <p:sp>
            <p:nvSpPr>
              <p:cNvPr id="32" name="TextBox 32"/>
              <p:cNvSpPr txBox="1"/>
              <p:nvPr/>
            </p:nvSpPr>
            <p:spPr>
              <a:xfrm>
                <a:off x="8496833" y="4794250"/>
                <a:ext cx="989533" cy="234696"/>
              </a:xfrm>
              <a:prstGeom prst="rect">
                <a:avLst/>
              </a:prstGeom>
              <a:noFill/>
              <a:ln>
                <a:noFill/>
              </a:ln>
            </p:spPr>
            <p:txBody>
              <a:bodyPr wrap="none" lIns="0" tIns="0" rIns="0" bIns="0" anchor="t" anchorCtr="0">
                <a:spAutoFit/>
              </a:bodyPr>
              <a:lstStyle/>
              <a:p>
                <a:pPr algn="ctr"/>
                <a:r>
                  <a:rPr lang="es-419" sz="1200" b="1" dirty="0">
                    <a:solidFill>
                      <a:schemeClr val="accent1"/>
                    </a:solidFill>
                    <a:latin typeface="Consolas"/>
                    <a:ea typeface="Consolas"/>
                    <a:cs typeface="Consolas"/>
                  </a:rPr>
                  <a:t>ml-pipeline</a:t>
                </a:r>
              </a:p>
            </p:txBody>
          </p:sp>
          <p:sp>
            <p:nvSpPr>
              <p:cNvPr id="33" name="Rectangle 33"/>
              <p:cNvSpPr/>
              <p:nvPr/>
            </p:nvSpPr>
            <p:spPr>
              <a:xfrm>
                <a:off x="10058400" y="4686300"/>
                <a:ext cx="1524000" cy="381000"/>
              </a:xfrm>
              <a:prstGeom prst="rect">
                <a:avLst/>
              </a:prstGeom>
              <a:solidFill>
                <a:schemeClr val="lt2"/>
              </a:solidFill>
              <a:ln>
                <a:noFill/>
              </a:ln>
            </p:spPr>
          </p:sp>
          <p:sp>
            <p:nvSpPr>
              <p:cNvPr id="34" name="TextBox 34"/>
              <p:cNvSpPr txBox="1"/>
              <p:nvPr/>
            </p:nvSpPr>
            <p:spPr>
              <a:xfrm>
                <a:off x="10281209" y="4794250"/>
                <a:ext cx="1078382" cy="234696"/>
              </a:xfrm>
              <a:prstGeom prst="rect">
                <a:avLst/>
              </a:prstGeom>
              <a:noFill/>
              <a:ln>
                <a:noFill/>
              </a:ln>
            </p:spPr>
            <p:txBody>
              <a:bodyPr wrap="none" lIns="0" tIns="0" rIns="0" bIns="0" anchor="t" anchorCtr="0">
                <a:spAutoFit/>
              </a:bodyPr>
              <a:lstStyle/>
              <a:p>
                <a:pPr algn="ctr"/>
                <a:r>
                  <a:rPr lang="es-419" sz="1200" b="1" dirty="0">
                    <a:solidFill>
                      <a:schemeClr val="accent1"/>
                    </a:solidFill>
                    <a:latin typeface="Consolas"/>
                    <a:ea typeface="Consolas"/>
                    <a:cs typeface="Consolas"/>
                  </a:rPr>
                  <a:t>build-docker</a:t>
                </a:r>
              </a:p>
            </p:txBody>
          </p:sp>
        </p:grpSp>
        <p:sp>
          <p:nvSpPr>
            <p:cNvPr id="36" name="Line 36"/>
            <p:cNvSpPr/>
            <p:nvPr/>
          </p:nvSpPr>
          <p:spPr>
            <a:xfrm>
              <a:off x="7924800" y="4876800"/>
              <a:ext cx="285750" cy="1"/>
            </a:xfrm>
            <a:prstGeom prst="line">
              <a:avLst/>
            </a:prstGeom>
            <a:noFill/>
            <a:ln w="19050">
              <a:solidFill>
                <a:srgbClr val="5B6470"/>
              </a:solidFill>
              <a:tailEnd type="triangle" w="lg" len="lg"/>
            </a:ln>
          </p:spPr>
        </p:sp>
        <p:sp>
          <p:nvSpPr>
            <p:cNvPr id="37" name="Line 37"/>
            <p:cNvSpPr/>
            <p:nvPr/>
          </p:nvSpPr>
          <p:spPr>
            <a:xfrm>
              <a:off x="9753600" y="4876800"/>
              <a:ext cx="285750" cy="1"/>
            </a:xfrm>
            <a:prstGeom prst="line">
              <a:avLst/>
            </a:prstGeom>
            <a:noFill/>
            <a:ln w="19050">
              <a:solidFill>
                <a:srgbClr val="5B6470"/>
              </a:solidFill>
              <a:tailEnd type="triangle" w="lg" len="lg"/>
            </a:ln>
          </p:spPr>
        </p:sp>
        <p:sp>
          <p:nvSpPr>
            <p:cNvPr id="38" name="TextBox 38"/>
            <p:cNvSpPr txBox="1"/>
            <p:nvPr/>
          </p:nvSpPr>
          <p:spPr>
            <a:xfrm>
              <a:off x="6394704" y="5168900"/>
              <a:ext cx="4213586" cy="444246"/>
            </a:xfrm>
            <a:prstGeom prst="rect">
              <a:avLst/>
            </a:prstGeom>
            <a:noFill/>
            <a:ln>
              <a:noFill/>
            </a:ln>
          </p:spPr>
          <p:txBody>
            <a:bodyPr wrap="none" lIns="0" tIns="0" rIns="0" bIns="0" anchor="t" anchorCtr="0">
              <a:spAutoFit/>
            </a:bodyPr>
            <a:lstStyle/>
            <a:p>
              <a:pPr algn="l">
                <a:lnSpc>
                  <a:spcPts val="1650"/>
                </a:lnSpc>
              </a:pPr>
              <a:r>
                <a:rPr lang="es-419" sz="1200" dirty="0">
                  <a:solidFill>
                    <a:schemeClr val="accent5"/>
                  </a:solidFill>
                  <a:latin typeface="+mn-lt"/>
                  <a:ea typeface="+mn-ea"/>
                  <a:cs typeface="+mn-cs"/>
                </a:rPr>
                <a:t>Smoke tests contra el contenedor en cada push</a:t>
              </a:r>
              <a:br>
                <a:rPr lang="es-419" sz="1200" dirty="0">
                  <a:solidFill>
                    <a:schemeClr val="accent5"/>
                  </a:solidFill>
                  <a:latin typeface="+mn-lt"/>
                  <a:ea typeface="+mn-ea"/>
                  <a:cs typeface="+mn-cs"/>
                </a:rPr>
              </a:br>
              <a:r>
                <a:rPr lang="es-419" sz="1200" dirty="0">
                  <a:solidFill>
                    <a:schemeClr val="accent5"/>
                  </a:solidFill>
                  <a:latin typeface="+mn-lt"/>
                  <a:ea typeface="+mn-ea"/>
                  <a:cs typeface="+mn-cs"/>
                </a:rPr>
                <a:t>Pre-prod: mlflow → trainer → api, que carga desde el Registry</a:t>
              </a:r>
            </a:p>
          </p:txBody>
        </p:sp>
      </p:grpSp>
      <p:grpSp>
        <p:nvGrpSpPr>
          <p:cNvPr id="42" name="footer"/>
          <p:cNvGrpSpPr/>
          <p:nvPr/>
        </p:nvGrpSpPr>
        <p:grpSpPr>
          <a:xfrm>
            <a:off x="603504" y="6381750"/>
            <a:ext cx="10984992" cy="234696"/>
            <a:chOff x="603504" y="6381750"/>
            <a:chExt cx="10984992" cy="234696"/>
          </a:xfrm>
        </p:grpSpPr>
        <p:sp>
          <p:nvSpPr>
            <p:cNvPr id="40" name="TextBox 40"/>
            <p:cNvSpPr txBox="1"/>
            <p:nvPr/>
          </p:nvSpPr>
          <p:spPr>
            <a:xfrm>
              <a:off x="603504" y="6381750"/>
              <a:ext cx="3405319" cy="234696"/>
            </a:xfrm>
            <a:prstGeom prst="rect">
              <a:avLst/>
            </a:prstGeom>
            <a:noFill/>
            <a:ln>
              <a:noFill/>
            </a:ln>
          </p:spPr>
          <p:txBody>
            <a:bodyPr wrap="none" lIns="0" tIns="0" rIns="0" bIns="0" anchor="t" anchorCtr="0">
              <a:spAutoFit/>
            </a:bodyPr>
            <a:lstStyle/>
            <a:p>
              <a:pPr algn="l"/>
              <a:r>
                <a:rPr lang="es-419" sz="1200" dirty="0">
                  <a:solidFill>
                    <a:schemeClr val="accent5"/>
                  </a:solidFill>
                  <a:latin typeface="+mn-lt"/>
                  <a:ea typeface="+mn-ea"/>
                  <a:cs typeface="+mn-cs"/>
                </a:rPr>
                <a:t>Proyecto Final MLOps · Prevención de Infartos</a:t>
              </a:r>
            </a:p>
          </p:txBody>
        </p:sp>
        <p:sp>
          <p:nvSpPr>
            <p:cNvPr id="41" name="TextBox 41"/>
            <p:cNvSpPr txBox="1"/>
            <p:nvPr/>
          </p:nvSpPr>
          <p:spPr>
            <a:xfrm>
              <a:off x="11082270" y="6381750"/>
              <a:ext cx="506226" cy="234696"/>
            </a:xfrm>
            <a:prstGeom prst="rect">
              <a:avLst/>
            </a:prstGeom>
            <a:noFill/>
            <a:ln>
              <a:noFill/>
            </a:ln>
          </p:spPr>
          <p:txBody>
            <a:bodyPr wrap="none" lIns="0" tIns="0" rIns="0" bIns="0" anchor="t" anchorCtr="0">
              <a:spAutoFit/>
            </a:bodyPr>
            <a:lstStyle/>
            <a:p>
              <a:pPr algn="r"/>
              <a:r>
                <a:rPr lang="es-419" sz="1200" dirty="0">
                  <a:solidFill>
                    <a:schemeClr val="accent5"/>
                  </a:solidFill>
                  <a:latin typeface="+mn-lt"/>
                  <a:ea typeface="+mn-ea"/>
                  <a:cs typeface="+mn-cs"/>
                </a:rPr>
                <a:t>08 / 10</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4360" y="584200"/>
            <a:ext cx="10988040" cy="1387475"/>
            <a:chOff x="594360" y="584200"/>
            <a:chExt cx="10988040" cy="1387475"/>
          </a:xfrm>
        </p:grpSpPr>
        <p:sp>
          <p:nvSpPr>
            <p:cNvPr id="2" name="TextBox 2"/>
            <p:cNvSpPr txBox="1"/>
            <p:nvPr/>
          </p:nvSpPr>
          <p:spPr>
            <a:xfrm>
              <a:off x="603885" y="584200"/>
              <a:ext cx="2206514" cy="220028"/>
            </a:xfrm>
            <a:prstGeom prst="rect">
              <a:avLst/>
            </a:prstGeom>
            <a:noFill/>
            <a:ln>
              <a:noFill/>
            </a:ln>
          </p:spPr>
          <p:txBody>
            <a:bodyPr wrap="none" lIns="0" tIns="0" rIns="0" bIns="0" anchor="t" anchorCtr="0">
              <a:spAutoFit/>
            </a:bodyPr>
            <a:lstStyle/>
            <a:p>
              <a:pPr algn="l"/>
              <a:r>
                <a:rPr lang="es-419" sz="1120" b="1" dirty="0">
                  <a:solidFill>
                    <a:schemeClr val="accent5"/>
                  </a:solidFill>
                  <a:latin typeface="+mn-lt"/>
                  <a:ea typeface="+mn-ea"/>
                  <a:cs typeface="+mn-cs"/>
                </a:rPr>
                <a:t>08 · MONITOREO · UNIDAD 9</a:t>
              </a:r>
            </a:p>
          </p:txBody>
        </p:sp>
        <p:sp>
          <p:nvSpPr>
            <p:cNvPr id="3" name="TextBox 3"/>
            <p:cNvSpPr txBox="1"/>
            <p:nvPr/>
          </p:nvSpPr>
          <p:spPr>
            <a:xfrm>
              <a:off x="594360" y="850900"/>
              <a:ext cx="6509537" cy="1062990"/>
            </a:xfrm>
            <a:prstGeom prst="rect">
              <a:avLst/>
            </a:prstGeom>
            <a:noFill/>
            <a:ln>
              <a:noFill/>
            </a:ln>
          </p:spPr>
          <p:txBody>
            <a:bodyPr wrap="none" lIns="0" tIns="0" rIns="0" bIns="0" anchor="t" anchorCtr="0">
              <a:spAutoFit/>
            </a:bodyPr>
            <a:lstStyle/>
            <a:p>
              <a:pPr algn="l">
                <a:lnSpc>
                  <a:spcPts val="3750"/>
                </a:lnSpc>
              </a:pPr>
              <a:r>
                <a:rPr lang="es-419" sz="3000" b="1" dirty="0">
                  <a:solidFill>
                    <a:schemeClr val="accent1"/>
                  </a:solidFill>
                  <a:latin typeface="+mn-lt"/>
                  <a:ea typeface="+mn-ea"/>
                  <a:cs typeface="+mn-cs"/>
                </a:rPr>
                <a:t>El monitoreo semanal avisa cuando</a:t>
              </a:r>
              <a:br>
                <a:rPr lang="es-419" sz="3000" b="1" dirty="0">
                  <a:solidFill>
                    <a:schemeClr val="accent1"/>
                  </a:solidFill>
                  <a:latin typeface="+mn-lt"/>
                  <a:ea typeface="+mn-ea"/>
                  <a:cs typeface="+mn-cs"/>
                </a:rPr>
              </a:br>
              <a:r>
                <a:rPr lang="es-419" sz="3000" b="1" dirty="0">
                  <a:solidFill>
                    <a:schemeClr val="accent1"/>
                  </a:solidFill>
                  <a:latin typeface="+mn-lt"/>
                  <a:ea typeface="+mn-ea"/>
                  <a:cs typeface="+mn-cs"/>
                </a:rPr>
                <a:t>la población de asegurados cambia</a:t>
              </a:r>
            </a:p>
          </p:txBody>
        </p:sp>
        <p:sp>
          <p:nvSpPr>
            <p:cNvPr id="4" name="Line 4"/>
            <p:cNvSpPr/>
            <p:nvPr/>
          </p:nvSpPr>
          <p:spPr>
            <a:xfrm>
              <a:off x="609600" y="19621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7" name="grafico-psi"/>
          <p:cNvGrpSpPr/>
          <p:nvPr/>
        </p:nvGrpSpPr>
        <p:grpSpPr>
          <a:xfrm>
            <a:off x="609600" y="2155627"/>
            <a:ext cx="7048500" cy="3137297"/>
            <a:chOff x="609600" y="2155627"/>
            <a:chExt cx="7048500" cy="3137297"/>
          </a:xfrm>
        </p:grpSpPr>
        <p:pic>
          <p:nvPicPr>
            <p:cNvPr id="6" name="Image 6"/>
            <p:cNvPicPr>
              <a:picLocks noChangeAspect="1"/>
            </p:cNvPicPr>
            <p:nvPr/>
          </p:nvPicPr>
          <p:blipFill>
            <a:blip r:embed="rId2"/>
            <a:stretch>
              <a:fillRect/>
            </a:stretch>
          </p:blipFill>
          <p:spPr>
            <a:xfrm>
              <a:off x="609600" y="2155627"/>
              <a:ext cx="7048500" cy="3137297"/>
            </a:xfrm>
            <a:prstGeom prst="rect">
              <a:avLst/>
            </a:prstGeom>
          </p:spPr>
        </p:pic>
      </p:grpSp>
      <p:grpSp>
        <p:nvGrpSpPr>
          <p:cNvPr id="14" name="lote-simulado"/>
          <p:cNvGrpSpPr/>
          <p:nvPr/>
        </p:nvGrpSpPr>
        <p:grpSpPr>
          <a:xfrm>
            <a:off x="7992618" y="2184400"/>
            <a:ext cx="3573750" cy="1783207"/>
            <a:chOff x="7992618" y="2184400"/>
            <a:chExt cx="3573750" cy="1783207"/>
          </a:xfrm>
        </p:grpSpPr>
        <p:sp>
          <p:nvSpPr>
            <p:cNvPr id="8" name="TextBox 8"/>
            <p:cNvSpPr txBox="1"/>
            <p:nvPr/>
          </p:nvSpPr>
          <p:spPr>
            <a:xfrm>
              <a:off x="7995285" y="2184400"/>
              <a:ext cx="3286182" cy="220028"/>
            </a:xfrm>
            <a:prstGeom prst="rect">
              <a:avLst/>
            </a:prstGeom>
            <a:noFill/>
            <a:ln>
              <a:noFill/>
            </a:ln>
          </p:spPr>
          <p:txBody>
            <a:bodyPr wrap="none" lIns="0" tIns="0" rIns="0" bIns="0" anchor="t" anchorCtr="0">
              <a:spAutoFit/>
            </a:bodyPr>
            <a:lstStyle/>
            <a:p>
              <a:pPr algn="l"/>
              <a:r>
                <a:rPr lang="es-419" sz="1120" b="1" dirty="0">
                  <a:solidFill>
                    <a:schemeClr val="accent5"/>
                  </a:solidFill>
                  <a:latin typeface="+mn-lt"/>
                  <a:ea typeface="+mn-ea"/>
                  <a:cs typeface="+mn-cs"/>
                </a:rPr>
                <a:t>LOTE SIMULADO · DATOS DE ESCENARIO</a:t>
              </a:r>
            </a:p>
          </p:txBody>
        </p:sp>
        <p:sp>
          <p:nvSpPr>
            <p:cNvPr id="9" name="TextBox 9"/>
            <p:cNvSpPr txBox="1"/>
            <p:nvPr/>
          </p:nvSpPr>
          <p:spPr>
            <a:xfrm>
              <a:off x="7992618" y="2451100"/>
              <a:ext cx="2451484" cy="608457"/>
            </a:xfrm>
            <a:prstGeom prst="rect">
              <a:avLst/>
            </a:prstGeom>
            <a:noFill/>
            <a:ln>
              <a:noFill/>
            </a:ln>
          </p:spPr>
          <p:txBody>
            <a:bodyPr wrap="none" lIns="0" tIns="0" rIns="0" bIns="0" anchor="t" anchorCtr="0">
              <a:spAutoFit/>
            </a:bodyPr>
            <a:lstStyle/>
            <a:p>
              <a:pPr algn="l">
                <a:lnSpc>
                  <a:spcPts val="2250"/>
                </a:lnSpc>
              </a:pPr>
              <a:r>
                <a:rPr lang="es-419" sz="1650" dirty="0">
                  <a:solidFill>
                    <a:schemeClr val="dk1"/>
                  </a:solidFill>
                  <a:latin typeface="+mn-lt"/>
                  <a:ea typeface="+mn-ea"/>
                  <a:cs typeface="+mn-cs"/>
                </a:rPr>
                <a:t>Población más envejecida</a:t>
              </a:r>
              <a:br>
                <a:rPr lang="es-419" sz="1650" dirty="0">
                  <a:solidFill>
                    <a:schemeClr val="dk1"/>
                  </a:solidFill>
                  <a:latin typeface="+mn-lt"/>
                  <a:ea typeface="+mn-ea"/>
                  <a:cs typeface="+mn-cs"/>
                </a:rPr>
              </a:br>
              <a:r>
                <a:rPr lang="es-419" sz="1650" dirty="0">
                  <a:solidFill>
                    <a:schemeClr val="dk1"/>
                  </a:solidFill>
                  <a:latin typeface="+mn-lt"/>
                  <a:ea typeface="+mn-ea"/>
                  <a:cs typeface="+mn-cs"/>
                </a:rPr>
                <a:t>y con más diabetes</a:t>
              </a:r>
            </a:p>
          </p:txBody>
        </p:sp>
        <p:sp>
          <p:nvSpPr>
            <p:cNvPr id="10" name="Freeform 10"/>
            <p:cNvSpPr/>
            <p:nvPr/>
          </p:nvSpPr>
          <p:spPr>
            <a:xfrm>
              <a:off x="8010538" y="3257058"/>
              <a:ext cx="247496" cy="214761"/>
            </a:xfrm>
            <a:custGeom>
              <a:avLst/>
              <a:gdLst/>
              <a:ahLst/>
              <a:cxnLst/>
              <a:rect l="l" t="t" r="r" b="b"/>
              <a:pathLst>
                <a:path w="247496" h="214761">
                  <a:moveTo>
                    <a:pt x="123812" y="0"/>
                  </a:moveTo>
                  <a:cubicBezTo>
                    <a:pt x="134425" y="0"/>
                    <a:pt x="144315" y="5190"/>
                    <a:pt x="150371" y="13857"/>
                  </a:cubicBezTo>
                  <a:lnTo>
                    <a:pt x="151538" y="15635"/>
                  </a:lnTo>
                  <a:lnTo>
                    <a:pt x="241705" y="166188"/>
                  </a:lnTo>
                  <a:cubicBezTo>
                    <a:pt x="247275" y="175835"/>
                    <a:pt x="247496" y="187668"/>
                    <a:pt x="242289" y="197516"/>
                  </a:cubicBezTo>
                  <a:cubicBezTo>
                    <a:pt x="237081" y="207364"/>
                    <a:pt x="227178" y="213844"/>
                    <a:pt x="216069" y="214672"/>
                  </a:cubicBezTo>
                  <a:lnTo>
                    <a:pt x="213902" y="214761"/>
                  </a:lnTo>
                  <a:lnTo>
                    <a:pt x="33601" y="214761"/>
                  </a:lnTo>
                  <a:cubicBezTo>
                    <a:pt x="22481" y="214636"/>
                    <a:pt x="12203" y="208813"/>
                    <a:pt x="6379" y="199340"/>
                  </a:cubicBezTo>
                  <a:cubicBezTo>
                    <a:pt x="555" y="189866"/>
                    <a:pt x="0" y="178067"/>
                    <a:pt x="4908" y="168088"/>
                  </a:cubicBezTo>
                  <a:lnTo>
                    <a:pt x="6009" y="166032"/>
                  </a:lnTo>
                  <a:lnTo>
                    <a:pt x="96131" y="15591"/>
                  </a:lnTo>
                  <a:cubicBezTo>
                    <a:pt x="102000" y="5914"/>
                    <a:pt x="112495" y="2"/>
                    <a:pt x="123812" y="0"/>
                  </a:cubicBezTo>
                  <a:close/>
                  <a:moveTo>
                    <a:pt x="123924" y="148130"/>
                  </a:moveTo>
                  <a:lnTo>
                    <a:pt x="122512" y="148208"/>
                  </a:lnTo>
                  <a:cubicBezTo>
                    <a:pt x="116922" y="148873"/>
                    <a:pt x="112712" y="153613"/>
                    <a:pt x="112712" y="159243"/>
                  </a:cubicBezTo>
                  <a:cubicBezTo>
                    <a:pt x="112712" y="164872"/>
                    <a:pt x="116922" y="169612"/>
                    <a:pt x="122512" y="170277"/>
                  </a:cubicBezTo>
                  <a:lnTo>
                    <a:pt x="123812" y="170355"/>
                  </a:lnTo>
                  <a:lnTo>
                    <a:pt x="125224" y="170277"/>
                  </a:lnTo>
                  <a:cubicBezTo>
                    <a:pt x="130814" y="169612"/>
                    <a:pt x="135024" y="164872"/>
                    <a:pt x="135024" y="159243"/>
                  </a:cubicBezTo>
                  <a:cubicBezTo>
                    <a:pt x="135024" y="153613"/>
                    <a:pt x="130814" y="148873"/>
                    <a:pt x="125224" y="148208"/>
                  </a:cubicBezTo>
                  <a:lnTo>
                    <a:pt x="123924" y="148130"/>
                  </a:lnTo>
                  <a:close/>
                  <a:moveTo>
                    <a:pt x="123812" y="70342"/>
                  </a:moveTo>
                  <a:cubicBezTo>
                    <a:pt x="118179" y="70343"/>
                    <a:pt x="113437" y="74560"/>
                    <a:pt x="112778" y="80155"/>
                  </a:cubicBezTo>
                  <a:lnTo>
                    <a:pt x="112700" y="81455"/>
                  </a:lnTo>
                  <a:lnTo>
                    <a:pt x="112700" y="125905"/>
                  </a:lnTo>
                  <a:lnTo>
                    <a:pt x="112778" y="127205"/>
                  </a:lnTo>
                  <a:cubicBezTo>
                    <a:pt x="113443" y="132795"/>
                    <a:pt x="118183" y="137005"/>
                    <a:pt x="123812" y="137005"/>
                  </a:cubicBezTo>
                  <a:cubicBezTo>
                    <a:pt x="129442" y="137005"/>
                    <a:pt x="134182" y="132795"/>
                    <a:pt x="134847" y="127205"/>
                  </a:cubicBezTo>
                  <a:lnTo>
                    <a:pt x="134925" y="125905"/>
                  </a:lnTo>
                  <a:lnTo>
                    <a:pt x="134925" y="81455"/>
                  </a:lnTo>
                  <a:lnTo>
                    <a:pt x="134847" y="80155"/>
                  </a:lnTo>
                  <a:cubicBezTo>
                    <a:pt x="134188" y="74560"/>
                    <a:pt x="129446" y="70343"/>
                    <a:pt x="123812" y="70342"/>
                  </a:cubicBezTo>
                  <a:close/>
                </a:path>
              </a:pathLst>
            </a:custGeom>
            <a:solidFill>
              <a:schemeClr val="accent2"/>
            </a:solidFill>
            <a:ln>
              <a:noFill/>
            </a:ln>
          </p:spPr>
        </p:sp>
        <p:sp>
          <p:nvSpPr>
            <p:cNvPr id="11" name="TextBox 11"/>
            <p:cNvSpPr txBox="1"/>
            <p:nvPr/>
          </p:nvSpPr>
          <p:spPr>
            <a:xfrm>
              <a:off x="8354568" y="3244850"/>
              <a:ext cx="2904537" cy="322707"/>
            </a:xfrm>
            <a:prstGeom prst="rect">
              <a:avLst/>
            </a:prstGeom>
            <a:noFill/>
            <a:ln>
              <a:noFill/>
            </a:ln>
          </p:spPr>
          <p:txBody>
            <a:bodyPr wrap="none" lIns="0" tIns="0" rIns="0" bIns="0" anchor="t" anchorCtr="0">
              <a:spAutoFit/>
            </a:bodyPr>
            <a:lstStyle/>
            <a:p>
              <a:pPr algn="l"/>
              <a:r>
                <a:rPr lang="es-419" sz="1650" b="1" dirty="0">
                  <a:solidFill>
                    <a:schemeClr val="accent1"/>
                  </a:solidFill>
                  <a:latin typeface="+mn-lt"/>
                  <a:ea typeface="+mn-ea"/>
                  <a:cs typeface="+mn-cs"/>
                </a:rPr>
                <a:t>Edad: PSI 0,326 · CRÍTICO</a:t>
              </a:r>
            </a:p>
          </p:txBody>
        </p:sp>
        <p:sp>
          <p:nvSpPr>
            <p:cNvPr id="12" name="Freeform 12"/>
            <p:cNvSpPr/>
            <p:nvPr/>
          </p:nvSpPr>
          <p:spPr>
            <a:xfrm>
              <a:off x="8010538" y="3657108"/>
              <a:ext cx="247496" cy="214761"/>
            </a:xfrm>
            <a:custGeom>
              <a:avLst/>
              <a:gdLst/>
              <a:ahLst/>
              <a:cxnLst/>
              <a:rect l="l" t="t" r="r" b="b"/>
              <a:pathLst>
                <a:path w="247496" h="214761">
                  <a:moveTo>
                    <a:pt x="123812" y="0"/>
                  </a:moveTo>
                  <a:cubicBezTo>
                    <a:pt x="134425" y="0"/>
                    <a:pt x="144315" y="5190"/>
                    <a:pt x="150371" y="13857"/>
                  </a:cubicBezTo>
                  <a:lnTo>
                    <a:pt x="151538" y="15635"/>
                  </a:lnTo>
                  <a:lnTo>
                    <a:pt x="241705" y="166188"/>
                  </a:lnTo>
                  <a:cubicBezTo>
                    <a:pt x="247275" y="175835"/>
                    <a:pt x="247496" y="187668"/>
                    <a:pt x="242289" y="197516"/>
                  </a:cubicBezTo>
                  <a:cubicBezTo>
                    <a:pt x="237081" y="207364"/>
                    <a:pt x="227178" y="213844"/>
                    <a:pt x="216069" y="214672"/>
                  </a:cubicBezTo>
                  <a:lnTo>
                    <a:pt x="213902" y="214761"/>
                  </a:lnTo>
                  <a:lnTo>
                    <a:pt x="33601" y="214761"/>
                  </a:lnTo>
                  <a:cubicBezTo>
                    <a:pt x="22481" y="214636"/>
                    <a:pt x="12203" y="208813"/>
                    <a:pt x="6379" y="199340"/>
                  </a:cubicBezTo>
                  <a:cubicBezTo>
                    <a:pt x="555" y="189866"/>
                    <a:pt x="0" y="178067"/>
                    <a:pt x="4908" y="168088"/>
                  </a:cubicBezTo>
                  <a:lnTo>
                    <a:pt x="6009" y="166032"/>
                  </a:lnTo>
                  <a:lnTo>
                    <a:pt x="96131" y="15591"/>
                  </a:lnTo>
                  <a:cubicBezTo>
                    <a:pt x="102000" y="5914"/>
                    <a:pt x="112495" y="2"/>
                    <a:pt x="123812" y="0"/>
                  </a:cubicBezTo>
                  <a:close/>
                  <a:moveTo>
                    <a:pt x="123924" y="148130"/>
                  </a:moveTo>
                  <a:lnTo>
                    <a:pt x="122512" y="148208"/>
                  </a:lnTo>
                  <a:cubicBezTo>
                    <a:pt x="116922" y="148873"/>
                    <a:pt x="112712" y="153613"/>
                    <a:pt x="112712" y="159243"/>
                  </a:cubicBezTo>
                  <a:cubicBezTo>
                    <a:pt x="112712" y="164872"/>
                    <a:pt x="116922" y="169612"/>
                    <a:pt x="122512" y="170277"/>
                  </a:cubicBezTo>
                  <a:lnTo>
                    <a:pt x="123812" y="170355"/>
                  </a:lnTo>
                  <a:lnTo>
                    <a:pt x="125224" y="170277"/>
                  </a:lnTo>
                  <a:cubicBezTo>
                    <a:pt x="130814" y="169612"/>
                    <a:pt x="135024" y="164872"/>
                    <a:pt x="135024" y="159243"/>
                  </a:cubicBezTo>
                  <a:cubicBezTo>
                    <a:pt x="135024" y="153613"/>
                    <a:pt x="130814" y="148873"/>
                    <a:pt x="125224" y="148208"/>
                  </a:cubicBezTo>
                  <a:lnTo>
                    <a:pt x="123924" y="148130"/>
                  </a:lnTo>
                  <a:close/>
                  <a:moveTo>
                    <a:pt x="123812" y="70342"/>
                  </a:moveTo>
                  <a:cubicBezTo>
                    <a:pt x="118179" y="70343"/>
                    <a:pt x="113437" y="74560"/>
                    <a:pt x="112778" y="80155"/>
                  </a:cubicBezTo>
                  <a:lnTo>
                    <a:pt x="112700" y="81455"/>
                  </a:lnTo>
                  <a:lnTo>
                    <a:pt x="112700" y="125905"/>
                  </a:lnTo>
                  <a:lnTo>
                    <a:pt x="112778" y="127205"/>
                  </a:lnTo>
                  <a:cubicBezTo>
                    <a:pt x="113443" y="132795"/>
                    <a:pt x="118183" y="137005"/>
                    <a:pt x="123812" y="137005"/>
                  </a:cubicBezTo>
                  <a:cubicBezTo>
                    <a:pt x="129442" y="137005"/>
                    <a:pt x="134182" y="132795"/>
                    <a:pt x="134847" y="127205"/>
                  </a:cubicBezTo>
                  <a:lnTo>
                    <a:pt x="134925" y="125905"/>
                  </a:lnTo>
                  <a:lnTo>
                    <a:pt x="134925" y="81455"/>
                  </a:lnTo>
                  <a:lnTo>
                    <a:pt x="134847" y="80155"/>
                  </a:lnTo>
                  <a:cubicBezTo>
                    <a:pt x="134188" y="74560"/>
                    <a:pt x="129446" y="70343"/>
                    <a:pt x="123812" y="70342"/>
                  </a:cubicBezTo>
                  <a:close/>
                </a:path>
              </a:pathLst>
            </a:custGeom>
            <a:solidFill>
              <a:srgbClr val="FAB219"/>
            </a:solidFill>
            <a:ln>
              <a:noFill/>
            </a:ln>
          </p:spPr>
        </p:sp>
        <p:sp>
          <p:nvSpPr>
            <p:cNvPr id="13" name="TextBox 13"/>
            <p:cNvSpPr txBox="1"/>
            <p:nvPr/>
          </p:nvSpPr>
          <p:spPr>
            <a:xfrm>
              <a:off x="8354568" y="3644900"/>
              <a:ext cx="3211800" cy="322707"/>
            </a:xfrm>
            <a:prstGeom prst="rect">
              <a:avLst/>
            </a:prstGeom>
            <a:noFill/>
            <a:ln>
              <a:noFill/>
            </a:ln>
          </p:spPr>
          <p:txBody>
            <a:bodyPr wrap="none" lIns="0" tIns="0" rIns="0" bIns="0" anchor="t" anchorCtr="0">
              <a:spAutoFit/>
            </a:bodyPr>
            <a:lstStyle/>
            <a:p>
              <a:pPr algn="l"/>
              <a:r>
                <a:rPr lang="es-419" sz="1650" b="1" dirty="0">
                  <a:solidFill>
                    <a:schemeClr val="accent1"/>
                  </a:solidFill>
                  <a:latin typeface="+mn-lt"/>
                  <a:ea typeface="+mn-ea"/>
                  <a:cs typeface="+mn-cs"/>
                </a:rPr>
                <a:t>Glucosa: PSI 0,195 · ALERTA</a:t>
              </a:r>
            </a:p>
          </p:txBody>
        </p:sp>
      </p:grpSp>
      <p:grpSp>
        <p:nvGrpSpPr>
          <p:cNvPr id="17" name="regla-reentrenamiento"/>
          <p:cNvGrpSpPr/>
          <p:nvPr/>
        </p:nvGrpSpPr>
        <p:grpSpPr>
          <a:xfrm>
            <a:off x="7994904" y="4203700"/>
            <a:ext cx="2543100" cy="895096"/>
            <a:chOff x="7994904" y="4203700"/>
            <a:chExt cx="2543100" cy="895096"/>
          </a:xfrm>
        </p:grpSpPr>
        <p:sp>
          <p:nvSpPr>
            <p:cNvPr id="15" name="TextBox 15"/>
            <p:cNvSpPr txBox="1"/>
            <p:nvPr/>
          </p:nvSpPr>
          <p:spPr>
            <a:xfrm>
              <a:off x="7995285" y="4203700"/>
              <a:ext cx="2542719" cy="220028"/>
            </a:xfrm>
            <a:prstGeom prst="rect">
              <a:avLst/>
            </a:prstGeom>
            <a:noFill/>
            <a:ln>
              <a:noFill/>
            </a:ln>
          </p:spPr>
          <p:txBody>
            <a:bodyPr wrap="none" lIns="0" tIns="0" rIns="0" bIns="0" anchor="t" anchorCtr="0">
              <a:spAutoFit/>
            </a:bodyPr>
            <a:lstStyle/>
            <a:p>
              <a:pPr algn="l"/>
              <a:r>
                <a:rPr lang="es-419" sz="1120" b="1" dirty="0">
                  <a:solidFill>
                    <a:schemeClr val="accent5"/>
                  </a:solidFill>
                  <a:latin typeface="+mn-lt"/>
                  <a:ea typeface="+mn-ea"/>
                  <a:cs typeface="+mn-cs"/>
                </a:rPr>
                <a:t>REGLA DE RE-ENTRENAMIENTO</a:t>
              </a:r>
            </a:p>
          </p:txBody>
        </p:sp>
        <p:sp>
          <p:nvSpPr>
            <p:cNvPr id="16" name="TextBox 16"/>
            <p:cNvSpPr txBox="1"/>
            <p:nvPr/>
          </p:nvSpPr>
          <p:spPr>
            <a:xfrm>
              <a:off x="7994904" y="4445000"/>
              <a:ext cx="2510424" cy="653796"/>
            </a:xfrm>
            <a:prstGeom prst="rect">
              <a:avLst/>
            </a:prstGeom>
            <a:noFill/>
            <a:ln>
              <a:noFill/>
            </a:ln>
          </p:spPr>
          <p:txBody>
            <a:bodyPr wrap="none" lIns="0" tIns="0" rIns="0" bIns="0" anchor="t" anchorCtr="0">
              <a:spAutoFit/>
            </a:bodyPr>
            <a:lstStyle/>
            <a:p>
              <a:pPr algn="l">
                <a:lnSpc>
                  <a:spcPts val="1650"/>
                </a:lnSpc>
              </a:pPr>
              <a:r>
                <a:rPr lang="es-419" sz="1200" dirty="0">
                  <a:solidFill>
                    <a:schemeClr val="dk1"/>
                  </a:solidFill>
                  <a:latin typeface="+mn-lt"/>
                  <a:ea typeface="+mn-ea"/>
                  <a:cs typeface="+mn-cs"/>
                </a:rPr>
                <a:t>PSI ≥ 0,25 en alguna variable, o más</a:t>
              </a:r>
              <a:br>
                <a:rPr lang="es-419" sz="1200" dirty="0">
                  <a:solidFill>
                    <a:schemeClr val="dk1"/>
                  </a:solidFill>
                  <a:latin typeface="+mn-lt"/>
                  <a:ea typeface="+mn-ea"/>
                  <a:cs typeface="+mn-cs"/>
                </a:rPr>
              </a:br>
              <a:r>
                <a:rPr lang="es-419" sz="1200" dirty="0">
                  <a:solidFill>
                    <a:schemeClr val="dk1"/>
                  </a:solidFill>
                  <a:latin typeface="+mn-lt"/>
                  <a:ea typeface="+mn-ea"/>
                  <a:cs typeface="+mn-cs"/>
                </a:rPr>
                <a:t>del 30% de variables con drift:</a:t>
              </a:r>
              <a:br>
                <a:rPr lang="es-419" sz="1200" dirty="0">
                  <a:solidFill>
                    <a:schemeClr val="dk1"/>
                  </a:solidFill>
                  <a:latin typeface="+mn-lt"/>
                  <a:ea typeface="+mn-ea"/>
                  <a:cs typeface="+mn-cs"/>
                </a:rPr>
              </a:br>
              <a:r>
                <a:rPr lang="es-419" sz="1200" dirty="0">
                  <a:solidFill>
                    <a:schemeClr val="dk1"/>
                  </a:solidFill>
                  <a:latin typeface="+mn-lt"/>
                  <a:ea typeface="+mn-ea"/>
                  <a:cs typeface="+mn-cs"/>
                </a:rPr>
                <a:t>el job falla y GitHub avisa por email</a:t>
              </a:r>
            </a:p>
          </p:txBody>
        </p:sp>
      </p:grpSp>
      <p:grpSp>
        <p:nvGrpSpPr>
          <p:cNvPr id="22" name="cron"/>
          <p:cNvGrpSpPr/>
          <p:nvPr/>
        </p:nvGrpSpPr>
        <p:grpSpPr>
          <a:xfrm>
            <a:off x="609600" y="5486400"/>
            <a:ext cx="10972800" cy="685800"/>
            <a:chOff x="609600" y="5486400"/>
            <a:chExt cx="10972800" cy="685800"/>
          </a:xfrm>
        </p:grpSpPr>
        <p:sp>
          <p:nvSpPr>
            <p:cNvPr id="18" name="Rectangle 18"/>
            <p:cNvSpPr/>
            <p:nvPr/>
          </p:nvSpPr>
          <p:spPr>
            <a:xfrm>
              <a:off x="609600" y="5486400"/>
              <a:ext cx="10972800" cy="685800"/>
            </a:xfrm>
            <a:prstGeom prst="rect">
              <a:avLst/>
            </a:prstGeom>
            <a:solidFill>
              <a:schemeClr val="lt2"/>
            </a:solidFill>
            <a:ln>
              <a:noFill/>
            </a:ln>
          </p:spPr>
        </p:sp>
        <p:sp>
          <p:nvSpPr>
            <p:cNvPr id="19" name="Freeform 19"/>
            <p:cNvSpPr/>
            <p:nvPr/>
          </p:nvSpPr>
          <p:spPr>
            <a:xfrm>
              <a:off x="863600" y="5696611"/>
              <a:ext cx="267081" cy="267518"/>
            </a:xfrm>
            <a:custGeom>
              <a:avLst/>
              <a:gdLst/>
              <a:ahLst/>
              <a:cxnLst/>
              <a:rect l="l" t="t" r="r" b="b"/>
              <a:pathLst>
                <a:path w="267081" h="267518">
                  <a:moveTo>
                    <a:pt x="190500" y="22707"/>
                  </a:moveTo>
                  <a:cubicBezTo>
                    <a:pt x="243425" y="53266"/>
                    <a:pt x="267081" y="117187"/>
                    <a:pt x="246798" y="174837"/>
                  </a:cubicBezTo>
                  <a:cubicBezTo>
                    <a:pt x="226516" y="232488"/>
                    <a:pt x="168049" y="267518"/>
                    <a:pt x="107648" y="258207"/>
                  </a:cubicBezTo>
                  <a:cubicBezTo>
                    <a:pt x="47247" y="248896"/>
                    <a:pt x="2043" y="197886"/>
                    <a:pt x="63" y="136803"/>
                  </a:cubicBezTo>
                  <a:lnTo>
                    <a:pt x="0" y="132688"/>
                  </a:lnTo>
                  <a:lnTo>
                    <a:pt x="63" y="128574"/>
                  </a:lnTo>
                  <a:cubicBezTo>
                    <a:pt x="1510" y="83958"/>
                    <a:pt x="26274" y="43379"/>
                    <a:pt x="65289" y="21689"/>
                  </a:cubicBezTo>
                  <a:cubicBezTo>
                    <a:pt x="104304" y="0"/>
                    <a:pt x="151842" y="386"/>
                    <a:pt x="190500" y="22707"/>
                  </a:cubicBezTo>
                  <a:close/>
                  <a:moveTo>
                    <a:pt x="186778" y="72910"/>
                  </a:moveTo>
                  <a:cubicBezTo>
                    <a:pt x="181819" y="67952"/>
                    <a:pt x="173780" y="67952"/>
                    <a:pt x="168821" y="72910"/>
                  </a:cubicBezTo>
                  <a:lnTo>
                    <a:pt x="135928" y="105803"/>
                  </a:lnTo>
                  <a:lnTo>
                    <a:pt x="134874" y="106996"/>
                  </a:lnTo>
                  <a:lnTo>
                    <a:pt x="134010" y="108266"/>
                  </a:lnTo>
                  <a:cubicBezTo>
                    <a:pt x="126661" y="106159"/>
                    <a:pt x="118754" y="107472"/>
                    <a:pt x="112481" y="111841"/>
                  </a:cubicBezTo>
                  <a:cubicBezTo>
                    <a:pt x="106207" y="116211"/>
                    <a:pt x="102234" y="123172"/>
                    <a:pt x="101663" y="130796"/>
                  </a:cubicBezTo>
                  <a:lnTo>
                    <a:pt x="101600" y="132688"/>
                  </a:lnTo>
                  <a:lnTo>
                    <a:pt x="101663" y="134593"/>
                  </a:lnTo>
                  <a:cubicBezTo>
                    <a:pt x="102391" y="144260"/>
                    <a:pt x="108558" y="152670"/>
                    <a:pt x="117559" y="156270"/>
                  </a:cubicBezTo>
                  <a:cubicBezTo>
                    <a:pt x="126559" y="159870"/>
                    <a:pt x="136825" y="158033"/>
                    <a:pt x="144018" y="151535"/>
                  </a:cubicBezTo>
                  <a:cubicBezTo>
                    <a:pt x="151212" y="145036"/>
                    <a:pt x="154079" y="135010"/>
                    <a:pt x="151409" y="125691"/>
                  </a:cubicBezTo>
                  <a:cubicBezTo>
                    <a:pt x="152314" y="125156"/>
                    <a:pt x="153146" y="124507"/>
                    <a:pt x="153886" y="123760"/>
                  </a:cubicBezTo>
                  <a:lnTo>
                    <a:pt x="186778" y="90867"/>
                  </a:lnTo>
                  <a:lnTo>
                    <a:pt x="187833" y="89674"/>
                  </a:lnTo>
                  <a:cubicBezTo>
                    <a:pt x="191754" y="84618"/>
                    <a:pt x="191303" y="77434"/>
                    <a:pt x="186778" y="72910"/>
                  </a:cubicBezTo>
                  <a:close/>
                  <a:moveTo>
                    <a:pt x="127000" y="56489"/>
                  </a:moveTo>
                  <a:cubicBezTo>
                    <a:pt x="106790" y="56489"/>
                    <a:pt x="87409" y="64517"/>
                    <a:pt x="73118" y="78807"/>
                  </a:cubicBezTo>
                  <a:cubicBezTo>
                    <a:pt x="58828" y="93097"/>
                    <a:pt x="50800" y="112479"/>
                    <a:pt x="50800" y="132688"/>
                  </a:cubicBezTo>
                  <a:cubicBezTo>
                    <a:pt x="50800" y="139702"/>
                    <a:pt x="56486" y="145388"/>
                    <a:pt x="63500" y="145388"/>
                  </a:cubicBezTo>
                  <a:cubicBezTo>
                    <a:pt x="70514" y="145388"/>
                    <a:pt x="76200" y="139702"/>
                    <a:pt x="76200" y="132688"/>
                  </a:cubicBezTo>
                  <a:cubicBezTo>
                    <a:pt x="76200" y="104632"/>
                    <a:pt x="98944" y="81889"/>
                    <a:pt x="127000" y="81889"/>
                  </a:cubicBezTo>
                  <a:cubicBezTo>
                    <a:pt x="134014" y="81889"/>
                    <a:pt x="139700" y="76203"/>
                    <a:pt x="139700" y="69189"/>
                  </a:cubicBezTo>
                  <a:cubicBezTo>
                    <a:pt x="139700" y="62175"/>
                    <a:pt x="134014" y="56489"/>
                    <a:pt x="127000" y="56489"/>
                  </a:cubicBezTo>
                  <a:close/>
                </a:path>
              </a:pathLst>
            </a:custGeom>
            <a:solidFill>
              <a:schemeClr val="accent1"/>
            </a:solidFill>
            <a:ln>
              <a:noFill/>
            </a:ln>
          </p:spPr>
        </p:sp>
        <p:sp>
          <p:nvSpPr>
            <p:cNvPr id="20" name="TextBox 20"/>
            <p:cNvSpPr txBox="1"/>
            <p:nvPr/>
          </p:nvSpPr>
          <p:spPr>
            <a:xfrm>
              <a:off x="1287018" y="5568950"/>
              <a:ext cx="7556983" cy="322707"/>
            </a:xfrm>
            <a:prstGeom prst="rect">
              <a:avLst/>
            </a:prstGeom>
            <a:noFill/>
            <a:ln>
              <a:noFill/>
            </a:ln>
          </p:spPr>
          <p:txBody>
            <a:bodyPr wrap="none" lIns="0" tIns="0" rIns="0" bIns="0" anchor="t" anchorCtr="0">
              <a:spAutoFit/>
            </a:bodyPr>
            <a:lstStyle/>
            <a:p>
              <a:pPr algn="l"/>
              <a:r>
                <a:rPr lang="es-419" sz="1650" b="1" dirty="0">
                  <a:solidFill>
                    <a:schemeClr val="accent1"/>
                  </a:solidFill>
                  <a:latin typeface="+mn-lt"/>
                  <a:ea typeface="+mn-ea"/>
                  <a:cs typeface="+mn-cs"/>
                </a:rPr>
                <a:t>monitoreo_drift.yml corre cada lunes a las 8:00 UTC en GitHub Actions</a:t>
              </a:r>
            </a:p>
          </p:txBody>
        </p:sp>
        <p:sp>
          <p:nvSpPr>
            <p:cNvPr id="21" name="TextBox 21"/>
            <p:cNvSpPr txBox="1"/>
            <p:nvPr/>
          </p:nvSpPr>
          <p:spPr>
            <a:xfrm>
              <a:off x="1289304" y="5867400"/>
              <a:ext cx="5854096" cy="234696"/>
            </a:xfrm>
            <a:prstGeom prst="rect">
              <a:avLst/>
            </a:prstGeom>
            <a:noFill/>
            <a:ln>
              <a:noFill/>
            </a:ln>
          </p:spPr>
          <p:txBody>
            <a:bodyPr wrap="none" lIns="0" tIns="0" rIns="0" bIns="0" anchor="t" anchorCtr="0">
              <a:spAutoFit/>
            </a:bodyPr>
            <a:lstStyle/>
            <a:p>
              <a:pPr algn="l"/>
              <a:r>
                <a:rPr lang="es-419" sz="1200" dirty="0">
                  <a:solidFill>
                    <a:schemeClr val="accent5"/>
                  </a:solidFill>
                  <a:latin typeface="+mn-lt"/>
                  <a:ea typeface="+mn-ea"/>
                  <a:cs typeface="+mn-cs"/>
                </a:rPr>
                <a:t>El modelo re-entrenado solo reemplaza al actual si aprueba el mismo quality gate</a:t>
              </a:r>
            </a:p>
          </p:txBody>
        </p:sp>
      </p:grpSp>
      <p:grpSp>
        <p:nvGrpSpPr>
          <p:cNvPr id="25" name="footer"/>
          <p:cNvGrpSpPr/>
          <p:nvPr/>
        </p:nvGrpSpPr>
        <p:grpSpPr>
          <a:xfrm>
            <a:off x="603504" y="6381750"/>
            <a:ext cx="10984992" cy="234696"/>
            <a:chOff x="603504" y="6381750"/>
            <a:chExt cx="10984992" cy="234696"/>
          </a:xfrm>
        </p:grpSpPr>
        <p:sp>
          <p:nvSpPr>
            <p:cNvPr id="23" name="TextBox 23"/>
            <p:cNvSpPr txBox="1"/>
            <p:nvPr/>
          </p:nvSpPr>
          <p:spPr>
            <a:xfrm>
              <a:off x="603504" y="6381750"/>
              <a:ext cx="3405319" cy="234696"/>
            </a:xfrm>
            <a:prstGeom prst="rect">
              <a:avLst/>
            </a:prstGeom>
            <a:noFill/>
            <a:ln>
              <a:noFill/>
            </a:ln>
          </p:spPr>
          <p:txBody>
            <a:bodyPr wrap="none" lIns="0" tIns="0" rIns="0" bIns="0" anchor="t" anchorCtr="0">
              <a:spAutoFit/>
            </a:bodyPr>
            <a:lstStyle/>
            <a:p>
              <a:pPr algn="l"/>
              <a:r>
                <a:rPr lang="es-419" sz="1200" dirty="0">
                  <a:solidFill>
                    <a:schemeClr val="accent5"/>
                  </a:solidFill>
                  <a:latin typeface="+mn-lt"/>
                  <a:ea typeface="+mn-ea"/>
                  <a:cs typeface="+mn-cs"/>
                </a:rPr>
                <a:t>Proyecto Final MLOps · Prevención de Infartos</a:t>
              </a:r>
            </a:p>
          </p:txBody>
        </p:sp>
        <p:sp>
          <p:nvSpPr>
            <p:cNvPr id="24" name="TextBox 24"/>
            <p:cNvSpPr txBox="1"/>
            <p:nvPr/>
          </p:nvSpPr>
          <p:spPr>
            <a:xfrm>
              <a:off x="11082270" y="6381750"/>
              <a:ext cx="506226" cy="234696"/>
            </a:xfrm>
            <a:prstGeom prst="rect">
              <a:avLst/>
            </a:prstGeom>
            <a:noFill/>
            <a:ln>
              <a:noFill/>
            </a:ln>
          </p:spPr>
          <p:txBody>
            <a:bodyPr wrap="none" lIns="0" tIns="0" rIns="0" bIns="0" anchor="t" anchorCtr="0">
              <a:spAutoFit/>
            </a:bodyPr>
            <a:lstStyle/>
            <a:p>
              <a:pPr algn="r"/>
              <a:r>
                <a:rPr lang="es-419" sz="1200" dirty="0">
                  <a:solidFill>
                    <a:schemeClr val="accent5"/>
                  </a:solidFill>
                  <a:latin typeface="+mn-lt"/>
                  <a:ea typeface="+mn-ea"/>
                  <a:cs typeface="+mn-cs"/>
                </a:rPr>
                <a:t>09 / 10</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4360" y="584200"/>
            <a:ext cx="10988040" cy="1387475"/>
            <a:chOff x="594360" y="584200"/>
            <a:chExt cx="10988040" cy="1387475"/>
          </a:xfrm>
        </p:grpSpPr>
        <p:sp>
          <p:nvSpPr>
            <p:cNvPr id="2" name="TextBox 2"/>
            <p:cNvSpPr txBox="1"/>
            <p:nvPr/>
          </p:nvSpPr>
          <p:spPr>
            <a:xfrm>
              <a:off x="603885" y="584200"/>
              <a:ext cx="932139" cy="220028"/>
            </a:xfrm>
            <a:prstGeom prst="rect">
              <a:avLst/>
            </a:prstGeom>
            <a:noFill/>
            <a:ln>
              <a:noFill/>
            </a:ln>
          </p:spPr>
          <p:txBody>
            <a:bodyPr wrap="none" lIns="0" tIns="0" rIns="0" bIns="0" anchor="t" anchorCtr="0">
              <a:spAutoFit/>
            </a:bodyPr>
            <a:lstStyle/>
            <a:p>
              <a:pPr algn="l"/>
              <a:r>
                <a:rPr lang="es-419" sz="1120" b="1" dirty="0">
                  <a:solidFill>
                    <a:schemeClr val="accent5"/>
                  </a:solidFill>
                  <a:latin typeface="+mn-lt"/>
                  <a:ea typeface="+mn-ea"/>
                  <a:cs typeface="+mn-cs"/>
                </a:rPr>
                <a:t>09 · CIERRE</a:t>
              </a:r>
            </a:p>
          </p:txBody>
        </p:sp>
        <p:sp>
          <p:nvSpPr>
            <p:cNvPr id="3" name="TextBox 3"/>
            <p:cNvSpPr txBox="1"/>
            <p:nvPr/>
          </p:nvSpPr>
          <p:spPr>
            <a:xfrm>
              <a:off x="594360" y="850900"/>
              <a:ext cx="6063691" cy="1062990"/>
            </a:xfrm>
            <a:prstGeom prst="rect">
              <a:avLst/>
            </a:prstGeom>
            <a:noFill/>
            <a:ln>
              <a:noFill/>
            </a:ln>
          </p:spPr>
          <p:txBody>
            <a:bodyPr wrap="none" lIns="0" tIns="0" rIns="0" bIns="0" anchor="t" anchorCtr="0">
              <a:spAutoFit/>
            </a:bodyPr>
            <a:lstStyle/>
            <a:p>
              <a:pPr algn="l">
                <a:lnSpc>
                  <a:spcPts val="3750"/>
                </a:lnSpc>
              </a:pPr>
              <a:r>
                <a:rPr lang="es-419" sz="3000" b="1" dirty="0">
                  <a:solidFill>
                    <a:schemeClr val="accent1"/>
                  </a:solidFill>
                  <a:latin typeface="+mn-lt"/>
                  <a:ea typeface="+mn-ea"/>
                  <a:cs typeface="+mn-cs"/>
                </a:rPr>
                <a:t>Las 10 unidades del curso,</a:t>
              </a:r>
              <a:br>
                <a:rPr lang="es-419" sz="3000" b="1" dirty="0">
                  <a:solidFill>
                    <a:schemeClr val="accent1"/>
                  </a:solidFill>
                  <a:latin typeface="+mn-lt"/>
                  <a:ea typeface="+mn-ea"/>
                  <a:cs typeface="+mn-cs"/>
                </a:rPr>
              </a:br>
              <a:r>
                <a:rPr lang="es-419" sz="3000" b="1" dirty="0">
                  <a:solidFill>
                    <a:schemeClr val="accent1"/>
                  </a:solidFill>
                  <a:latin typeface="+mn-lt"/>
                  <a:ea typeface="+mn-ea"/>
                  <a:cs typeface="+mn-cs"/>
                </a:rPr>
                <a:t>integradas en un solo repositorio</a:t>
              </a:r>
            </a:p>
          </p:txBody>
        </p:sp>
        <p:sp>
          <p:nvSpPr>
            <p:cNvPr id="4" name="Line 4"/>
            <p:cNvSpPr/>
            <p:nvPr/>
          </p:nvSpPr>
          <p:spPr>
            <a:xfrm>
              <a:off x="609600" y="19621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50" name="grilla-unidades"/>
          <p:cNvGrpSpPr/>
          <p:nvPr/>
        </p:nvGrpSpPr>
        <p:grpSpPr>
          <a:xfrm>
            <a:off x="609600" y="2152650"/>
            <a:ext cx="10972800" cy="2590800"/>
            <a:chOff x="609600" y="2152650"/>
            <a:chExt cx="10972800" cy="2590800"/>
          </a:xfrm>
        </p:grpSpPr>
        <p:grpSp>
          <p:nvGrpSpPr>
            <p:cNvPr id="16" name="Group 16"/>
            <p:cNvGrpSpPr/>
            <p:nvPr/>
          </p:nvGrpSpPr>
          <p:grpSpPr>
            <a:xfrm>
              <a:off x="609600" y="2152650"/>
              <a:ext cx="10972800" cy="2590800"/>
              <a:chOff x="609600" y="2152650"/>
              <a:chExt cx="10972800" cy="2590800"/>
            </a:xfrm>
          </p:grpSpPr>
          <p:sp>
            <p:nvSpPr>
              <p:cNvPr id="6" name="Rectangle 6"/>
              <p:cNvSpPr/>
              <p:nvPr/>
            </p:nvSpPr>
            <p:spPr>
              <a:xfrm>
                <a:off x="609600" y="2152650"/>
                <a:ext cx="2072640" cy="1219200"/>
              </a:xfrm>
              <a:prstGeom prst="rect">
                <a:avLst/>
              </a:prstGeom>
              <a:solidFill>
                <a:schemeClr val="lt2"/>
              </a:solidFill>
              <a:ln>
                <a:noFill/>
              </a:ln>
            </p:spPr>
          </p:sp>
          <p:sp>
            <p:nvSpPr>
              <p:cNvPr id="7" name="Rectangle 7"/>
              <p:cNvSpPr/>
              <p:nvPr/>
            </p:nvSpPr>
            <p:spPr>
              <a:xfrm>
                <a:off x="2834640" y="2152650"/>
                <a:ext cx="2072640" cy="1219200"/>
              </a:xfrm>
              <a:prstGeom prst="rect">
                <a:avLst/>
              </a:prstGeom>
              <a:solidFill>
                <a:schemeClr val="lt2"/>
              </a:solidFill>
              <a:ln>
                <a:noFill/>
              </a:ln>
            </p:spPr>
          </p:sp>
          <p:sp>
            <p:nvSpPr>
              <p:cNvPr id="8" name="Rectangle 8"/>
              <p:cNvSpPr/>
              <p:nvPr/>
            </p:nvSpPr>
            <p:spPr>
              <a:xfrm>
                <a:off x="5059680" y="2152650"/>
                <a:ext cx="2072640" cy="1219200"/>
              </a:xfrm>
              <a:prstGeom prst="rect">
                <a:avLst/>
              </a:prstGeom>
              <a:solidFill>
                <a:schemeClr val="lt2"/>
              </a:solidFill>
              <a:ln>
                <a:noFill/>
              </a:ln>
            </p:spPr>
          </p:sp>
          <p:sp>
            <p:nvSpPr>
              <p:cNvPr id="9" name="Rectangle 9"/>
              <p:cNvSpPr/>
              <p:nvPr/>
            </p:nvSpPr>
            <p:spPr>
              <a:xfrm>
                <a:off x="7284720" y="2152650"/>
                <a:ext cx="2072640" cy="1219200"/>
              </a:xfrm>
              <a:prstGeom prst="rect">
                <a:avLst/>
              </a:prstGeom>
              <a:solidFill>
                <a:schemeClr val="lt2"/>
              </a:solidFill>
              <a:ln>
                <a:noFill/>
              </a:ln>
            </p:spPr>
          </p:sp>
          <p:sp>
            <p:nvSpPr>
              <p:cNvPr id="10" name="Rectangle 10"/>
              <p:cNvSpPr/>
              <p:nvPr/>
            </p:nvSpPr>
            <p:spPr>
              <a:xfrm>
                <a:off x="9509760" y="2152650"/>
                <a:ext cx="2072640" cy="1219200"/>
              </a:xfrm>
              <a:prstGeom prst="rect">
                <a:avLst/>
              </a:prstGeom>
              <a:solidFill>
                <a:schemeClr val="lt2"/>
              </a:solidFill>
              <a:ln>
                <a:noFill/>
              </a:ln>
            </p:spPr>
          </p:sp>
          <p:sp>
            <p:nvSpPr>
              <p:cNvPr id="11" name="Rectangle 11"/>
              <p:cNvSpPr/>
              <p:nvPr/>
            </p:nvSpPr>
            <p:spPr>
              <a:xfrm>
                <a:off x="609600" y="3524250"/>
                <a:ext cx="2072640" cy="1219200"/>
              </a:xfrm>
              <a:prstGeom prst="rect">
                <a:avLst/>
              </a:prstGeom>
              <a:solidFill>
                <a:schemeClr val="lt2"/>
              </a:solidFill>
              <a:ln>
                <a:noFill/>
              </a:ln>
            </p:spPr>
          </p:sp>
          <p:sp>
            <p:nvSpPr>
              <p:cNvPr id="12" name="Rectangle 12"/>
              <p:cNvSpPr/>
              <p:nvPr/>
            </p:nvSpPr>
            <p:spPr>
              <a:xfrm>
                <a:off x="2834640" y="3524250"/>
                <a:ext cx="2072640" cy="1219200"/>
              </a:xfrm>
              <a:prstGeom prst="rect">
                <a:avLst/>
              </a:prstGeom>
              <a:solidFill>
                <a:schemeClr val="lt2"/>
              </a:solidFill>
              <a:ln>
                <a:noFill/>
              </a:ln>
            </p:spPr>
          </p:sp>
          <p:sp>
            <p:nvSpPr>
              <p:cNvPr id="13" name="Rectangle 13"/>
              <p:cNvSpPr/>
              <p:nvPr/>
            </p:nvSpPr>
            <p:spPr>
              <a:xfrm>
                <a:off x="5059680" y="3524250"/>
                <a:ext cx="2072640" cy="1219200"/>
              </a:xfrm>
              <a:prstGeom prst="rect">
                <a:avLst/>
              </a:prstGeom>
              <a:solidFill>
                <a:schemeClr val="lt2"/>
              </a:solidFill>
              <a:ln>
                <a:noFill/>
              </a:ln>
            </p:spPr>
          </p:sp>
          <p:sp>
            <p:nvSpPr>
              <p:cNvPr id="14" name="Rectangle 14"/>
              <p:cNvSpPr/>
              <p:nvPr/>
            </p:nvSpPr>
            <p:spPr>
              <a:xfrm>
                <a:off x="7284720" y="3524250"/>
                <a:ext cx="2072640" cy="1219200"/>
              </a:xfrm>
              <a:prstGeom prst="rect">
                <a:avLst/>
              </a:prstGeom>
              <a:solidFill>
                <a:schemeClr val="lt2"/>
              </a:solidFill>
              <a:ln>
                <a:noFill/>
              </a:ln>
            </p:spPr>
          </p:sp>
          <p:sp>
            <p:nvSpPr>
              <p:cNvPr id="15" name="Rectangle 15"/>
              <p:cNvSpPr/>
              <p:nvPr/>
            </p:nvSpPr>
            <p:spPr>
              <a:xfrm>
                <a:off x="9509760" y="3524250"/>
                <a:ext cx="2072640" cy="1219200"/>
              </a:xfrm>
              <a:prstGeom prst="rect">
                <a:avLst/>
              </a:prstGeom>
              <a:solidFill>
                <a:schemeClr val="lt2"/>
              </a:solidFill>
              <a:ln>
                <a:noFill/>
              </a:ln>
            </p:spPr>
          </p:sp>
        </p:grpSp>
        <p:grpSp>
          <p:nvGrpSpPr>
            <p:cNvPr id="27" name="Group 27"/>
            <p:cNvGrpSpPr/>
            <p:nvPr/>
          </p:nvGrpSpPr>
          <p:grpSpPr>
            <a:xfrm>
              <a:off x="789432" y="2317750"/>
              <a:ext cx="9469498" cy="1782318"/>
              <a:chOff x="789432" y="2317750"/>
              <a:chExt cx="9469498" cy="1782318"/>
            </a:xfrm>
          </p:grpSpPr>
          <p:sp>
            <p:nvSpPr>
              <p:cNvPr id="17" name="TextBox 17"/>
              <p:cNvSpPr txBox="1"/>
              <p:nvPr/>
            </p:nvSpPr>
            <p:spPr>
              <a:xfrm>
                <a:off x="789432" y="2317750"/>
                <a:ext cx="403199" cy="410718"/>
              </a:xfrm>
              <a:prstGeom prst="rect">
                <a:avLst/>
              </a:prstGeom>
              <a:noFill/>
              <a:ln>
                <a:noFill/>
              </a:ln>
            </p:spPr>
            <p:txBody>
              <a:bodyPr wrap="none" lIns="0" tIns="0" rIns="0" bIns="0" anchor="t" anchorCtr="0">
                <a:spAutoFit/>
              </a:bodyPr>
              <a:lstStyle/>
              <a:p>
                <a:pPr algn="l"/>
                <a:r>
                  <a:rPr lang="es-419" sz="2100" b="1" dirty="0">
                    <a:solidFill>
                      <a:schemeClr val="accent1"/>
                    </a:solidFill>
                    <a:latin typeface="+mn-lt"/>
                    <a:ea typeface="+mn-ea"/>
                    <a:cs typeface="+mn-cs"/>
                  </a:rPr>
                  <a:t>U1</a:t>
                </a:r>
              </a:p>
            </p:txBody>
          </p:sp>
          <p:sp>
            <p:nvSpPr>
              <p:cNvPr id="18" name="TextBox 18"/>
              <p:cNvSpPr txBox="1"/>
              <p:nvPr/>
            </p:nvSpPr>
            <p:spPr>
              <a:xfrm>
                <a:off x="3014472" y="2317750"/>
                <a:ext cx="403199" cy="410718"/>
              </a:xfrm>
              <a:prstGeom prst="rect">
                <a:avLst/>
              </a:prstGeom>
              <a:noFill/>
              <a:ln>
                <a:noFill/>
              </a:ln>
            </p:spPr>
            <p:txBody>
              <a:bodyPr wrap="none" lIns="0" tIns="0" rIns="0" bIns="0" anchor="t" anchorCtr="0">
                <a:spAutoFit/>
              </a:bodyPr>
              <a:lstStyle/>
              <a:p>
                <a:pPr algn="l"/>
                <a:r>
                  <a:rPr lang="es-419" sz="2100" b="1" dirty="0">
                    <a:solidFill>
                      <a:schemeClr val="accent1"/>
                    </a:solidFill>
                    <a:latin typeface="+mn-lt"/>
                    <a:ea typeface="+mn-ea"/>
                    <a:cs typeface="+mn-cs"/>
                  </a:rPr>
                  <a:t>U2</a:t>
                </a:r>
              </a:p>
            </p:txBody>
          </p:sp>
          <p:sp>
            <p:nvSpPr>
              <p:cNvPr id="19" name="TextBox 19"/>
              <p:cNvSpPr txBox="1"/>
              <p:nvPr/>
            </p:nvSpPr>
            <p:spPr>
              <a:xfrm>
                <a:off x="5239512" y="2317750"/>
                <a:ext cx="403199" cy="410718"/>
              </a:xfrm>
              <a:prstGeom prst="rect">
                <a:avLst/>
              </a:prstGeom>
              <a:noFill/>
              <a:ln>
                <a:noFill/>
              </a:ln>
            </p:spPr>
            <p:txBody>
              <a:bodyPr wrap="none" lIns="0" tIns="0" rIns="0" bIns="0" anchor="t" anchorCtr="0">
                <a:spAutoFit/>
              </a:bodyPr>
              <a:lstStyle/>
              <a:p>
                <a:pPr algn="l"/>
                <a:r>
                  <a:rPr lang="es-419" sz="2100" b="1" dirty="0">
                    <a:solidFill>
                      <a:schemeClr val="accent1"/>
                    </a:solidFill>
                    <a:latin typeface="+mn-lt"/>
                    <a:ea typeface="+mn-ea"/>
                    <a:cs typeface="+mn-cs"/>
                  </a:rPr>
                  <a:t>U3</a:t>
                </a:r>
              </a:p>
            </p:txBody>
          </p:sp>
          <p:sp>
            <p:nvSpPr>
              <p:cNvPr id="20" name="TextBox 20"/>
              <p:cNvSpPr txBox="1"/>
              <p:nvPr/>
            </p:nvSpPr>
            <p:spPr>
              <a:xfrm>
                <a:off x="7464552" y="2317750"/>
                <a:ext cx="403199" cy="410718"/>
              </a:xfrm>
              <a:prstGeom prst="rect">
                <a:avLst/>
              </a:prstGeom>
              <a:noFill/>
              <a:ln>
                <a:noFill/>
              </a:ln>
            </p:spPr>
            <p:txBody>
              <a:bodyPr wrap="none" lIns="0" tIns="0" rIns="0" bIns="0" anchor="t" anchorCtr="0">
                <a:spAutoFit/>
              </a:bodyPr>
              <a:lstStyle/>
              <a:p>
                <a:pPr algn="l"/>
                <a:r>
                  <a:rPr lang="es-419" sz="2100" b="1" dirty="0">
                    <a:solidFill>
                      <a:schemeClr val="accent1"/>
                    </a:solidFill>
                    <a:latin typeface="+mn-lt"/>
                    <a:ea typeface="+mn-ea"/>
                    <a:cs typeface="+mn-cs"/>
                  </a:rPr>
                  <a:t>U4</a:t>
                </a:r>
              </a:p>
            </p:txBody>
          </p:sp>
          <p:sp>
            <p:nvSpPr>
              <p:cNvPr id="21" name="TextBox 21"/>
              <p:cNvSpPr txBox="1"/>
              <p:nvPr/>
            </p:nvSpPr>
            <p:spPr>
              <a:xfrm>
                <a:off x="9689592" y="2317750"/>
                <a:ext cx="403199" cy="410718"/>
              </a:xfrm>
              <a:prstGeom prst="rect">
                <a:avLst/>
              </a:prstGeom>
              <a:noFill/>
              <a:ln>
                <a:noFill/>
              </a:ln>
            </p:spPr>
            <p:txBody>
              <a:bodyPr wrap="none" lIns="0" tIns="0" rIns="0" bIns="0" anchor="t" anchorCtr="0">
                <a:spAutoFit/>
              </a:bodyPr>
              <a:lstStyle/>
              <a:p>
                <a:pPr algn="l"/>
                <a:r>
                  <a:rPr lang="es-419" sz="2100" b="1" dirty="0">
                    <a:solidFill>
                      <a:schemeClr val="accent1"/>
                    </a:solidFill>
                    <a:latin typeface="+mn-lt"/>
                    <a:ea typeface="+mn-ea"/>
                    <a:cs typeface="+mn-cs"/>
                  </a:rPr>
                  <a:t>U5</a:t>
                </a:r>
              </a:p>
            </p:txBody>
          </p:sp>
          <p:sp>
            <p:nvSpPr>
              <p:cNvPr id="22" name="TextBox 22"/>
              <p:cNvSpPr txBox="1"/>
              <p:nvPr/>
            </p:nvSpPr>
            <p:spPr>
              <a:xfrm>
                <a:off x="789432" y="3689350"/>
                <a:ext cx="403199" cy="410718"/>
              </a:xfrm>
              <a:prstGeom prst="rect">
                <a:avLst/>
              </a:prstGeom>
              <a:noFill/>
              <a:ln>
                <a:noFill/>
              </a:ln>
            </p:spPr>
            <p:txBody>
              <a:bodyPr wrap="none" lIns="0" tIns="0" rIns="0" bIns="0" anchor="t" anchorCtr="0">
                <a:spAutoFit/>
              </a:bodyPr>
              <a:lstStyle/>
              <a:p>
                <a:pPr algn="l"/>
                <a:r>
                  <a:rPr lang="es-419" sz="2100" b="1" dirty="0">
                    <a:solidFill>
                      <a:schemeClr val="accent1"/>
                    </a:solidFill>
                    <a:latin typeface="+mn-lt"/>
                    <a:ea typeface="+mn-ea"/>
                    <a:cs typeface="+mn-cs"/>
                  </a:rPr>
                  <a:t>U6</a:t>
                </a:r>
              </a:p>
            </p:txBody>
          </p:sp>
          <p:sp>
            <p:nvSpPr>
              <p:cNvPr id="23" name="TextBox 23"/>
              <p:cNvSpPr txBox="1"/>
              <p:nvPr/>
            </p:nvSpPr>
            <p:spPr>
              <a:xfrm>
                <a:off x="3014472" y="3689350"/>
                <a:ext cx="403199" cy="410718"/>
              </a:xfrm>
              <a:prstGeom prst="rect">
                <a:avLst/>
              </a:prstGeom>
              <a:noFill/>
              <a:ln>
                <a:noFill/>
              </a:ln>
            </p:spPr>
            <p:txBody>
              <a:bodyPr wrap="none" lIns="0" tIns="0" rIns="0" bIns="0" anchor="t" anchorCtr="0">
                <a:spAutoFit/>
              </a:bodyPr>
              <a:lstStyle/>
              <a:p>
                <a:pPr algn="l"/>
                <a:r>
                  <a:rPr lang="es-419" sz="2100" b="1" dirty="0">
                    <a:solidFill>
                      <a:schemeClr val="accent1"/>
                    </a:solidFill>
                    <a:latin typeface="+mn-lt"/>
                    <a:ea typeface="+mn-ea"/>
                    <a:cs typeface="+mn-cs"/>
                  </a:rPr>
                  <a:t>U7</a:t>
                </a:r>
              </a:p>
            </p:txBody>
          </p:sp>
          <p:sp>
            <p:nvSpPr>
              <p:cNvPr id="24" name="TextBox 24"/>
              <p:cNvSpPr txBox="1"/>
              <p:nvPr/>
            </p:nvSpPr>
            <p:spPr>
              <a:xfrm>
                <a:off x="5239512" y="3689350"/>
                <a:ext cx="403199" cy="410718"/>
              </a:xfrm>
              <a:prstGeom prst="rect">
                <a:avLst/>
              </a:prstGeom>
              <a:noFill/>
              <a:ln>
                <a:noFill/>
              </a:ln>
            </p:spPr>
            <p:txBody>
              <a:bodyPr wrap="none" lIns="0" tIns="0" rIns="0" bIns="0" anchor="t" anchorCtr="0">
                <a:spAutoFit/>
              </a:bodyPr>
              <a:lstStyle/>
              <a:p>
                <a:pPr algn="l"/>
                <a:r>
                  <a:rPr lang="es-419" sz="2100" b="1" dirty="0">
                    <a:solidFill>
                      <a:schemeClr val="accent1"/>
                    </a:solidFill>
                    <a:latin typeface="+mn-lt"/>
                    <a:ea typeface="+mn-ea"/>
                    <a:cs typeface="+mn-cs"/>
                  </a:rPr>
                  <a:t>U8</a:t>
                </a:r>
              </a:p>
            </p:txBody>
          </p:sp>
          <p:sp>
            <p:nvSpPr>
              <p:cNvPr id="25" name="TextBox 25"/>
              <p:cNvSpPr txBox="1"/>
              <p:nvPr/>
            </p:nvSpPr>
            <p:spPr>
              <a:xfrm>
                <a:off x="7464552" y="3689350"/>
                <a:ext cx="403199" cy="410718"/>
              </a:xfrm>
              <a:prstGeom prst="rect">
                <a:avLst/>
              </a:prstGeom>
              <a:noFill/>
              <a:ln>
                <a:noFill/>
              </a:ln>
            </p:spPr>
            <p:txBody>
              <a:bodyPr wrap="none" lIns="0" tIns="0" rIns="0" bIns="0" anchor="t" anchorCtr="0">
                <a:spAutoFit/>
              </a:bodyPr>
              <a:lstStyle/>
              <a:p>
                <a:pPr algn="l"/>
                <a:r>
                  <a:rPr lang="es-419" sz="2100" b="1" dirty="0">
                    <a:solidFill>
                      <a:schemeClr val="accent1"/>
                    </a:solidFill>
                    <a:latin typeface="+mn-lt"/>
                    <a:ea typeface="+mn-ea"/>
                    <a:cs typeface="+mn-cs"/>
                  </a:rPr>
                  <a:t>U9</a:t>
                </a:r>
              </a:p>
            </p:txBody>
          </p:sp>
          <p:sp>
            <p:nvSpPr>
              <p:cNvPr id="26" name="TextBox 26"/>
              <p:cNvSpPr txBox="1"/>
              <p:nvPr/>
            </p:nvSpPr>
            <p:spPr>
              <a:xfrm>
                <a:off x="9689592" y="3689350"/>
                <a:ext cx="569338" cy="410718"/>
              </a:xfrm>
              <a:prstGeom prst="rect">
                <a:avLst/>
              </a:prstGeom>
              <a:noFill/>
              <a:ln>
                <a:noFill/>
              </a:ln>
            </p:spPr>
            <p:txBody>
              <a:bodyPr wrap="none" lIns="0" tIns="0" rIns="0" bIns="0" anchor="t" anchorCtr="0">
                <a:spAutoFit/>
              </a:bodyPr>
              <a:lstStyle/>
              <a:p>
                <a:pPr algn="l"/>
                <a:r>
                  <a:rPr lang="es-419" sz="2100" b="1" dirty="0">
                    <a:solidFill>
                      <a:schemeClr val="accent1"/>
                    </a:solidFill>
                    <a:latin typeface="+mn-lt"/>
                    <a:ea typeface="+mn-ea"/>
                    <a:cs typeface="+mn-cs"/>
                  </a:rPr>
                  <a:t>U10</a:t>
                </a:r>
              </a:p>
            </p:txBody>
          </p:sp>
        </p:grpSp>
        <p:grpSp>
          <p:nvGrpSpPr>
            <p:cNvPr id="38" name="Group 38"/>
            <p:cNvGrpSpPr/>
            <p:nvPr/>
          </p:nvGrpSpPr>
          <p:grpSpPr>
            <a:xfrm>
              <a:off x="794004" y="2743200"/>
              <a:ext cx="10274699" cy="1606296"/>
              <a:chOff x="794004" y="2743200"/>
              <a:chExt cx="10274699" cy="1606296"/>
            </a:xfrm>
          </p:grpSpPr>
          <p:sp>
            <p:nvSpPr>
              <p:cNvPr id="28" name="TextBox 28"/>
              <p:cNvSpPr txBox="1"/>
              <p:nvPr/>
            </p:nvSpPr>
            <p:spPr>
              <a:xfrm>
                <a:off x="794004" y="2743200"/>
                <a:ext cx="1327712" cy="234696"/>
              </a:xfrm>
              <a:prstGeom prst="rect">
                <a:avLst/>
              </a:prstGeom>
              <a:noFill/>
              <a:ln>
                <a:noFill/>
              </a:ln>
            </p:spPr>
            <p:txBody>
              <a:bodyPr wrap="none" lIns="0" tIns="0" rIns="0" bIns="0" anchor="t" anchorCtr="0">
                <a:spAutoFit/>
              </a:bodyPr>
              <a:lstStyle/>
              <a:p>
                <a:pPr algn="l"/>
                <a:r>
                  <a:rPr lang="es-419" sz="1200" b="1" dirty="0">
                    <a:solidFill>
                      <a:schemeClr val="accent1"/>
                    </a:solidFill>
                    <a:latin typeface="+mn-lt"/>
                    <a:ea typeface="+mn-ea"/>
                    <a:cs typeface="+mn-cs"/>
                  </a:rPr>
                  <a:t>Repositorio base</a:t>
                </a:r>
              </a:p>
            </p:txBody>
          </p:sp>
          <p:sp>
            <p:nvSpPr>
              <p:cNvPr id="29" name="TextBox 29"/>
              <p:cNvSpPr txBox="1"/>
              <p:nvPr/>
            </p:nvSpPr>
            <p:spPr>
              <a:xfrm>
                <a:off x="3019044" y="2743200"/>
                <a:ext cx="1255948" cy="234696"/>
              </a:xfrm>
              <a:prstGeom prst="rect">
                <a:avLst/>
              </a:prstGeom>
              <a:noFill/>
              <a:ln>
                <a:noFill/>
              </a:ln>
            </p:spPr>
            <p:txBody>
              <a:bodyPr wrap="none" lIns="0" tIns="0" rIns="0" bIns="0" anchor="t" anchorCtr="0">
                <a:spAutoFit/>
              </a:bodyPr>
              <a:lstStyle/>
              <a:p>
                <a:pPr algn="l"/>
                <a:r>
                  <a:rPr lang="es-419" sz="1200" b="1" dirty="0">
                    <a:solidFill>
                      <a:schemeClr val="accent1"/>
                    </a:solidFill>
                    <a:latin typeface="+mn-lt"/>
                    <a:ea typeface="+mn-ea"/>
                    <a:cs typeface="+mn-cs"/>
                  </a:rPr>
                  <a:t>Código modular</a:t>
                </a:r>
              </a:p>
            </p:txBody>
          </p:sp>
          <p:sp>
            <p:nvSpPr>
              <p:cNvPr id="30" name="TextBox 30"/>
              <p:cNvSpPr txBox="1"/>
              <p:nvPr/>
            </p:nvSpPr>
            <p:spPr>
              <a:xfrm>
                <a:off x="5244084" y="2743200"/>
                <a:ext cx="1228995" cy="234696"/>
              </a:xfrm>
              <a:prstGeom prst="rect">
                <a:avLst/>
              </a:prstGeom>
              <a:noFill/>
              <a:ln>
                <a:noFill/>
              </a:ln>
            </p:spPr>
            <p:txBody>
              <a:bodyPr wrap="none" lIns="0" tIns="0" rIns="0" bIns="0" anchor="t" anchorCtr="0">
                <a:spAutoFit/>
              </a:bodyPr>
              <a:lstStyle/>
              <a:p>
                <a:pPr algn="l"/>
                <a:r>
                  <a:rPr lang="es-419" sz="1200" b="1" dirty="0">
                    <a:solidFill>
                      <a:schemeClr val="accent1"/>
                    </a:solidFill>
                    <a:latin typeface="+mn-lt"/>
                    <a:ea typeface="+mn-ea"/>
                    <a:cs typeface="+mn-cs"/>
                  </a:rPr>
                  <a:t>Versionamiento</a:t>
                </a:r>
              </a:p>
            </p:txBody>
          </p:sp>
          <p:sp>
            <p:nvSpPr>
              <p:cNvPr id="31" name="TextBox 31"/>
              <p:cNvSpPr txBox="1"/>
              <p:nvPr/>
            </p:nvSpPr>
            <p:spPr>
              <a:xfrm>
                <a:off x="7469124" y="2743200"/>
                <a:ext cx="1659550" cy="234696"/>
              </a:xfrm>
              <a:prstGeom prst="rect">
                <a:avLst/>
              </a:prstGeom>
              <a:noFill/>
              <a:ln>
                <a:noFill/>
              </a:ln>
            </p:spPr>
            <p:txBody>
              <a:bodyPr wrap="none" lIns="0" tIns="0" rIns="0" bIns="0" anchor="t" anchorCtr="0">
                <a:spAutoFit/>
              </a:bodyPr>
              <a:lstStyle/>
              <a:p>
                <a:pPr algn="l"/>
                <a:r>
                  <a:rPr lang="es-419" sz="1200" b="1" dirty="0">
                    <a:solidFill>
                      <a:schemeClr val="accent1"/>
                    </a:solidFill>
                    <a:latin typeface="+mn-lt"/>
                    <a:ea typeface="+mn-ea"/>
                    <a:cs typeface="+mn-cs"/>
                  </a:rPr>
                  <a:t>Pipeline reproducible</a:t>
                </a:r>
              </a:p>
            </p:txBody>
          </p:sp>
          <p:sp>
            <p:nvSpPr>
              <p:cNvPr id="32" name="TextBox 32"/>
              <p:cNvSpPr txBox="1"/>
              <p:nvPr/>
            </p:nvSpPr>
            <p:spPr>
              <a:xfrm>
                <a:off x="9694164" y="2743200"/>
                <a:ext cx="1374539" cy="234696"/>
              </a:xfrm>
              <a:prstGeom prst="rect">
                <a:avLst/>
              </a:prstGeom>
              <a:noFill/>
              <a:ln>
                <a:noFill/>
              </a:ln>
            </p:spPr>
            <p:txBody>
              <a:bodyPr wrap="none" lIns="0" tIns="0" rIns="0" bIns="0" anchor="t" anchorCtr="0">
                <a:spAutoFit/>
              </a:bodyPr>
              <a:lstStyle/>
              <a:p>
                <a:pPr algn="l"/>
                <a:r>
                  <a:rPr lang="es-419" sz="1200" b="1" dirty="0">
                    <a:solidFill>
                      <a:schemeClr val="accent1"/>
                    </a:solidFill>
                    <a:latin typeface="+mn-lt"/>
                    <a:ea typeface="+mn-ea"/>
                    <a:cs typeface="+mn-cs"/>
                  </a:rPr>
                  <a:t>Docker + FastAPI</a:t>
                </a:r>
              </a:p>
            </p:txBody>
          </p:sp>
          <p:sp>
            <p:nvSpPr>
              <p:cNvPr id="33" name="TextBox 33"/>
              <p:cNvSpPr txBox="1"/>
              <p:nvPr/>
            </p:nvSpPr>
            <p:spPr>
              <a:xfrm>
                <a:off x="794004" y="4114800"/>
                <a:ext cx="1336468" cy="234696"/>
              </a:xfrm>
              <a:prstGeom prst="rect">
                <a:avLst/>
              </a:prstGeom>
              <a:noFill/>
              <a:ln>
                <a:noFill/>
              </a:ln>
            </p:spPr>
            <p:txBody>
              <a:bodyPr wrap="none" lIns="0" tIns="0" rIns="0" bIns="0" anchor="t" anchorCtr="0">
                <a:spAutoFit/>
              </a:bodyPr>
              <a:lstStyle/>
              <a:p>
                <a:pPr algn="l"/>
                <a:r>
                  <a:rPr lang="es-419" sz="1200" b="1" dirty="0">
                    <a:solidFill>
                      <a:schemeClr val="accent1"/>
                    </a:solidFill>
                    <a:latin typeface="+mn-lt"/>
                    <a:ea typeface="+mn-ea"/>
                    <a:cs typeface="+mn-cs"/>
                  </a:rPr>
                  <a:t>Tuning y registro</a:t>
                </a:r>
              </a:p>
            </p:txBody>
          </p:sp>
          <p:sp>
            <p:nvSpPr>
              <p:cNvPr id="34" name="TextBox 34"/>
              <p:cNvSpPr txBox="1"/>
              <p:nvPr/>
            </p:nvSpPr>
            <p:spPr>
              <a:xfrm>
                <a:off x="3019044" y="4114800"/>
                <a:ext cx="476839" cy="234696"/>
              </a:xfrm>
              <a:prstGeom prst="rect">
                <a:avLst/>
              </a:prstGeom>
              <a:noFill/>
              <a:ln>
                <a:noFill/>
              </a:ln>
            </p:spPr>
            <p:txBody>
              <a:bodyPr wrap="none" lIns="0" tIns="0" rIns="0" bIns="0" anchor="t" anchorCtr="0">
                <a:spAutoFit/>
              </a:bodyPr>
              <a:lstStyle/>
              <a:p>
                <a:pPr algn="l"/>
                <a:r>
                  <a:rPr lang="es-419" sz="1200" b="1" dirty="0">
                    <a:solidFill>
                      <a:schemeClr val="accent1"/>
                    </a:solidFill>
                    <a:latin typeface="+mn-lt"/>
                    <a:ea typeface="+mn-ea"/>
                    <a:cs typeface="+mn-cs"/>
                  </a:rPr>
                  <a:t>CI/CD</a:t>
                </a:r>
              </a:p>
            </p:txBody>
          </p:sp>
          <p:sp>
            <p:nvSpPr>
              <p:cNvPr id="35" name="TextBox 35"/>
              <p:cNvSpPr txBox="1"/>
              <p:nvPr/>
            </p:nvSpPr>
            <p:spPr>
              <a:xfrm>
                <a:off x="5244084" y="4114800"/>
                <a:ext cx="1211135" cy="234696"/>
              </a:xfrm>
              <a:prstGeom prst="rect">
                <a:avLst/>
              </a:prstGeom>
              <a:noFill/>
              <a:ln>
                <a:noFill/>
              </a:ln>
            </p:spPr>
            <p:txBody>
              <a:bodyPr wrap="none" lIns="0" tIns="0" rIns="0" bIns="0" anchor="t" anchorCtr="0">
                <a:spAutoFit/>
              </a:bodyPr>
              <a:lstStyle/>
              <a:p>
                <a:pPr algn="l"/>
                <a:r>
                  <a:rPr lang="es-419" sz="1200" b="1" dirty="0">
                    <a:solidFill>
                      <a:schemeClr val="accent1"/>
                    </a:solidFill>
                    <a:latin typeface="+mn-lt"/>
                    <a:ea typeface="+mn-ea"/>
                    <a:cs typeface="+mn-cs"/>
                  </a:rPr>
                  <a:t>Pre-producción</a:t>
                </a:r>
              </a:p>
            </p:txBody>
          </p:sp>
          <p:sp>
            <p:nvSpPr>
              <p:cNvPr id="36" name="TextBox 36"/>
              <p:cNvSpPr txBox="1"/>
              <p:nvPr/>
            </p:nvSpPr>
            <p:spPr>
              <a:xfrm>
                <a:off x="7469124" y="4114800"/>
                <a:ext cx="797747" cy="234696"/>
              </a:xfrm>
              <a:prstGeom prst="rect">
                <a:avLst/>
              </a:prstGeom>
              <a:noFill/>
              <a:ln>
                <a:noFill/>
              </a:ln>
            </p:spPr>
            <p:txBody>
              <a:bodyPr wrap="none" lIns="0" tIns="0" rIns="0" bIns="0" anchor="t" anchorCtr="0">
                <a:spAutoFit/>
              </a:bodyPr>
              <a:lstStyle/>
              <a:p>
                <a:pPr algn="l"/>
                <a:r>
                  <a:rPr lang="es-419" sz="1200" b="1" dirty="0">
                    <a:solidFill>
                      <a:schemeClr val="accent1"/>
                    </a:solidFill>
                    <a:latin typeface="+mn-lt"/>
                    <a:ea typeface="+mn-ea"/>
                    <a:cs typeface="+mn-cs"/>
                  </a:rPr>
                  <a:t>Monitoreo</a:t>
                </a:r>
              </a:p>
            </p:txBody>
          </p:sp>
          <p:sp>
            <p:nvSpPr>
              <p:cNvPr id="37" name="TextBox 37"/>
              <p:cNvSpPr txBox="1"/>
              <p:nvPr/>
            </p:nvSpPr>
            <p:spPr>
              <a:xfrm>
                <a:off x="9694164" y="4114800"/>
                <a:ext cx="887330" cy="234696"/>
              </a:xfrm>
              <a:prstGeom prst="rect">
                <a:avLst/>
              </a:prstGeom>
              <a:noFill/>
              <a:ln>
                <a:noFill/>
              </a:ln>
            </p:spPr>
            <p:txBody>
              <a:bodyPr wrap="none" lIns="0" tIns="0" rIns="0" bIns="0" anchor="t" anchorCtr="0">
                <a:spAutoFit/>
              </a:bodyPr>
              <a:lstStyle/>
              <a:p>
                <a:pPr algn="l"/>
                <a:r>
                  <a:rPr lang="es-419" sz="1200" b="1" dirty="0">
                    <a:solidFill>
                      <a:schemeClr val="accent1"/>
                    </a:solidFill>
                    <a:latin typeface="+mn-lt"/>
                    <a:ea typeface="+mn-ea"/>
                    <a:cs typeface="+mn-cs"/>
                  </a:rPr>
                  <a:t>Integración</a:t>
                </a:r>
              </a:p>
            </p:txBody>
          </p:sp>
        </p:grpSp>
        <p:grpSp>
          <p:nvGrpSpPr>
            <p:cNvPr id="49" name="Group 49"/>
            <p:cNvGrpSpPr/>
            <p:nvPr/>
          </p:nvGrpSpPr>
          <p:grpSpPr>
            <a:xfrm>
              <a:off x="794004" y="2990850"/>
              <a:ext cx="10241342" cy="1606296"/>
              <a:chOff x="794004" y="2990850"/>
              <a:chExt cx="10241342" cy="1606296"/>
            </a:xfrm>
          </p:grpSpPr>
          <p:sp>
            <p:nvSpPr>
              <p:cNvPr id="39" name="TextBox 39"/>
              <p:cNvSpPr txBox="1"/>
              <p:nvPr/>
            </p:nvSpPr>
            <p:spPr>
              <a:xfrm>
                <a:off x="794004" y="2990850"/>
                <a:ext cx="1271117" cy="234696"/>
              </a:xfrm>
              <a:prstGeom prst="rect">
                <a:avLst/>
              </a:prstGeom>
              <a:noFill/>
              <a:ln>
                <a:noFill/>
              </a:ln>
            </p:spPr>
            <p:txBody>
              <a:bodyPr wrap="none" lIns="0" tIns="0" rIns="0" bIns="0" anchor="t" anchorCtr="0">
                <a:spAutoFit/>
              </a:bodyPr>
              <a:lstStyle/>
              <a:p>
                <a:pPr algn="l"/>
                <a:r>
                  <a:rPr lang="es-419" sz="1200" dirty="0">
                    <a:solidFill>
                      <a:schemeClr val="accent5"/>
                    </a:solidFill>
                    <a:latin typeface="+mn-lt"/>
                    <a:ea typeface="+mn-ea"/>
                    <a:cs typeface="+mn-cs"/>
                  </a:rPr>
                  <a:t>Git · Codespaces</a:t>
                </a:r>
              </a:p>
            </p:txBody>
          </p:sp>
          <p:sp>
            <p:nvSpPr>
              <p:cNvPr id="40" name="TextBox 40"/>
              <p:cNvSpPr txBox="1"/>
              <p:nvPr/>
            </p:nvSpPr>
            <p:spPr>
              <a:xfrm>
                <a:off x="3019044" y="2990850"/>
                <a:ext cx="1232980" cy="234696"/>
              </a:xfrm>
              <a:prstGeom prst="rect">
                <a:avLst/>
              </a:prstGeom>
              <a:noFill/>
              <a:ln>
                <a:noFill/>
              </a:ln>
            </p:spPr>
            <p:txBody>
              <a:bodyPr wrap="none" lIns="0" tIns="0" rIns="0" bIns="0" anchor="t" anchorCtr="0">
                <a:spAutoFit/>
              </a:bodyPr>
              <a:lstStyle/>
              <a:p>
                <a:pPr algn="l"/>
                <a:r>
                  <a:rPr lang="es-419" sz="1200" dirty="0">
                    <a:solidFill>
                      <a:schemeClr val="accent5"/>
                    </a:solidFill>
                    <a:latin typeface="+mn-lt"/>
                    <a:ea typeface="+mn-ea"/>
                    <a:cs typeface="+mn-cs"/>
                  </a:rPr>
                  <a:t>src/ · tests pytest</a:t>
                </a:r>
              </a:p>
            </p:txBody>
          </p:sp>
          <p:sp>
            <p:nvSpPr>
              <p:cNvPr id="41" name="TextBox 41"/>
              <p:cNvSpPr txBox="1"/>
              <p:nvPr/>
            </p:nvSpPr>
            <p:spPr>
              <a:xfrm>
                <a:off x="5244084" y="2990850"/>
                <a:ext cx="1645822" cy="234696"/>
              </a:xfrm>
              <a:prstGeom prst="rect">
                <a:avLst/>
              </a:prstGeom>
              <a:noFill/>
              <a:ln>
                <a:noFill/>
              </a:ln>
            </p:spPr>
            <p:txBody>
              <a:bodyPr wrap="none" lIns="0" tIns="0" rIns="0" bIns="0" anchor="t" anchorCtr="0">
                <a:spAutoFit/>
              </a:bodyPr>
              <a:lstStyle/>
              <a:p>
                <a:pPr algn="l"/>
                <a:r>
                  <a:rPr lang="es-419" sz="1200" dirty="0">
                    <a:solidFill>
                      <a:schemeClr val="accent5"/>
                    </a:solidFill>
                    <a:latin typeface="+mn-lt"/>
                    <a:ea typeface="+mn-ea"/>
                    <a:cs typeface="+mn-cs"/>
                  </a:rPr>
                  <a:t>DVC · MLflow tracking</a:t>
                </a:r>
              </a:p>
            </p:txBody>
          </p:sp>
          <p:sp>
            <p:nvSpPr>
              <p:cNvPr id="42" name="TextBox 42"/>
              <p:cNvSpPr txBox="1"/>
              <p:nvPr/>
            </p:nvSpPr>
            <p:spPr>
              <a:xfrm>
                <a:off x="7469124" y="2990850"/>
                <a:ext cx="1224709" cy="234696"/>
              </a:xfrm>
              <a:prstGeom prst="rect">
                <a:avLst/>
              </a:prstGeom>
              <a:noFill/>
              <a:ln>
                <a:noFill/>
              </a:ln>
            </p:spPr>
            <p:txBody>
              <a:bodyPr wrap="none" lIns="0" tIns="0" rIns="0" bIns="0" anchor="t" anchorCtr="0">
                <a:spAutoFit/>
              </a:bodyPr>
              <a:lstStyle/>
              <a:p>
                <a:pPr algn="l"/>
                <a:r>
                  <a:rPr lang="es-419" sz="1200" dirty="0">
                    <a:solidFill>
                      <a:schemeClr val="accent5"/>
                    </a:solidFill>
                    <a:latin typeface="+mn-lt"/>
                    <a:ea typeface="+mn-ea"/>
                    <a:cs typeface="+mn-cs"/>
                  </a:rPr>
                  <a:t>etapas validadas</a:t>
                </a:r>
              </a:p>
            </p:txBody>
          </p:sp>
          <p:sp>
            <p:nvSpPr>
              <p:cNvPr id="43" name="TextBox 43"/>
              <p:cNvSpPr txBox="1"/>
              <p:nvPr/>
            </p:nvSpPr>
            <p:spPr>
              <a:xfrm>
                <a:off x="9694164" y="2990850"/>
                <a:ext cx="1139325" cy="234696"/>
              </a:xfrm>
              <a:prstGeom prst="rect">
                <a:avLst/>
              </a:prstGeom>
              <a:noFill/>
              <a:ln>
                <a:noFill/>
              </a:ln>
            </p:spPr>
            <p:txBody>
              <a:bodyPr wrap="none" lIns="0" tIns="0" rIns="0" bIns="0" anchor="t" anchorCtr="0">
                <a:spAutoFit/>
              </a:bodyPr>
              <a:lstStyle/>
              <a:p>
                <a:pPr algn="l"/>
                <a:r>
                  <a:rPr lang="es-419" sz="1200" dirty="0">
                    <a:solidFill>
                      <a:schemeClr val="accent5"/>
                    </a:solidFill>
                    <a:latin typeface="+mn-lt"/>
                    <a:ea typeface="+mn-ea"/>
                    <a:cs typeface="+mn-cs"/>
                  </a:rPr>
                  <a:t>api/ · Dockerfile</a:t>
                </a:r>
              </a:p>
            </p:txBody>
          </p:sp>
          <p:sp>
            <p:nvSpPr>
              <p:cNvPr id="44" name="TextBox 44"/>
              <p:cNvSpPr txBox="1"/>
              <p:nvPr/>
            </p:nvSpPr>
            <p:spPr>
              <a:xfrm>
                <a:off x="794004" y="4362450"/>
                <a:ext cx="1724928" cy="234696"/>
              </a:xfrm>
              <a:prstGeom prst="rect">
                <a:avLst/>
              </a:prstGeom>
              <a:noFill/>
              <a:ln>
                <a:noFill/>
              </a:ln>
            </p:spPr>
            <p:txBody>
              <a:bodyPr wrap="none" lIns="0" tIns="0" rIns="0" bIns="0" anchor="t" anchorCtr="0">
                <a:spAutoFit/>
              </a:bodyPr>
              <a:lstStyle/>
              <a:p>
                <a:pPr algn="l"/>
                <a:r>
                  <a:rPr lang="es-419" sz="1200" dirty="0">
                    <a:solidFill>
                      <a:schemeClr val="accent5"/>
                    </a:solidFill>
                    <a:latin typeface="+mn-lt"/>
                    <a:ea typeface="+mn-ea"/>
                    <a:cs typeface="+mn-cs"/>
                  </a:rPr>
                  <a:t>Grid/Random · Registry</a:t>
                </a:r>
              </a:p>
            </p:txBody>
          </p:sp>
          <p:sp>
            <p:nvSpPr>
              <p:cNvPr id="45" name="TextBox 45"/>
              <p:cNvSpPr txBox="1"/>
              <p:nvPr/>
            </p:nvSpPr>
            <p:spPr>
              <a:xfrm>
                <a:off x="3019044" y="4362450"/>
                <a:ext cx="1680773" cy="234696"/>
              </a:xfrm>
              <a:prstGeom prst="rect">
                <a:avLst/>
              </a:prstGeom>
              <a:noFill/>
              <a:ln>
                <a:noFill/>
              </a:ln>
            </p:spPr>
            <p:txBody>
              <a:bodyPr wrap="none" lIns="0" tIns="0" rIns="0" bIns="0" anchor="t" anchorCtr="0">
                <a:spAutoFit/>
              </a:bodyPr>
              <a:lstStyle/>
              <a:p>
                <a:pPr algn="l"/>
                <a:r>
                  <a:rPr lang="es-419" sz="1200" dirty="0">
                    <a:solidFill>
                      <a:schemeClr val="accent5"/>
                    </a:solidFill>
                    <a:latin typeface="+mn-lt"/>
                    <a:ea typeface="+mn-ea"/>
                    <a:cs typeface="+mn-cs"/>
                  </a:rPr>
                  <a:t>GitHub Actions · 3 jobs</a:t>
                </a:r>
              </a:p>
            </p:txBody>
          </p:sp>
          <p:sp>
            <p:nvSpPr>
              <p:cNvPr id="46" name="TextBox 46"/>
              <p:cNvSpPr txBox="1"/>
              <p:nvPr/>
            </p:nvSpPr>
            <p:spPr>
              <a:xfrm>
                <a:off x="5244084" y="4362450"/>
                <a:ext cx="1502823" cy="234696"/>
              </a:xfrm>
              <a:prstGeom prst="rect">
                <a:avLst/>
              </a:prstGeom>
              <a:noFill/>
              <a:ln>
                <a:noFill/>
              </a:ln>
            </p:spPr>
            <p:txBody>
              <a:bodyPr wrap="none" lIns="0" tIns="0" rIns="0" bIns="0" anchor="t" anchorCtr="0">
                <a:spAutoFit/>
              </a:bodyPr>
              <a:lstStyle/>
              <a:p>
                <a:pPr algn="l"/>
                <a:r>
                  <a:rPr lang="es-419" sz="1200" dirty="0">
                    <a:solidFill>
                      <a:schemeClr val="accent5"/>
                    </a:solidFill>
                    <a:latin typeface="+mn-lt"/>
                    <a:ea typeface="+mn-ea"/>
                    <a:cs typeface="+mn-cs"/>
                  </a:rPr>
                  <a:t>compose · deploy.sh</a:t>
                </a:r>
              </a:p>
            </p:txBody>
          </p:sp>
          <p:sp>
            <p:nvSpPr>
              <p:cNvPr id="47" name="TextBox 47"/>
              <p:cNvSpPr txBox="1"/>
              <p:nvPr/>
            </p:nvSpPr>
            <p:spPr>
              <a:xfrm>
                <a:off x="7469124" y="4362450"/>
                <a:ext cx="1550916" cy="234696"/>
              </a:xfrm>
              <a:prstGeom prst="rect">
                <a:avLst/>
              </a:prstGeom>
              <a:noFill/>
              <a:ln>
                <a:noFill/>
              </a:ln>
            </p:spPr>
            <p:txBody>
              <a:bodyPr wrap="none" lIns="0" tIns="0" rIns="0" bIns="0" anchor="t" anchorCtr="0">
                <a:spAutoFit/>
              </a:bodyPr>
              <a:lstStyle/>
              <a:p>
                <a:pPr algn="l"/>
                <a:r>
                  <a:rPr lang="es-419" sz="1200" dirty="0">
                    <a:solidFill>
                      <a:schemeClr val="accent5"/>
                    </a:solidFill>
                    <a:latin typeface="+mn-lt"/>
                    <a:ea typeface="+mn-ea"/>
                    <a:cs typeface="+mn-cs"/>
                  </a:rPr>
                  <a:t>Evidently · PSI · cron</a:t>
                </a:r>
              </a:p>
            </p:txBody>
          </p:sp>
          <p:sp>
            <p:nvSpPr>
              <p:cNvPr id="48" name="TextBox 48"/>
              <p:cNvSpPr txBox="1"/>
              <p:nvPr/>
            </p:nvSpPr>
            <p:spPr>
              <a:xfrm>
                <a:off x="9694164" y="4362450"/>
                <a:ext cx="1341182" cy="234696"/>
              </a:xfrm>
              <a:prstGeom prst="rect">
                <a:avLst/>
              </a:prstGeom>
              <a:noFill/>
              <a:ln>
                <a:noFill/>
              </a:ln>
            </p:spPr>
            <p:txBody>
              <a:bodyPr wrap="none" lIns="0" tIns="0" rIns="0" bIns="0" anchor="t" anchorCtr="0">
                <a:spAutoFit/>
              </a:bodyPr>
              <a:lstStyle/>
              <a:p>
                <a:pPr algn="l"/>
                <a:r>
                  <a:rPr lang="es-419" sz="1200" dirty="0">
                    <a:solidFill>
                      <a:schemeClr val="accent5"/>
                    </a:solidFill>
                    <a:latin typeface="+mn-lt"/>
                    <a:ea typeface="+mn-ea"/>
                    <a:cs typeface="+mn-cs"/>
                  </a:rPr>
                  <a:t>main.py · 7 etapas</a:t>
                </a:r>
              </a:p>
            </p:txBody>
          </p:sp>
        </p:grpSp>
      </p:grpSp>
      <p:grpSp>
        <p:nvGrpSpPr>
          <p:cNvPr id="57" name="accion-final"/>
          <p:cNvGrpSpPr/>
          <p:nvPr/>
        </p:nvGrpSpPr>
        <p:grpSpPr>
          <a:xfrm>
            <a:off x="609600" y="4933950"/>
            <a:ext cx="10972800" cy="1257300"/>
            <a:chOff x="609600" y="4933950"/>
            <a:chExt cx="10972800" cy="1257300"/>
          </a:xfrm>
        </p:grpSpPr>
        <p:sp>
          <p:nvSpPr>
            <p:cNvPr id="51" name="Rectangle 51"/>
            <p:cNvSpPr/>
            <p:nvPr/>
          </p:nvSpPr>
          <p:spPr>
            <a:xfrm>
              <a:off x="609600" y="4933950"/>
              <a:ext cx="10972800" cy="1257300"/>
            </a:xfrm>
            <a:prstGeom prst="rect">
              <a:avLst/>
            </a:prstGeom>
            <a:solidFill>
              <a:schemeClr val="accent1"/>
            </a:solidFill>
            <a:ln>
              <a:noFill/>
            </a:ln>
          </p:spPr>
        </p:sp>
        <p:sp>
          <p:nvSpPr>
            <p:cNvPr id="52" name="TextBox 52"/>
            <p:cNvSpPr txBox="1"/>
            <p:nvPr/>
          </p:nvSpPr>
          <p:spPr>
            <a:xfrm>
              <a:off x="908685" y="5118100"/>
              <a:ext cx="3056363" cy="220028"/>
            </a:xfrm>
            <a:prstGeom prst="rect">
              <a:avLst/>
            </a:prstGeom>
            <a:noFill/>
            <a:ln>
              <a:noFill/>
            </a:ln>
          </p:spPr>
          <p:txBody>
            <a:bodyPr wrap="none" lIns="0" tIns="0" rIns="0" bIns="0" anchor="t" anchorCtr="0">
              <a:spAutoFit/>
            </a:bodyPr>
            <a:lstStyle/>
            <a:p>
              <a:pPr algn="l"/>
              <a:r>
                <a:rPr lang="es-419" sz="1120" b="1" dirty="0">
                  <a:solidFill>
                    <a:srgbClr val="9FB2C8"/>
                  </a:solidFill>
                  <a:latin typeface="+mn-lt"/>
                  <a:ea typeface="+mn-ea"/>
                  <a:cs typeface="+mn-cs"/>
                </a:rPr>
                <a:t>EJECÚTALO EN GITHUB CODESPACES</a:t>
              </a:r>
            </a:p>
          </p:txBody>
        </p:sp>
        <p:sp>
          <p:nvSpPr>
            <p:cNvPr id="53" name="TextBox 53"/>
            <p:cNvSpPr txBox="1"/>
            <p:nvPr/>
          </p:nvSpPr>
          <p:spPr>
            <a:xfrm>
              <a:off x="906780" y="5499100"/>
              <a:ext cx="4586723" cy="293370"/>
            </a:xfrm>
            <a:prstGeom prst="rect">
              <a:avLst/>
            </a:prstGeom>
            <a:noFill/>
            <a:ln>
              <a:noFill/>
            </a:ln>
          </p:spPr>
          <p:txBody>
            <a:bodyPr wrap="none" lIns="0" tIns="0" rIns="0" bIns="0" anchor="t" anchorCtr="0">
              <a:spAutoFit/>
            </a:bodyPr>
            <a:lstStyle/>
            <a:p>
              <a:pPr algn="l"/>
              <a:r>
                <a:rPr lang="es-419" sz="1500" dirty="0">
                  <a:solidFill>
                    <a:srgbClr val="FFFFFF"/>
                  </a:solidFill>
                  <a:latin typeface="Consolas"/>
                  <a:ea typeface="Consolas"/>
                  <a:cs typeface="Consolas"/>
                </a:rPr>
                <a:t xml:space="preserve">Code → Codespaces → </a:t>
              </a:r>
              <a:r>
                <a:rPr lang="es-419" sz="1500" b="1" dirty="0">
                  <a:solidFill>
                    <a:srgbClr val="FFFFFF"/>
                  </a:solidFill>
                  <a:latin typeface="Consolas"/>
                  <a:ea typeface="Consolas"/>
                  <a:cs typeface="Consolas"/>
                </a:rPr>
                <a:t>python main.py --demo</a:t>
              </a:r>
            </a:p>
          </p:txBody>
        </p:sp>
        <p:sp>
          <p:nvSpPr>
            <p:cNvPr id="54" name="TextBox 54"/>
            <p:cNvSpPr txBox="1"/>
            <p:nvPr/>
          </p:nvSpPr>
          <p:spPr>
            <a:xfrm>
              <a:off x="908304" y="5829300"/>
              <a:ext cx="4755630" cy="234696"/>
            </a:xfrm>
            <a:prstGeom prst="rect">
              <a:avLst/>
            </a:prstGeom>
            <a:noFill/>
            <a:ln>
              <a:noFill/>
            </a:ln>
          </p:spPr>
          <p:txBody>
            <a:bodyPr wrap="none" lIns="0" tIns="0" rIns="0" bIns="0" anchor="t" anchorCtr="0">
              <a:spAutoFit/>
            </a:bodyPr>
            <a:lstStyle/>
            <a:p>
              <a:pPr algn="l"/>
              <a:r>
                <a:rPr lang="es-419" sz="1200" dirty="0">
                  <a:solidFill>
                    <a:srgbClr val="9FB2C8"/>
                  </a:solidFill>
                  <a:latin typeface="+mn-lt"/>
                  <a:ea typeface="+mn-ea"/>
                  <a:cs typeface="+mn-cs"/>
                </a:rPr>
                <a:t>github.com/hangelo83/Mlops-proyectofinal · README con la guía</a:t>
              </a:r>
            </a:p>
          </p:txBody>
        </p:sp>
        <p:sp>
          <p:nvSpPr>
            <p:cNvPr id="55" name="TextBox 55"/>
            <p:cNvSpPr txBox="1"/>
            <p:nvPr/>
          </p:nvSpPr>
          <p:spPr>
            <a:xfrm>
              <a:off x="7233285" y="5118100"/>
              <a:ext cx="1472037" cy="220028"/>
            </a:xfrm>
            <a:prstGeom prst="rect">
              <a:avLst/>
            </a:prstGeom>
            <a:noFill/>
            <a:ln>
              <a:noFill/>
            </a:ln>
          </p:spPr>
          <p:txBody>
            <a:bodyPr wrap="none" lIns="0" tIns="0" rIns="0" bIns="0" anchor="t" anchorCtr="0">
              <a:spAutoFit/>
            </a:bodyPr>
            <a:lstStyle/>
            <a:p>
              <a:pPr algn="l"/>
              <a:r>
                <a:rPr lang="es-419" sz="1120" b="1" dirty="0">
                  <a:solidFill>
                    <a:srgbClr val="9FB2C8"/>
                  </a:solidFill>
                  <a:latin typeface="+mn-lt"/>
                  <a:ea typeface="+mn-ea"/>
                  <a:cs typeface="+mn-cs"/>
                </a:rPr>
                <a:t>PRÓXIMOS PASOS</a:t>
              </a:r>
            </a:p>
          </p:txBody>
        </p:sp>
        <p:sp>
          <p:nvSpPr>
            <p:cNvPr id="56" name="TextBox 56"/>
            <p:cNvSpPr txBox="1"/>
            <p:nvPr/>
          </p:nvSpPr>
          <p:spPr>
            <a:xfrm>
              <a:off x="7232904" y="5359400"/>
              <a:ext cx="3163611" cy="653796"/>
            </a:xfrm>
            <a:prstGeom prst="rect">
              <a:avLst/>
            </a:prstGeom>
            <a:noFill/>
            <a:ln>
              <a:noFill/>
            </a:ln>
          </p:spPr>
          <p:txBody>
            <a:bodyPr wrap="none" lIns="0" tIns="0" rIns="0" bIns="0" anchor="t" anchorCtr="0">
              <a:spAutoFit/>
            </a:bodyPr>
            <a:lstStyle/>
            <a:p>
              <a:pPr algn="l">
                <a:lnSpc>
                  <a:spcPts val="1650"/>
                </a:lnSpc>
              </a:pPr>
              <a:r>
                <a:rPr lang="es-419" sz="1200" dirty="0">
                  <a:solidFill>
                    <a:schemeClr val="accent6"/>
                  </a:solidFill>
                  <a:latin typeface="+mn-lt"/>
                  <a:ea typeface="+mn-ea"/>
                  <a:cs typeface="+mn-cs"/>
                </a:rPr>
                <a:t>Calibrar las probabilidades del modelo</a:t>
              </a:r>
              <a:br>
                <a:rPr lang="es-419" sz="1200" dirty="0">
                  <a:solidFill>
                    <a:schemeClr val="accent6"/>
                  </a:solidFill>
                  <a:latin typeface="+mn-lt"/>
                  <a:ea typeface="+mn-ea"/>
                  <a:cs typeface="+mn-cs"/>
                </a:rPr>
              </a:br>
              <a:r>
                <a:rPr lang="es-419" sz="1200" dirty="0">
                  <a:solidFill>
                    <a:schemeClr val="accent6"/>
                  </a:solidFill>
                  <a:latin typeface="+mn-lt"/>
                  <a:ea typeface="+mn-ea"/>
                  <a:cs typeface="+mn-cs"/>
                </a:rPr>
                <a:t>Usar edad y glucosa como variables continuas</a:t>
              </a:r>
              <a:br>
                <a:rPr lang="es-419" sz="1200" dirty="0">
                  <a:solidFill>
                    <a:schemeClr val="accent6"/>
                  </a:solidFill>
                  <a:latin typeface="+mn-lt"/>
                  <a:ea typeface="+mn-ea"/>
                  <a:cs typeface="+mn-cs"/>
                </a:rPr>
              </a:br>
              <a:r>
                <a:rPr lang="es-419" sz="1200" dirty="0">
                  <a:solidFill>
                    <a:schemeClr val="accent6"/>
                  </a:solidFill>
                  <a:latin typeface="+mn-lt"/>
                  <a:ea typeface="+mn-ea"/>
                  <a:cs typeface="+mn-cs"/>
                </a:rPr>
                <a:t>Remoto DVC compartido para el cache</a:t>
              </a:r>
            </a:p>
          </p:txBody>
        </p:sp>
      </p:grpSp>
      <p:grpSp>
        <p:nvGrpSpPr>
          <p:cNvPr id="60" name="footer"/>
          <p:cNvGrpSpPr/>
          <p:nvPr/>
        </p:nvGrpSpPr>
        <p:grpSpPr>
          <a:xfrm>
            <a:off x="603504" y="6381750"/>
            <a:ext cx="10984992" cy="234696"/>
            <a:chOff x="603504" y="6381750"/>
            <a:chExt cx="10984992" cy="234696"/>
          </a:xfrm>
        </p:grpSpPr>
        <p:sp>
          <p:nvSpPr>
            <p:cNvPr id="58" name="TextBox 58"/>
            <p:cNvSpPr txBox="1"/>
            <p:nvPr/>
          </p:nvSpPr>
          <p:spPr>
            <a:xfrm>
              <a:off x="603504" y="6381750"/>
              <a:ext cx="3405319" cy="234696"/>
            </a:xfrm>
            <a:prstGeom prst="rect">
              <a:avLst/>
            </a:prstGeom>
            <a:noFill/>
            <a:ln>
              <a:noFill/>
            </a:ln>
          </p:spPr>
          <p:txBody>
            <a:bodyPr wrap="none" lIns="0" tIns="0" rIns="0" bIns="0" anchor="t" anchorCtr="0">
              <a:spAutoFit/>
            </a:bodyPr>
            <a:lstStyle/>
            <a:p>
              <a:pPr algn="l"/>
              <a:r>
                <a:rPr lang="es-419" sz="1200" dirty="0">
                  <a:solidFill>
                    <a:schemeClr val="accent5"/>
                  </a:solidFill>
                  <a:latin typeface="+mn-lt"/>
                  <a:ea typeface="+mn-ea"/>
                  <a:cs typeface="+mn-cs"/>
                </a:rPr>
                <a:t>Proyecto Final MLOps · Prevención de Infartos</a:t>
              </a:r>
            </a:p>
          </p:txBody>
        </p:sp>
        <p:sp>
          <p:nvSpPr>
            <p:cNvPr id="59" name="TextBox 59"/>
            <p:cNvSpPr txBox="1"/>
            <p:nvPr/>
          </p:nvSpPr>
          <p:spPr>
            <a:xfrm>
              <a:off x="11082270" y="6381750"/>
              <a:ext cx="506226" cy="234696"/>
            </a:xfrm>
            <a:prstGeom prst="rect">
              <a:avLst/>
            </a:prstGeom>
            <a:noFill/>
            <a:ln>
              <a:noFill/>
            </a:ln>
          </p:spPr>
          <p:txBody>
            <a:bodyPr wrap="none" lIns="0" tIns="0" rIns="0" bIns="0" anchor="t" anchorCtr="0">
              <a:spAutoFit/>
            </a:bodyPr>
            <a:lstStyle/>
            <a:p>
              <a:pPr algn="r"/>
              <a:r>
                <a:rPr lang="es-419" sz="1200" dirty="0">
                  <a:solidFill>
                    <a:schemeClr val="accent5"/>
                  </a:solidFill>
                  <a:latin typeface="+mn-lt"/>
                  <a:ea typeface="+mn-ea"/>
                  <a:cs typeface="+mn-cs"/>
                </a:rPr>
                <a:t>10 / 10</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mlops_infartos_final">
  <a:themeElements>
    <a:clrScheme name="mlops_infartos_final">
      <a:dk1>
        <a:srgbClr val="1B1F24"/>
      </a:dk1>
      <a:lt1>
        <a:srgbClr val="FFFFFF"/>
      </a:lt1>
      <a:dk2>
        <a:srgbClr val="1F497D"/>
      </a:dk2>
      <a:lt2>
        <a:srgbClr val="F3F5F7"/>
      </a:lt2>
      <a:accent1>
        <a:srgbClr val="12263F"/>
      </a:accent1>
      <a:accent2>
        <a:srgbClr val="D7263D"/>
      </a:accent2>
      <a:accent3>
        <a:srgbClr val="2A78D6"/>
      </a:accent3>
      <a:accent4>
        <a:srgbClr val="12263F"/>
      </a:accent4>
      <a:accent5>
        <a:srgbClr val="5B6470"/>
      </a:accent5>
      <a:accent6>
        <a:srgbClr val="D5DAE0"/>
      </a:accent6>
      <a:hlink>
        <a:srgbClr val="D7263D"/>
      </a:hlink>
      <a:folHlink>
        <a:srgbClr val="2A78D6"/>
      </a:folHlink>
    </a:clrScheme>
    <a:fontScheme name="mlops_infartos_final">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lops_infartos_fin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mlops_infartos_final">
  <a:themeElements>
    <a:clrScheme name="mlops_infartos_final">
      <a:dk1>
        <a:srgbClr val="1B1F24"/>
      </a:dk1>
      <a:lt1>
        <a:srgbClr val="FFFFFF"/>
      </a:lt1>
      <a:dk2>
        <a:srgbClr val="1F497D"/>
      </a:dk2>
      <a:lt2>
        <a:srgbClr val="F3F5F7"/>
      </a:lt2>
      <a:accent1>
        <a:srgbClr val="12263F"/>
      </a:accent1>
      <a:accent2>
        <a:srgbClr val="D7263D"/>
      </a:accent2>
      <a:accent3>
        <a:srgbClr val="2A78D6"/>
      </a:accent3>
      <a:accent4>
        <a:srgbClr val="12263F"/>
      </a:accent4>
      <a:accent5>
        <a:srgbClr val="5B6470"/>
      </a:accent5>
      <a:accent6>
        <a:srgbClr val="D5DAE0"/>
      </a:accent6>
      <a:hlink>
        <a:srgbClr val="D7263D"/>
      </a:hlink>
      <a:folHlink>
        <a:srgbClr val="2A78D6"/>
      </a:folHlink>
    </a:clrScheme>
    <a:fontScheme name="mlops_infartos_final">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lops_infartos_fin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es-419</dc:language>
  <cp:lastModifiedBy/>
  <cp:revision>1</cp:revision>
  <dcterms:created xsi:type="dcterms:W3CDTF">2026-10-18T20:52:00Z</dcterms:created>
  <dcterms:modified xsi:type="dcterms:W3CDTF">2026-10-18T20:52:00Z</dcterms:modified>
  <cp:category/>
  <cp:contentStatus/>
</cp:coreProperties>
</file>